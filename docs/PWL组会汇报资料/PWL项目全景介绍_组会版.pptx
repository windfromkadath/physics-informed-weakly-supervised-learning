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90b364da1f4055" /><Relationship Type="http://schemas.openxmlformats.org/officeDocument/2006/relationships/extended-properties" Target="/docProps/app.xml" Id="R2a76c4ec70514e28" /><Relationship Type="http://schemas.openxmlformats.org/officeDocument/2006/relationships/officeDocument" Target="/ppt/presentation.xml" Id="R66b05a1e7d0842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8f5e3a9dd14615"/>
  </p:sldMasterIdLst>
  <p:notesMasterIdLst>
    <p:notesMasterId xmlns:r="http://schemas.openxmlformats.org/officeDocument/2006/relationships" r:id="R9cb34233c3ff4f5b"/>
  </p:notesMasterIdLst>
  <p:sldIdLst>
    <p:sldId xmlns:r="http://schemas.openxmlformats.org/officeDocument/2006/relationships" id="256" r:id="R08b7ec04de6e4b5b"/>
    <p:sldId xmlns:r="http://schemas.openxmlformats.org/officeDocument/2006/relationships" id="257" r:id="Rdc20f9f97a6f4200"/>
    <p:sldId xmlns:r="http://schemas.openxmlformats.org/officeDocument/2006/relationships" id="258" r:id="R91cad47875d64174"/>
    <p:sldId xmlns:r="http://schemas.openxmlformats.org/officeDocument/2006/relationships" id="259" r:id="R6af02e8713f54e83"/>
    <p:sldId xmlns:r="http://schemas.openxmlformats.org/officeDocument/2006/relationships" id="260" r:id="R8097101eb93d4021"/>
    <p:sldId xmlns:r="http://schemas.openxmlformats.org/officeDocument/2006/relationships" id="261" r:id="Rc2d81695e2e04ddd"/>
    <p:sldId xmlns:r="http://schemas.openxmlformats.org/officeDocument/2006/relationships" id="262" r:id="R6c473c38816041a7"/>
    <p:sldId xmlns:r="http://schemas.openxmlformats.org/officeDocument/2006/relationships" id="263" r:id="R6e776e4c6b5a4656"/>
    <p:sldId xmlns:r="http://schemas.openxmlformats.org/officeDocument/2006/relationships" id="264" r:id="Rb341682324a4490d"/>
    <p:sldId xmlns:r="http://schemas.openxmlformats.org/officeDocument/2006/relationships" id="265" r:id="R1bb5e5ed892c42a3"/>
    <p:sldId xmlns:r="http://schemas.openxmlformats.org/officeDocument/2006/relationships" id="266" r:id="Rb02d0d5735b7414e"/>
    <p:sldId xmlns:r="http://schemas.openxmlformats.org/officeDocument/2006/relationships" id="267" r:id="Rb43b438ecaf044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00c751b9a5430a" /><Relationship Type="http://schemas.openxmlformats.org/officeDocument/2006/relationships/slideMaster" Target="/ppt/slideMasters/slideMaster1.xml" Id="Re98f5e3a9dd14615" /><Relationship Type="http://schemas.openxmlformats.org/officeDocument/2006/relationships/notesMaster" Target="/ppt/notesMasters/notesMaster1.xml" Id="R9cb34233c3ff4f5b" /><Relationship Type="http://schemas.openxmlformats.org/officeDocument/2006/relationships/presProps" Target="/ppt/presProps.xml" Id="Rec4c80cf0fb64fde" /><Relationship Type="http://schemas.openxmlformats.org/officeDocument/2006/relationships/tableStyles" Target="/ppt/tableStyles.xml" Id="R7cae18b38dcf4c53" /><Relationship Type="http://schemas.openxmlformats.org/officeDocument/2006/relationships/slide" Target="/ppt/slides/slide1.xml" Id="R08b7ec04de6e4b5b" /><Relationship Type="http://schemas.openxmlformats.org/officeDocument/2006/relationships/slide" Target="/ppt/slides/slide2.xml" Id="Rdc20f9f97a6f4200" /><Relationship Type="http://schemas.openxmlformats.org/officeDocument/2006/relationships/slide" Target="/ppt/slides/slide3.xml" Id="R91cad47875d64174" /><Relationship Type="http://schemas.openxmlformats.org/officeDocument/2006/relationships/slide" Target="/ppt/slides/slide4.xml" Id="R6af02e8713f54e83" /><Relationship Type="http://schemas.openxmlformats.org/officeDocument/2006/relationships/slide" Target="/ppt/slides/slide5.xml" Id="R8097101eb93d4021" /><Relationship Type="http://schemas.openxmlformats.org/officeDocument/2006/relationships/slide" Target="/ppt/slides/slide6.xml" Id="Rc2d81695e2e04ddd" /><Relationship Type="http://schemas.openxmlformats.org/officeDocument/2006/relationships/slide" Target="/ppt/slides/slide7.xml" Id="R6c473c38816041a7" /><Relationship Type="http://schemas.openxmlformats.org/officeDocument/2006/relationships/slide" Target="/ppt/slides/slide8.xml" Id="R6e776e4c6b5a4656" /><Relationship Type="http://schemas.openxmlformats.org/officeDocument/2006/relationships/slide" Target="/ppt/slides/slide9.xml" Id="Rb341682324a4490d" /><Relationship Type="http://schemas.openxmlformats.org/officeDocument/2006/relationships/slide" Target="/ppt/slides/slide10.xml" Id="R1bb5e5ed892c42a3" /><Relationship Type="http://schemas.openxmlformats.org/officeDocument/2006/relationships/slide" Target="/ppt/slides/slide11.xml" Id="Rb02d0d5735b7414e" /><Relationship Type="http://schemas.openxmlformats.org/officeDocument/2006/relationships/slide" Target="/ppt/slides/slide12.xml" Id="Rb43b438ecaf044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02d5d70ad54e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fef37bb9ef45bc" /><Relationship Type="http://schemas.openxmlformats.org/officeDocument/2006/relationships/notesMaster" Target="/ppt/notesMasters/notesMaster1.xml" Id="Rb819130858174f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da40030cc74ccb" /><Relationship Type="http://schemas.openxmlformats.org/officeDocument/2006/relationships/notesMaster" Target="/ppt/notesMasters/notesMaster1.xml" Id="Rfc2b92895fdd43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f9bc32c53147cf" /><Relationship Type="http://schemas.openxmlformats.org/officeDocument/2006/relationships/notesMaster" Target="/ppt/notesMasters/notesMaster1.xml" Id="R69a1a4f0c84c45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cc622830164e4e" /><Relationship Type="http://schemas.openxmlformats.org/officeDocument/2006/relationships/notesMaster" Target="/ppt/notesMasters/notesMaster1.xml" Id="R0cd9c9bd4fd64d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b838f86ec34c70" /><Relationship Type="http://schemas.openxmlformats.org/officeDocument/2006/relationships/notesMaster" Target="/ppt/notesMasters/notesMaster1.xml" Id="R9b29b4c1a83443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08731e9f8b4019" /><Relationship Type="http://schemas.openxmlformats.org/officeDocument/2006/relationships/notesMaster" Target="/ppt/notesMasters/notesMaster1.xml" Id="R54dcc254c0ba4c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c25ecd7b644ff3" /><Relationship Type="http://schemas.openxmlformats.org/officeDocument/2006/relationships/notesMaster" Target="/ppt/notesMasters/notesMaster1.xml" Id="R3a925b40ef344a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d1a451b10d4be0" /><Relationship Type="http://schemas.openxmlformats.org/officeDocument/2006/relationships/notesMaster" Target="/ppt/notesMasters/notesMaster1.xml" Id="R027bc3f1903345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44ecb78ad441d1" /><Relationship Type="http://schemas.openxmlformats.org/officeDocument/2006/relationships/notesMaster" Target="/ppt/notesMasters/notesMaster1.xml" Id="R72a157f787aa48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4b50c37869421a" /><Relationship Type="http://schemas.openxmlformats.org/officeDocument/2006/relationships/notesMaster" Target="/ppt/notesMasters/notesMaster1.xml" Id="Rbc6682297b7145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0746625f8b44b4" /><Relationship Type="http://schemas.openxmlformats.org/officeDocument/2006/relationships/notesMaster" Target="/ppt/notesMasters/notesMaster1.xml" Id="R10f9dd26372045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d3fa08a2864e92" /><Relationship Type="http://schemas.openxmlformats.org/officeDocument/2006/relationships/notesMaster" Target="/ppt/notesMasters/notesMaster1.xml" Id="R075bbd630bee44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migration/reports/迁移后续工作/COMSOL场景20批统计闭环报告.md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references/papers/Alenezi 等 - 2025 - Physics-Informed Weakly-Supervised Learning for Quality Prediction of Manufacturing Processes.pdf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reproduction/src/pwl_repro/core/model.py</a:t>
            </a:r>
          </a:p>
          <a:p xmlns:a="http://schemas.openxmlformats.org/drawingml/2006/main">
            <a:r>
              <a:t>- reproduction/src/pwl_repro/core/features.py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reproduction/src/pwl_repro/core/model.py</a:t>
            </a:r>
          </a:p>
          <a:p xmlns:a="http://schemas.openxmlformats.org/drawingml/2006/main">
            <a:r>
              <a:t>- reproduction/src/pwl_repro/core/optimization.py</a:t>
            </a:r>
          </a:p>
          <a:p xmlns:a="http://schemas.openxmlformats.org/drawingml/2006/main">
            <a:r>
              <a:t>- reproduction/src/pwl_repro/experiments/tuning.py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references/papers/Alenezi 等 - 2025 - Physics-Informed Weakly-Supervised Learning for Quality Prediction of Manufacturing Processes.pdf（原论文 Fig. 2、Table I，PDF 第 9 页）</a:t>
            </a:r>
          </a:p>
          <a:p xmlns:a="http://schemas.openxmlformats.org/drawingml/2006/main">
            <a:r>
              <a:t>- reproduction/SECTION_IV_PROTOCOL.md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reproduction/REPRODUCTION.md</a:t>
            </a:r>
          </a:p>
          <a:p xmlns:a="http://schemas.openxmlformats.org/drawingml/2006/main">
            <a:r>
              <a:t>- reproduction/SECTION_IV_PROTOCOL.md</a:t>
            </a:r>
          </a:p>
          <a:p xmlns:a="http://schemas.openxmlformats.org/drawingml/2006/main">
            <a:r>
              <a:t>- reproduction/src/pwl_repro/core/model.py</a:t>
            </a:r>
          </a:p>
          <a:p xmlns:a="http://schemas.openxmlformats.org/drawingml/2006/main">
            <a:r>
              <a:t>- reproduction/src/pwl_repro/core/optimization.py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reproduction/REPRODUCTION.md</a:t>
            </a:r>
          </a:p>
          <a:p xmlns:a="http://schemas.openxmlformats.org/drawingml/2006/main">
            <a:r>
              <a:t>- reproduction/SECTION_IV_PROTOCOL.md</a:t>
            </a:r>
          </a:p>
          <a:p xmlns:a="http://schemas.openxmlformats.org/drawingml/2006/main">
            <a:r>
              <a:t>- reproduction/src/pwl_repro/experiments/protocols.py</a:t>
            </a:r>
          </a:p>
          <a:p xmlns:a="http://schemas.openxmlformats.org/drawingml/2006/main">
            <a:r>
              <a:t>- reproduction/src/pwl_repro/scenarios/simulation.py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references/docs/legacy/02_PWL论文解析.md（正文式 (3)–(5)）</a:t>
            </a:r>
          </a:p>
          <a:p xmlns:a="http://schemas.openxmlformats.org/drawingml/2006/main">
            <a:r>
              <a:t>- references/docs/legacy/03_PWL补充材料解析.md（Proposition 1–3）</a:t>
            </a:r>
          </a:p>
          <a:p xmlns:a="http://schemas.openxmlformats.org/drawingml/2006/main">
            <a:r>
              <a:t>- ImageGen 生成的概念示意图，仅用于解释，不代表实验数据。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migration/src/pwl_migration/heat.py</a:t>
            </a:r>
          </a:p>
          <a:p xmlns:a="http://schemas.openxmlformats.org/drawingml/2006/main">
            <a:r>
              <a:t>- migration/src/pwl_migration/heat_experiments.py</a:t>
            </a:r>
          </a:p>
          <a:p xmlns:a="http://schemas.openxmlformats.org/drawingml/2006/main">
            <a:r>
              <a:t>- migration/configs/heat_v3_qint_min.yaml</a:t>
            </a:r>
          </a:p>
          <a:p xmlns:a="http://schemas.openxmlformats.org/drawingml/2006/main">
            <a:r>
              <a:t>- ImageGen 生成的热传导概念示意图，仅用于解释物理对象，不代表具体网格或求解结果。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migration/results/heat_v3_qint_min/figure_iv_a_rmse.png</a:t>
            </a:r>
          </a:p>
          <a:p xmlns:a="http://schemas.openxmlformats.org/drawingml/2006/main">
            <a:r>
              <a:t>- migration/results/heat_v3_qint_min/BASELINE.md</a:t>
            </a:r>
          </a:p>
          <a:p xmlns:a="http://schemas.openxmlformats.org/drawingml/2006/main">
            <a:r>
              <a:t>- migration/reports/迁移后续工作/COMSOL场景20批统计闭环报告.md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migration/results/heat_v3_qint_min/figure_iv_a_boxplots.png</a:t>
            </a:r>
          </a:p>
          <a:p xmlns:a="http://schemas.openxmlformats.org/drawingml/2006/main">
            <a:r>
              <a:t>- migration/reports/迁移后续工作/COMSOL场景v3机制消融报告.md</a:t>
            </a:r>
          </a:p>
          <a:p xmlns:a="http://schemas.openxmlformats.org/drawingml/2006/main">
            <a:r>
              <a:t>- migration/reports/迁移后续工作/COMSOL场景v3机理列修复与协议消融实验报告.md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migration/reports/迁移后续工作/COMSOL场景20批统计闭环报告.md</a:t>
            </a:r>
          </a:p>
          <a:p xmlns:a="http://schemas.openxmlformats.org/drawingml/2006/main">
            <a:r>
              <a:t>- migration/reports/迁移后续工作/COMSOL场景theta判据修订.md</a:t>
            </a:r>
          </a:p>
          <a:p xmlns:a="http://schemas.openxmlformats.org/drawingml/2006/main">
            <a:r>
              <a:t>- references/docs/legacy/02_PWL论文解析.md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1583517c547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474fc8ead94c2c" /><Relationship Type="http://schemas.openxmlformats.org/officeDocument/2006/relationships/slideLayout" Target="/ppt/slideLayouts/slideLayout1.xml" Id="R71cbb0a71a3c45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cbb0a71a3c45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6361765104ec0" /><Relationship Type="http://schemas.openxmlformats.org/officeDocument/2006/relationships/notesSlide" Target="/ppt/notesSlides/notesSlide1.xml" Id="R2ace00d1d9b343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f00494b9646c1" /><Relationship Type="http://schemas.openxmlformats.org/officeDocument/2006/relationships/notesSlide" Target="/ppt/notesSlides/notesSlide2.xml" Id="R6057f287e7cc40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856dced3f4f1e" /><Relationship Type="http://schemas.openxmlformats.org/officeDocument/2006/relationships/notesSlide" Target="/ppt/notesSlides/notesSlide3.xml" Id="Rf93273f4274d4f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e18ee3ac64f18" /><Relationship Type="http://schemas.openxmlformats.org/officeDocument/2006/relationships/notesSlide" Target="/ppt/notesSlides/notesSlide4.xml" Id="R3d2a3cd7094b4b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6aa2994514d6c" /><Relationship Type="http://schemas.openxmlformats.org/officeDocument/2006/relationships/image" Target="/ppt/media/image.png" Id="Re8406f7813e64632" /><Relationship Type="http://schemas.openxmlformats.org/officeDocument/2006/relationships/image" Target="/ppt/media/image2.png" Id="Rc937a87b6c184ae5" /><Relationship Type="http://schemas.openxmlformats.org/officeDocument/2006/relationships/notesSlide" Target="/ppt/notesSlides/notesSlide5.xml" Id="Re35c048dc3ba48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e69e8929f4937" /><Relationship Type="http://schemas.openxmlformats.org/officeDocument/2006/relationships/notesSlide" Target="/ppt/notesSlides/notesSlide6.xml" Id="R2f7f78493ecf41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d8469d7ce4619" /><Relationship Type="http://schemas.openxmlformats.org/officeDocument/2006/relationships/notesSlide" Target="/ppt/notesSlides/notesSlide7.xml" Id="R42c421b4239345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a64dd17f24c98" /><Relationship Type="http://schemas.openxmlformats.org/officeDocument/2006/relationships/image" Target="/ppt/media/image3.png" Id="Rbebcd5bc7dd142ae" /><Relationship Type="http://schemas.openxmlformats.org/officeDocument/2006/relationships/notesSlide" Target="/ppt/notesSlides/notesSlide8.xml" Id="R393f51b4b1c542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493c54d644044" /><Relationship Type="http://schemas.openxmlformats.org/officeDocument/2006/relationships/image" Target="/ppt/media/image4.png" Id="R8c28d17aa64c408b" /><Relationship Type="http://schemas.openxmlformats.org/officeDocument/2006/relationships/notesSlide" Target="/ppt/notesSlides/notesSlide9.xml" Id="R65d4147f14cd47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d1baa06fa42b3" /><Relationship Type="http://schemas.openxmlformats.org/officeDocument/2006/relationships/image" Target="/ppt/media/image5.png" Id="R18313d33fef14f47" /><Relationship Type="http://schemas.openxmlformats.org/officeDocument/2006/relationships/notesSlide" Target="/ppt/notesSlides/notesSlide10.xml" Id="R4c705c383d2a45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7c529e3c04e6f" /><Relationship Type="http://schemas.openxmlformats.org/officeDocument/2006/relationships/image" Target="/ppt/media/image6.png" Id="Rfa59816b3c4c4e0e" /><Relationship Type="http://schemas.openxmlformats.org/officeDocument/2006/relationships/notesSlide" Target="/ppt/notesSlides/notesSlide11.xml" Id="Raa9c3855a36040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f616bf40d44dd" /><Relationship Type="http://schemas.openxmlformats.org/officeDocument/2006/relationships/notesSlide" Target="/ppt/notesSlides/notesSlide12.xml" Id="R8d1a4bf2782945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07FAC-1A53-487A-B49F-A0ED25DA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3102F-2E32-48A0-83C7-53C8D8C7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942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 论文复现与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COMSOL 热传导迁移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5C2DE-4E5F-4A1E-9F04-1EE5DA6C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577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组会汇报 · 复现过程、数据结果与局限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2026.08.04</a:t>
            </a:r>
          </a:p>
        </p:txBody>
      </p:sp>
    </p:spTree>
    <p:extLst>
      <p:ext uri="{BB962C8B-B14F-4D97-AF65-F5344CB8AC3E}">
        <p14:creationId xmlns:p14="http://schemas.microsoft.com/office/powerpoint/2010/main" val="814252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BF92E-D97F-4097-9687-06A8E56D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E2FE8-01F8-468C-B1CA-6D706B73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研究问题：少量真实标签如何纠正物理弱标签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7FC1B-6705-4DEE-8275-EC195585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BB221-F08D-4E7C-B60B-D30E2DB9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E160B-8641-41E9-9842-A75C94D5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论文关注的不是一个通用产品，而是三类信息如何共同影响预测。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271F8-9557-4F9D-80CE-3B8DF53D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3562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D4105-DF22-41B7-9234-AE6E8B91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19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物理弱标签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A19D9-574E-46CB-BE8C-D962C581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71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便宜、可扩展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但有系统误差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5D6D4-9266-4B5A-8894-FE571667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62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C4590-B68E-402B-A934-419EA429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19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少量真实标签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EDB2D-0337-4851-81E8-9FD9CC63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71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昂贵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但可用于纠偏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59C19-3DC6-41C6-B2DB-33E8A2C9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562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914C9-7F2D-4EE8-8213-E9B62B19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19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过程变量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B7473-F911-45EE-8DA5-2A85E813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371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补充现实偏差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也可能与物理项混淆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EFA86-6694-4812-8EA4-CAE03187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33900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C2077-39D7-44F3-B326-E8EB9EA5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29175"/>
            <a:ext cx="8458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6876C-5AB3-4289-B0FE-1A3B9A6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62525"/>
            <a:ext cx="811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本组会的问题：复现协议是否保留？迁移后哪些机制仍然有效？</a:t>
            </a:r>
          </a:p>
        </p:txBody>
      </p:sp>
    </p:spTree>
    <p:extLst>
      <p:ext uri="{BB962C8B-B14F-4D97-AF65-F5344CB8AC3E}">
        <p14:creationId xmlns:p14="http://schemas.microsoft.com/office/powerpoint/2010/main" val="475940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46A93-5561-4880-9CC5-DAA5699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9DD21-9A6A-4792-91E4-59BA05C5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 的核心：物理项 + 差异项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71B2D-6A34-45B9-A747-2B144ECD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3FB7C-73DE-4987-9369-379AFD65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F4EB6-0D6F-4AFD-9135-C7E2D5D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预测结构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9B021-60CC-4C6B-AF3D-18B7E39C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66950"/>
            <a:ext cx="114014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ŷ = H(xᵖʰ, θ)g + B(xᵖʳ, xᵖʰ)d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5EB91-0495-452D-8CC3-9940BB52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5280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613F4-F253-49E8-B8E2-4A70A71F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33800"/>
            <a:ext cx="3562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4A918-7739-4B1B-8D6E-1934996A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H g · 蒸馏项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B1BD8-482C-481B-A188-BCC55A49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381500"/>
            <a:ext cx="321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从物理弱标签中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提取可复用规律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80766-EE6A-4BED-BD36-BDFDB9E2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33800"/>
            <a:ext cx="3562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5FF27-398F-43B0-ACDA-D24BB20C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05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 d · 差异项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87DE7-C8EC-4ED4-B9BA-CC58604C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81500"/>
            <a:ext cx="321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用过程变量与物理变量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补偿遗漏效应和结构偏差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970FF-4757-48D5-8596-44AF3E3C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33800"/>
            <a:ext cx="3562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0F3D4-6B2F-468C-ABFC-2E92AD0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05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rPr>
              <a:t>θ · 校准参数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519A0-E758-4A41-A26B-E14E41B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81500"/>
            <a:ext cx="321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在盒约束内联合更新；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既服务校准，也影响预测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A9EB5-4EE7-451E-B814-BF6EB97C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57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H 与 B 不是两个独立模型，而是同一预测式中的两类信息来源。</a:t>
            </a:r>
          </a:p>
        </p:txBody>
      </p:sp>
    </p:spTree>
    <p:extLst>
      <p:ext uri="{BB962C8B-B14F-4D97-AF65-F5344CB8AC3E}">
        <p14:creationId xmlns:p14="http://schemas.microsoft.com/office/powerpoint/2010/main" val="1027109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21B15-63EF-45B3-AA5A-E60F7AD3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0E209-C0F6-45DD-9B34-A34C066C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实现层面：g、d、θ 分开更新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95636-55CC-4B9F-9843-D163950F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987B6-AAEE-4910-8804-A974BEB3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C43BF-6082-42FB-94E0-C0AA2F04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论文给出求解骨架；复现时还要补齐特征、尺度、近奇异处理和停止条件。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08E8C-F586-4A3E-9CF4-7F47E709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337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11DAB-7602-415A-ADB7-0F3BA138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337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EFD99-0156-489C-878C-BE5453E3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337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696EB-EEC0-46AB-8FDB-BF3BE64F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6CB5C-E7DF-40A2-8469-39F1E469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813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66D52-98EC-4ED7-9DD6-A73ADDDF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1945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真实标签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物理弱标签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1E430-1954-4E37-97A4-D61F352D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98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C79F2-C9B7-409E-B934-AAF27EBB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 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5435C-6CB9-48E6-B059-C8F0E5A0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1945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监督二次项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物理二次项 + L1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组稀疏阈值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88641-EE79-4A2D-8CDF-6C7E28B2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098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CD2C2-2FD9-4B87-A685-F34E87DB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813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 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1B7A0-E6AE-4016-A632-C7A822AC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19450"/>
            <a:ext cx="175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最小二乘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可选 ridge 稳定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5AB07-9428-4036-B784-1C6725DA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8B1ED-35D1-4307-B0A4-8B1118A0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θ 更新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F0830-37BE-4491-B35E-5893CBDD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监督二次项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物理二次项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盒约束投影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4D679-5F51-4078-B6BA-90E2D99C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81550"/>
            <a:ext cx="114014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203E0-B09E-47B5-AE45-F956A46B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914900"/>
            <a:ext cx="11058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每轮记录 objective、参数与 ADMM 残差，用于定位复现偏差。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688A6-C83E-4F52-8D9E-0DFEEBCD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674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这里展示的是实现过程，不是新的算法贡献。</a:t>
            </a:r>
          </a:p>
        </p:txBody>
      </p:sp>
    </p:spTree>
    <p:extLst>
      <p:ext uri="{BB962C8B-B14F-4D97-AF65-F5344CB8AC3E}">
        <p14:creationId xmlns:p14="http://schemas.microsoft.com/office/powerpoint/2010/main" val="436931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F5E41-02BC-4255-A07B-BD5F3121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C4739-95DD-4F87-B8AB-6D70162B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原论文结果图：标签量增加时，PWL 的 RMSE 如何变化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B59B8-FAB7-483C-BEB9-0B67252C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86895-8EF6-48AA-B4CF-1E6C2889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06f7813e64632"/>
          <a:stretch xmlns:a="http://schemas.openxmlformats.org/drawingml/2006/main"/>
        </p:blipFill>
        <p:spPr>
          <a:xfrm xmlns:a="http://schemas.openxmlformats.org/drawingml/2006/main">
            <a:off x="1839130" y="1809750"/>
            <a:ext cx="2436791" cy="33337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7a87b6c184ae5"/>
          <a:stretch xmlns:a="http://schemas.openxmlformats.org/drawingml/2006/main"/>
        </p:blipFill>
        <p:spPr>
          <a:xfrm xmlns:a="http://schemas.openxmlformats.org/drawingml/2006/main">
            <a:off x="7894421" y="1809750"/>
            <a:ext cx="2146733" cy="3333750"/>
          </a:xfrm>
          <a:prstGeom xmlns:a="http://schemas.openxmlformats.org/drawingml/2006/main" prst="rect">
            <a:avLst/>
          </a:prstGeom>
        </p:spPr>
      </p:pic>
      <p:sp>
        <p:nvSpPr>
          <p:cNvPr id="30" name="paper-fig2-caption">
            <a:extLst xmlns:a="http://schemas.openxmlformats.org/drawingml/2006/main">
              <a:ext uri="{FF2B5EF4-FFF2-40B4-BE49-F238E27FC236}">
                <a16:creationId xmlns:a16="http://schemas.microsoft.com/office/drawing/2014/main" id="{FB309326-0D91-4EB1-B253-27DD6E29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863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D626B"/>
                </a:solidFill>
              </a:defRPr>
            </a:pPr>
            <a:r>
              <a:rPr sz="1125">
                <a:solidFill>
                  <a:srgbClr val="5D626B"/>
                </a:solidFill>
              </a:rPr>
              <a:t>原论文 Fig. 2：横轴为场景，曲线比较各模型平均 RMSE。</a:t>
            </a:r>
          </a:p>
        </p:txBody>
      </p:sp>
      <p:sp>
        <p:nvSpPr>
          <p:cNvPr id="31" name="paper-table1-caption">
            <a:extLst xmlns:a="http://schemas.openxmlformats.org/drawingml/2006/main">
              <a:ext uri="{FF2B5EF4-FFF2-40B4-BE49-F238E27FC236}">
                <a16:creationId xmlns:a16="http://schemas.microsoft.com/office/drawing/2014/main" id="{B8DCEEAC-6286-44A2-91AC-4C140930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286375"/>
            <a:ext cx="5648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D626B"/>
                </a:solidFill>
              </a:defRPr>
            </a:pPr>
            <a:r>
              <a:rPr sz="1125">
                <a:solidFill>
                  <a:srgbClr val="5D626B"/>
                </a:solidFill>
              </a:rPr>
              <a:t>原论文 Table I：PWL 在 10 / 60 / 120 个标签下的 RMSE 均值与标准差。</a:t>
            </a:r>
          </a:p>
        </p:txBody>
      </p:sp>
      <p:sp>
        <p:nvSpPr>
          <p:cNvPr id="32" name="paper-evidence-note">
            <a:extLst xmlns:a="http://schemas.openxmlformats.org/drawingml/2006/main">
              <a:ext uri="{FF2B5EF4-FFF2-40B4-BE49-F238E27FC236}">
                <a16:creationId xmlns:a16="http://schemas.microsoft.com/office/drawing/2014/main" id="{478452F5-AFD7-426A-8A94-3DC5DD0D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阅读方式：先看论文原图的实验设定，再对照项目代码中的实现与数据口径。</a:t>
            </a:r>
          </a:p>
        </p:txBody>
      </p:sp>
    </p:spTree>
    <p:extLst>
      <p:ext uri="{BB962C8B-B14F-4D97-AF65-F5344CB8AC3E}">
        <p14:creationId xmlns:p14="http://schemas.microsoft.com/office/powerpoint/2010/main" val="1145534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B18FE2-AEEE-482C-A2B4-73C43C68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B3061-5410-4FAC-9351-75112C49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复现边界：哪些是论文内容，哪些是工程补充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EAFD3-9702-4939-958C-B51E153D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1039E-0919-4B2A-AB24-6FCF749A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7" name="repro-paper-panel">
            <a:extLst xmlns:a="http://schemas.openxmlformats.org/drawingml/2006/main">
              <a:ext uri="{FF2B5EF4-FFF2-40B4-BE49-F238E27FC236}">
                <a16:creationId xmlns:a16="http://schemas.microsoft.com/office/drawing/2014/main" id="{8EA5CEF1-4405-469F-B975-A9FCFAA3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52387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epro-project-panel">
            <a:extLst xmlns:a="http://schemas.openxmlformats.org/drawingml/2006/main">
              <a:ext uri="{FF2B5EF4-FFF2-40B4-BE49-F238E27FC236}">
                <a16:creationId xmlns:a16="http://schemas.microsoft.com/office/drawing/2014/main" id="{7FF8412E-9C25-4DB1-90C3-F577A668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600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pro-paper-title">
            <a:extLst xmlns:a="http://schemas.openxmlformats.org/drawingml/2006/main">
              <a:ext uri="{FF2B5EF4-FFF2-40B4-BE49-F238E27FC236}">
                <a16:creationId xmlns:a16="http://schemas.microsoft.com/office/drawing/2014/main" id="{B56A16E8-FE33-4915-A539-A8C36E21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955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论文中直接对照</a:t>
            </a:r>
          </a:p>
        </p:txBody>
      </p:sp>
      <p:sp>
        <p:nvSpPr>
          <p:cNvPr id="50" name="repro-paper-body">
            <a:extLst xmlns:a="http://schemas.openxmlformats.org/drawingml/2006/main">
              <a:ext uri="{FF2B5EF4-FFF2-40B4-BE49-F238E27FC236}">
                <a16:creationId xmlns:a16="http://schemas.microsoft.com/office/drawing/2014/main" id="{6FAEA418-4448-44D2-B95D-D035357E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67000"/>
            <a:ext cx="466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预测式与 H / B 分支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弱监督设定与基函数表示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Section IV 的三组实验协议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BCD–ADMM 求解骨架</a:t>
            </a:r>
          </a:p>
        </p:txBody>
      </p:sp>
      <p:sp>
        <p:nvSpPr>
          <p:cNvPr id="51" name="repro-project-title">
            <a:extLst xmlns:a="http://schemas.openxmlformats.org/drawingml/2006/main">
              <a:ext uri="{FF2B5EF4-FFF2-40B4-BE49-F238E27FC236}">
                <a16:creationId xmlns:a16="http://schemas.microsoft.com/office/drawing/2014/main" id="{F2975C6A-5F34-4F50-82FA-3B368103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项目需要补齐</a:t>
            </a:r>
          </a:p>
        </p:txBody>
      </p:sp>
      <p:sp>
        <p:nvSpPr>
          <p:cNvPr id="52" name="repro-project-body">
            <a:extLst xmlns:a="http://schemas.openxmlformats.org/drawingml/2006/main">
              <a:ext uri="{FF2B5EF4-FFF2-40B4-BE49-F238E27FC236}">
                <a16:creationId xmlns:a16="http://schemas.microsoft.com/office/drawing/2014/main" id="{1175ECAD-6D84-427A-BF5A-81FEC11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协方差与噪声尺度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基函数列空间与近奇异处理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seed、重复次数、统计检验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• 当前结论：结构复现，不宣称论文全部数字严格一致</a:t>
            </a:r>
          </a:p>
        </p:txBody>
      </p:sp>
      <p:sp>
        <p:nvSpPr>
          <p:cNvPr id="53" name="repro-boundary-note">
            <a:extLst xmlns:a="http://schemas.openxmlformats.org/drawingml/2006/main">
              <a:ext uri="{FF2B5EF4-FFF2-40B4-BE49-F238E27FC236}">
                <a16:creationId xmlns:a16="http://schemas.microsoft.com/office/drawing/2014/main" id="{5A633E35-0B35-4390-96D4-6A245553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目的：把“复现结构”与“数值完全一致”区分开。</a:t>
            </a:r>
          </a:p>
        </p:txBody>
      </p:sp>
    </p:spTree>
    <p:extLst>
      <p:ext uri="{BB962C8B-B14F-4D97-AF65-F5344CB8AC3E}">
        <p14:creationId xmlns:p14="http://schemas.microsoft.com/office/powerpoint/2010/main" val="902408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6FA2C6-CCFF-4BF7-BD68-C837BC2A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E94F2-8AE8-44AD-93A8-4046F3DB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 Section IV：复现实验协议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43F8C-5D9E-4DE0-B864-709B70F8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39688-8F77-4526-9B36-DA2C541C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AD0A2-D2C4-4C0E-8FAC-6AE74722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每条协议重新配置数据划分、调参与重复次数，再汇总 RMSE / MSE / MAE。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ABCF2-E7C1-4991-9383-A27D098E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52775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090A9-D687-48DE-A270-6892C2DA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8CE91-91FB-47AE-95A6-586BBE8D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IV-A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1DBA5-A24C-44A5-923B-66EEB315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标签量扫描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CBC8-90F6-4DB7-BD68-4E1FBD2F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67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10 / 20 / … / 120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7448A-E7C9-4E29-990F-662C5FF5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0BE04-31C7-4CCA-8BFE-18CADD2B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IV-B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77340-63A1-40CD-AC6B-CDD75CCD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9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物理精度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49458-87F5-4620-A186-607C4F0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67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corr = 0.85 / 0.70 / 0.50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AAC70-AA76-4166-B2CB-15D666C4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DA78C-B767-44A1-9A8B-536301B0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IV-C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C72CC-29D8-450A-8230-59DA5CEC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9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标签节省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ACE25-1740-49FF-8B2C-53DE8755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67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PWL 固定 30 vs 监督曲线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3B6FF-0DCB-453D-A9B5-DD741AD3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5476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FB94F-9FDE-45EF-8B24-1B352589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391150"/>
            <a:ext cx="5133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复现口径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F4923-A4C1-4483-A971-E655A7C0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867400"/>
            <a:ext cx="5133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输出：metrics、predictions、conditions、statistical_tests。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C5CF4-1501-414F-B8F8-D3DB9A8A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19700"/>
            <a:ext cx="55340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25426-1608-4B0E-931A-DC56EC86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91150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E232B-9ADA-4B9C-BF2C-9D520D73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867400"/>
            <a:ext cx="519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结构复现完成；论文未披露的细节以项目配置显式记录。</a:t>
            </a:r>
          </a:p>
        </p:txBody>
      </p:sp>
    </p:spTree>
    <p:extLst>
      <p:ext uri="{BB962C8B-B14F-4D97-AF65-F5344CB8AC3E}">
        <p14:creationId xmlns:p14="http://schemas.microsoft.com/office/powerpoint/2010/main" val="1396343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7C4966-BF66-4379-9640-6A9BBCB5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96109-2A66-4EA3-AFA8-4240D34E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学术补充：为什么把完整方程写成基函数组合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B843E-A171-4555-9795-5243B27E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3035C-73BD-4D55-B942-951A0AFB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7" name="basis-explain-lead">
            <a:extLst xmlns:a="http://schemas.openxmlformats.org/drawingml/2006/main">
              <a:ext uri="{FF2B5EF4-FFF2-40B4-BE49-F238E27FC236}">
                <a16:creationId xmlns:a16="http://schemas.microsoft.com/office/drawing/2014/main" id="{F1A55B95-96A7-4BB7-BB90-EB00B4E0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D626B"/>
                </a:solidFill>
              </a:defRPr>
            </a:pPr>
            <a:r>
              <a:rPr sz="1575">
                <a:solidFill>
                  <a:srgbClr val="5D626B"/>
                </a:solidFill>
              </a:rPr>
              <a:t>完整方程可以直接计算；拆分是为了把每一项变成可学习、可校正的接口。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cd5bc7dd142ae"/>
          <a:stretch xmlns:a="http://schemas.openxmlformats.org/drawingml/2006/main"/>
        </p:blipFill>
        <p:spPr>
          <a:xfrm xmlns:a="http://schemas.openxmlformats.org/drawingml/2006/main">
            <a:off x="556276" y="2266950"/>
            <a:ext cx="6431248" cy="3619500"/>
          </a:xfrm>
          <a:prstGeom xmlns:a="http://schemas.openxmlformats.org/drawingml/2006/main" prst="rect">
            <a:avLst/>
          </a:prstGeom>
        </p:spPr>
      </p:pic>
      <p:sp>
        <p:nvSpPr>
          <p:cNvPr id="39" name="basis-explain-panel">
            <a:extLst xmlns:a="http://schemas.openxmlformats.org/drawingml/2006/main">
              <a:ext uri="{FF2B5EF4-FFF2-40B4-BE49-F238E27FC236}">
                <a16:creationId xmlns:a16="http://schemas.microsoft.com/office/drawing/2014/main" id="{29E1EBEC-597C-45D0-9B65-477DB1A7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4267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asis-direct-title">
            <a:extLst xmlns:a="http://schemas.openxmlformats.org/drawingml/2006/main">
              <a:ext uri="{FF2B5EF4-FFF2-40B4-BE49-F238E27FC236}">
                <a16:creationId xmlns:a16="http://schemas.microsoft.com/office/drawing/2014/main" id="{2095A19B-E78B-4826-9FD3-BA1EA035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完整公式</a:t>
            </a:r>
          </a:p>
        </p:txBody>
      </p:sp>
      <p:sp>
        <p:nvSpPr>
          <p:cNvPr id="41" name="basis-direct-body">
            <a:extLst xmlns:a="http://schemas.openxmlformats.org/drawingml/2006/main">
              <a:ext uri="{FF2B5EF4-FFF2-40B4-BE49-F238E27FC236}">
                <a16:creationId xmlns:a16="http://schemas.microsoft.com/office/drawing/2014/main" id="{58C3011F-D089-4BBE-B775-B55C2DBE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03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D626B"/>
                </a:solidFill>
              </a:defRPr>
            </a:pPr>
            <a:r>
              <a:rPr sz="1200">
                <a:solidFill>
                  <a:srgbClr val="5D626B"/>
                </a:solidFill>
              </a:rPr>
              <a:t>可作为 PhysicsDirect baseline。</a:t>
            </a:r>
          </a:p>
          <a:p xmlns:a="http://schemas.openxmlformats.org/drawingml/2006/main">
            <a:pPr algn="l">
              <a:buNone/>
              <a:defRPr sz="1200">
                <a:solidFill>
                  <a:srgbClr val="5D626B"/>
                </a:solidFill>
              </a:defRPr>
            </a:pPr>
            <a:r>
              <a:rPr sz="1200">
                <a:solidFill>
                  <a:srgbClr val="5D626B"/>
                </a:solidFill>
              </a:rPr>
              <a:t>结构固定，计算简单。</a:t>
            </a:r>
          </a:p>
        </p:txBody>
      </p:sp>
      <p:sp>
        <p:nvSpPr>
          <p:cNvPr id="42" name="basis-split-title">
            <a:extLst xmlns:a="http://schemas.openxmlformats.org/drawingml/2006/main">
              <a:ext uri="{FF2B5EF4-FFF2-40B4-BE49-F238E27FC236}">
                <a16:creationId xmlns:a16="http://schemas.microsoft.com/office/drawing/2014/main" id="{5A0D45E0-D0CA-4410-9DB7-599BD453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基函数组合</a:t>
            </a:r>
          </a:p>
        </p:txBody>
      </p:sp>
      <p:sp>
        <p:nvSpPr>
          <p:cNvPr id="43" name="basis-split-body">
            <a:extLst xmlns:a="http://schemas.openxmlformats.org/drawingml/2006/main">
              <a:ext uri="{FF2B5EF4-FFF2-40B4-BE49-F238E27FC236}">
                <a16:creationId xmlns:a16="http://schemas.microsoft.com/office/drawing/2014/main" id="{9DFB7E3C-14D0-43D6-A6BB-E73D49F5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148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D626B"/>
                </a:solidFill>
              </a:defRPr>
            </a:pPr>
            <a:r>
              <a:rPr sz="1200">
                <a:solidFill>
                  <a:srgbClr val="5D626B"/>
                </a:solidFill>
              </a:rPr>
              <a:t>每个模式可单独加权、筛选、正则化。</a:t>
            </a:r>
          </a:p>
          <a:p xmlns:a="http://schemas.openxmlformats.org/drawingml/2006/main">
            <a:pPr algn="l">
              <a:buNone/>
              <a:defRPr sz="1200">
                <a:solidFill>
                  <a:srgbClr val="5D626B"/>
                </a:solidFill>
              </a:defRPr>
            </a:pPr>
            <a:r>
              <a:rPr sz="1200">
                <a:solidFill>
                  <a:srgbClr val="5D626B"/>
                </a:solidFill>
              </a:rPr>
              <a:t>H：物理项；B：差异项。</a:t>
            </a:r>
          </a:p>
        </p:txBody>
      </p:sp>
      <p:sp>
        <p:nvSpPr>
          <p:cNvPr id="44" name="basis-bottom-callout">
            <a:extLst xmlns:a="http://schemas.openxmlformats.org/drawingml/2006/main">
              <a:ext uri="{FF2B5EF4-FFF2-40B4-BE49-F238E27FC236}">
                <a16:creationId xmlns:a16="http://schemas.microsoft.com/office/drawing/2014/main" id="{7D438F83-34CF-48E0-97DC-9858911B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76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不改变物理规律，而是改变可调接口</a:t>
            </a:r>
          </a:p>
        </p:txBody>
      </p:sp>
    </p:spTree>
    <p:extLst>
      <p:ext uri="{BB962C8B-B14F-4D97-AF65-F5344CB8AC3E}">
        <p14:creationId xmlns:p14="http://schemas.microsoft.com/office/powerpoint/2010/main" val="7778423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515DFF-3D37-4AA2-B884-59882EBB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C9C33-DE2C-469C-8E75-4724B708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迁移到 COMSOL：重写物理输入，不重写求解器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BFF67-FD4E-45DF-9F82-A864868D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CF79C-0056-4364-9DD2-70BEA001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8B0C2-C60F-48B3-A003-6024DCEA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低保真热传导量进入 H / B 特征；θ 只作为校准参数解释。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04601-CAD3-4FCB-9ACA-ABCF202D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59150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0A348-8AE4-418F-9FA3-132D88AA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28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7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COMSOL 输入与差异特征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A00D9-3914-4AF9-AFA3-0B3EBDA0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813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x_ph = (q, h, T∞, P)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 特征：q_int × P⁻⁰·⁷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q_int / (1 + hL/k) × P⁻⁰·⁷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9A951-6818-4511-9816-AD6DE637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2957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θ 在该场景中是 nuisance / calibration parameter，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不等同于可恢复的真实材料热导率。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8d17aa64c408b"/>
          <a:stretch xmlns:a="http://schemas.openxmlformats.org/drawingml/2006/main"/>
        </p:blipFill>
        <p:spPr>
          <a:xfrm xmlns:a="http://schemas.openxmlformats.org/drawingml/2006/main">
            <a:off x="542095" y="2400300"/>
            <a:ext cx="4840360" cy="2724150"/>
          </a:xfrm>
          <a:prstGeom xmlns:a="http://schemas.openxmlformats.org/drawingml/2006/main" prst="rect">
            <a:avLst/>
          </a:prstGeom>
        </p:spPr>
      </p:pic>
      <p:sp>
        <p:nvSpPr>
          <p:cNvPr id="30" name="migration-config-note">
            <a:extLst xmlns:a="http://schemas.openxmlformats.org/drawingml/2006/main">
              <a:ext uri="{FF2B5EF4-FFF2-40B4-BE49-F238E27FC236}">
                <a16:creationId xmlns:a16="http://schemas.microsoft.com/office/drawing/2014/main" id="{8C1D5F17-0D00-468E-95BC-13AABCA3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38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26B"/>
                </a:solidFill>
              </a:defRPr>
            </a:pPr>
            <a:r>
              <a:rPr sz="1350">
                <a:solidFill>
                  <a:srgbClr val="5D626B"/>
                </a:solidFill>
              </a:rPr>
              <a:t>迁移配置：heat_v3_qint_min.yaml</a:t>
            </a:r>
          </a:p>
        </p:txBody>
      </p:sp>
    </p:spTree>
    <p:extLst>
      <p:ext uri="{BB962C8B-B14F-4D97-AF65-F5344CB8AC3E}">
        <p14:creationId xmlns:p14="http://schemas.microsoft.com/office/powerpoint/2010/main" val="12661656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EC104-E69A-45B5-BD32-14B6BC98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F6CC7-B67A-4995-B0D6-A2129065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迁移结果：PWL 在 12 个标签量上均值更低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823CA-B351-4F38-93F7-692C85B5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670C5-BB88-4E32-8914-61CA0EBC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13d33fef14f47"/>
          <a:stretch xmlns:a="http://schemas.openxmlformats.org/drawingml/2006/main"/>
        </p:blipFill>
        <p:spPr>
          <a:xfrm xmlns:a="http://schemas.openxmlformats.org/drawingml/2006/main">
            <a:off x="658957" y="1714500"/>
            <a:ext cx="6702136" cy="4095750"/>
          </a:xfrm>
          <a:prstGeom xmlns:a="http://schemas.openxmlformats.org/drawingml/2006/main" prst="rect">
            <a:avLst/>
          </a:prstGeom>
        </p:spPr>
      </p:pic>
      <p:sp>
        <p:nvSpPr>
          <p:cNvPr id="15" name="migration-result-metric">
            <a:extLst xmlns:a="http://schemas.openxmlformats.org/drawingml/2006/main">
              <a:ext uri="{FF2B5EF4-FFF2-40B4-BE49-F238E27FC236}">
                <a16:creationId xmlns:a16="http://schemas.microsoft.com/office/drawing/2014/main" id="{0408306E-30A7-4D8F-9131-7EC1DC48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@120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PWL 5.351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Physics-GP 5.648</a:t>
            </a:r>
          </a:p>
        </p:txBody>
      </p:sp>
      <p:sp>
        <p:nvSpPr>
          <p:cNvPr id="16" name="migration-result-count">
            <a:extLst xmlns:a="http://schemas.openxmlformats.org/drawingml/2006/main">
              <a:ext uri="{FF2B5EF4-FFF2-40B4-BE49-F238E27FC236}">
                <a16:creationId xmlns:a16="http://schemas.microsoft.com/office/drawing/2014/main" id="{CAA8C9A6-D8C5-4BF3-A221-F4F5D18D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12 / 12</a:t>
            </a:r>
          </a:p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所有标签量上的平均 RMSE 更低</a:t>
            </a:r>
          </a:p>
        </p:txBody>
      </p:sp>
      <p:sp>
        <p:nvSpPr>
          <p:cNvPr id="17" name="migration-result-stats">
            <a:extLst xmlns:a="http://schemas.openxmlformats.org/drawingml/2006/main">
              <a:ext uri="{FF2B5EF4-FFF2-40B4-BE49-F238E27FC236}">
                <a16:creationId xmlns:a16="http://schemas.microsoft.com/office/drawing/2014/main" id="{1BC3392B-F801-4364-AA86-4B4F0B43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D626B"/>
                </a:solidFill>
              </a:defRPr>
            </a:pPr>
            <a:r>
              <a:rPr sz="1275">
                <a:solidFill>
                  <a:srgbClr val="5D626B"/>
                </a:solidFill>
              </a:rPr>
              <a:t>配对检验：原始 p = 0.036</a:t>
            </a:r>
          </a:p>
          <a:p xmlns:a="http://schemas.openxmlformats.org/drawingml/2006/main">
            <a:pPr algn="l">
              <a:defRPr sz="1275">
                <a:solidFill>
                  <a:srgbClr val="5D626B"/>
                </a:solidFill>
              </a:defRPr>
            </a:pPr>
            <a:r>
              <a:rPr sz="1275">
                <a:solidFill>
                  <a:srgbClr val="5D626B"/>
                </a:solidFill>
              </a:rPr>
              <a:t>Holm 校正后 p = 0.071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>
                <a:solidFill>
                  <a:srgbClr val="5D626B"/>
                </a:solidFill>
              </a:defRPr>
            </a:pPr>
            <a:r>
              <a:rPr sz="1275">
                <a:solidFill>
                  <a:srgbClr val="5D626B"/>
                </a:solidFill>
              </a:rPr>
              <a:t>结论：有稳定优势趋势，但校正后不称为显著。</a:t>
            </a:r>
          </a:p>
        </p:txBody>
      </p:sp>
    </p:spTree>
    <p:extLst>
      <p:ext uri="{BB962C8B-B14F-4D97-AF65-F5344CB8AC3E}">
        <p14:creationId xmlns:p14="http://schemas.microsoft.com/office/powerpoint/2010/main" val="5780693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ADB7D2-103F-4A0E-B417-EE700B99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GROUP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CCEE7-1FF5-4FEF-A911-D186F04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结果分布与消融：优势来自哪些部分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3ED58-747E-419A-AE0B-FF53F212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95B62-72D4-47FF-A6E6-45F7C07F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9816b3c4c4e0e"/>
          <a:stretch xmlns:a="http://schemas.openxmlformats.org/drawingml/2006/main"/>
        </p:blipFill>
        <p:spPr>
          <a:xfrm xmlns:a="http://schemas.openxmlformats.org/drawingml/2006/main">
            <a:off x="1118507" y="1714500"/>
            <a:ext cx="5783036" cy="4048125"/>
          </a:xfrm>
          <a:prstGeom xmlns:a="http://schemas.openxmlformats.org/drawingml/2006/main" prst="rect">
            <a:avLst/>
          </a:prstGeom>
        </p:spPr>
      </p:pic>
      <p:sp>
        <p:nvSpPr>
          <p:cNvPr id="38" name="ablation-title">
            <a:extLst xmlns:a="http://schemas.openxmlformats.org/drawingml/2006/main">
              <a:ext uri="{FF2B5EF4-FFF2-40B4-BE49-F238E27FC236}">
                <a16:creationId xmlns:a16="http://schemas.microsoft.com/office/drawing/2014/main" id="{D540D65A-1C1A-4D73-AE5D-CE14963A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573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机制消融（报告中的 RMSE）</a:t>
            </a:r>
          </a:p>
        </p:txBody>
      </p:sp>
      <p:sp>
        <p:nvSpPr>
          <p:cNvPr id="39" name="ablation-body">
            <a:extLst xmlns:a="http://schemas.openxmlformats.org/drawingml/2006/main">
              <a:ext uri="{FF2B5EF4-FFF2-40B4-BE49-F238E27FC236}">
                <a16:creationId xmlns:a16="http://schemas.microsoft.com/office/drawing/2014/main" id="{B124EFED-9DC1-4F8B-BAC7-FD7122A4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3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去掉弱标签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@10：8.055 → 10.355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去掉差异项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@120：5.366 → 8.047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去掉 q_int</a:t>
            </a:r>
          </a:p>
          <a:p xmlns:a="http://schemas.openxmlformats.org/drawingml/2006/main">
            <a:pPr algn="l">
              <a:defRPr sz="1425">
                <a:solidFill>
                  <a:srgbClr val="3D424A"/>
                </a:solidFill>
              </a:defRPr>
            </a:pPr>
            <a:r>
              <a:rPr sz="1425">
                <a:solidFill>
                  <a:srgbClr val="3D424A"/>
                </a:solidFill>
              </a:rPr>
              <a:t>@120：5.366 → 5.548</a:t>
            </a:r>
          </a:p>
        </p:txBody>
      </p:sp>
      <p:sp>
        <p:nvSpPr>
          <p:cNvPr id="40" name="ablation-note">
            <a:extLst xmlns:a="http://schemas.openxmlformats.org/drawingml/2006/main">
              <a:ext uri="{FF2B5EF4-FFF2-40B4-BE49-F238E27FC236}">
                <a16:creationId xmlns:a16="http://schemas.microsoft.com/office/drawing/2014/main" id="{B3D8D356-8FD0-43AC-A36B-685AE3F8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26B"/>
                </a:solidFill>
              </a:defRPr>
            </a:pPr>
            <a:r>
              <a:rPr sz="1275" b="1">
                <a:solidFill>
                  <a:srgbClr val="5D626B"/>
                </a:solidFill>
              </a:rPr>
              <a:t>解释：弱标签主要帮助小样本；差异项承担大样本结构偏差；q_int 提供机理信息。</a:t>
            </a:r>
          </a:p>
        </p:txBody>
      </p:sp>
    </p:spTree>
    <p:extLst>
      <p:ext uri="{BB962C8B-B14F-4D97-AF65-F5344CB8AC3E}">
        <p14:creationId xmlns:p14="http://schemas.microsoft.com/office/powerpoint/2010/main" val="3528673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340CA-08AA-40BB-8577-015160AD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23F70-BB91-44E9-9429-D0243DD0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9448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结论与局限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CD208-4ADD-461B-B9CF-66B10AF9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052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当前汇报的结论，只基于论文复现协议与 COMSOL 迁移数据。</a:t>
            </a:r>
          </a:p>
        </p:txBody>
      </p:sp>
      <p:sp>
        <p:nvSpPr>
          <p:cNvPr id="15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71465CF3-752A-4333-A758-7F4D906D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可以支持的结论</a:t>
            </a:r>
          </a:p>
        </p:txBody>
      </p:sp>
      <p:sp>
        <p:nvSpPr>
          <p:cNvPr id="16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6CC88ABD-C1AE-425C-8406-358490B4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1. 论文侧：复现了模型结构与实验协议，数字不表述为完全重合。</a:t>
            </a:r>
          </a:p>
          <a:p xmlns:a="http://schemas.openxmlformats.org/drawingml/2006/main">
            <a:pPr algn="l"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2. 迁移侧：20 批 × 12 标签量，PWL 平均 RMSE 更低。</a:t>
            </a:r>
          </a:p>
          <a:p xmlns:a="http://schemas.openxmlformats.org/drawingml/2006/main">
            <a:pPr algn="l"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3. 机制侧：弱标签帮助小样本，差异项帮助大样本。</a:t>
            </a:r>
          </a:p>
        </p:txBody>
      </p:sp>
      <p:sp>
        <p:nvSpPr>
          <p:cNvPr id="17" name="limitation-title">
            <a:extLst xmlns:a="http://schemas.openxmlformats.org/drawingml/2006/main">
              <a:ext uri="{FF2B5EF4-FFF2-40B4-BE49-F238E27FC236}">
                <a16:creationId xmlns:a16="http://schemas.microsoft.com/office/drawing/2014/main" id="{8CBF44B0-AA16-4BF0-B3F1-583C026A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需要继续讨论</a:t>
            </a:r>
          </a:p>
        </p:txBody>
      </p:sp>
      <p:sp>
        <p:nvSpPr>
          <p:cNvPr id="18" name="limitation-body">
            <a:extLst xmlns:a="http://schemas.openxmlformats.org/drawingml/2006/main">
              <a:ext uri="{FF2B5EF4-FFF2-40B4-BE49-F238E27FC236}">
                <a16:creationId xmlns:a16="http://schemas.microsoft.com/office/drawing/2014/main" id="{556E0A65-B151-44A6-87EB-7666DAD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• H / B 基函数仍依赖场景设计</a:t>
            </a:r>
          </a:p>
          <a:p xmlns:a="http://schemas.openxmlformats.org/drawingml/2006/main">
            <a:pPr algn="l"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• θ 的可识别性与真实物理参数并不等价</a:t>
            </a:r>
          </a:p>
          <a:p xmlns:a="http://schemas.openxmlformats.org/drawingml/2006/main">
            <a:pPr algn="l"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• 迁移结论依赖低保真特征与当前测试协议</a:t>
            </a:r>
          </a:p>
          <a:p xmlns:a="http://schemas.openxmlformats.org/drawingml/2006/main">
            <a:pPr algn="l">
              <a:defRPr sz="1350">
                <a:solidFill>
                  <a:srgbClr val="3D424A"/>
                </a:solidFill>
              </a:defRPr>
            </a:pPr>
            <a:r>
              <a:rPr sz="1350">
                <a:solidFill>
                  <a:srgbClr val="3D424A"/>
                </a:solidFill>
              </a:rPr>
              <a:t>• 外推能力和真实实验数据仍需单独验证</a:t>
            </a:r>
          </a:p>
        </p:txBody>
      </p:sp>
    </p:spTree>
    <p:extLst>
      <p:ext uri="{BB962C8B-B14F-4D97-AF65-F5344CB8AC3E}">
        <p14:creationId xmlns:p14="http://schemas.microsoft.com/office/powerpoint/2010/main" val="1853614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2026-08-04T03:46:40.5260000Z</dcterms:created>
  <dcterms:modified xsi:type="dcterms:W3CDTF">2026-08-04T03:46:40.5270000Z</dcterms:modified>
</coreProperties>
</file>