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26ae0d0d14ab8" /><Relationship Type="http://schemas.openxmlformats.org/officeDocument/2006/relationships/extended-properties" Target="/docProps/app.xml" Id="R76db0ade6a1f4edf" /><Relationship Type="http://schemas.openxmlformats.org/officeDocument/2006/relationships/officeDocument" Target="/ppt/presentation.xml" Id="Rbe2d85e929dd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3ba63ccc1d4b48"/>
  </p:sldMasterIdLst>
  <p:notesMasterIdLst>
    <p:notesMasterId xmlns:r="http://schemas.openxmlformats.org/officeDocument/2006/relationships" r:id="R6bfd0dfbaeb54072"/>
  </p:notesMasterIdLst>
  <p:sldIdLst>
    <p:sldId xmlns:r="http://schemas.openxmlformats.org/officeDocument/2006/relationships" id="256" r:id="Rcb3c1c3cd9034c38"/>
    <p:sldId xmlns:r="http://schemas.openxmlformats.org/officeDocument/2006/relationships" id="257" r:id="R9a18b3027a874339"/>
    <p:sldId xmlns:r="http://schemas.openxmlformats.org/officeDocument/2006/relationships" id="258" r:id="Ra99d834be9f24e92"/>
    <p:sldId xmlns:r="http://schemas.openxmlformats.org/officeDocument/2006/relationships" id="259" r:id="R4f8311857b034a31"/>
    <p:sldId xmlns:r="http://schemas.openxmlformats.org/officeDocument/2006/relationships" id="260" r:id="R69667222b4e14c2c"/>
    <p:sldId xmlns:r="http://schemas.openxmlformats.org/officeDocument/2006/relationships" id="261" r:id="Raf8eb6bb077144aa"/>
    <p:sldId xmlns:r="http://schemas.openxmlformats.org/officeDocument/2006/relationships" id="262" r:id="Rdbc25fda4f844989"/>
    <p:sldId xmlns:r="http://schemas.openxmlformats.org/officeDocument/2006/relationships" id="263" r:id="Rf763125e967c412f"/>
    <p:sldId xmlns:r="http://schemas.openxmlformats.org/officeDocument/2006/relationships" id="264" r:id="Ra8d4f818701a4791"/>
    <p:sldId xmlns:r="http://schemas.openxmlformats.org/officeDocument/2006/relationships" id="265" r:id="Rc1c3eac868174a62"/>
    <p:sldId xmlns:r="http://schemas.openxmlformats.org/officeDocument/2006/relationships" id="266" r:id="R15984e0d3aa240e0"/>
    <p:sldId xmlns:r="http://schemas.openxmlformats.org/officeDocument/2006/relationships" id="267" r:id="Rebdadeb35ce44f6b"/>
    <p:sldId xmlns:r="http://schemas.openxmlformats.org/officeDocument/2006/relationships" id="268" r:id="R7d254ed7102c44af"/>
    <p:sldId xmlns:r="http://schemas.openxmlformats.org/officeDocument/2006/relationships" id="269" r:id="R5349619adfd749ce"/>
    <p:sldId xmlns:r="http://schemas.openxmlformats.org/officeDocument/2006/relationships" id="270" r:id="R267e278dda6e4e71"/>
    <p:sldId xmlns:r="http://schemas.openxmlformats.org/officeDocument/2006/relationships" id="271" r:id="Rb5651f3f5e224db9"/>
    <p:sldId xmlns:r="http://schemas.openxmlformats.org/officeDocument/2006/relationships" id="272" r:id="R1f409ef3181b4203"/>
    <p:sldId xmlns:r="http://schemas.openxmlformats.org/officeDocument/2006/relationships" id="273" r:id="R07292339cd2f4939"/>
    <p:sldId xmlns:r="http://schemas.openxmlformats.org/officeDocument/2006/relationships" id="274" r:id="Re836307ffa7c436b"/>
    <p:sldId xmlns:r="http://schemas.openxmlformats.org/officeDocument/2006/relationships" id="275" r:id="R6b056e0a81014769"/>
    <p:sldId xmlns:r="http://schemas.openxmlformats.org/officeDocument/2006/relationships" id="276" r:id="Rab1f773f04064766"/>
    <p:sldId xmlns:r="http://schemas.openxmlformats.org/officeDocument/2006/relationships" id="277" r:id="R92250a2d2f194a46"/>
    <p:sldId xmlns:r="http://schemas.openxmlformats.org/officeDocument/2006/relationships" id="278" r:id="Rf73390dfdbf84dab"/>
    <p:sldId xmlns:r="http://schemas.openxmlformats.org/officeDocument/2006/relationships" id="279" r:id="R9ea9cae38b9f4aa7"/>
    <p:sldId xmlns:r="http://schemas.openxmlformats.org/officeDocument/2006/relationships" id="280" r:id="Radb1169c82464054"/>
    <p:sldId xmlns:r="http://schemas.openxmlformats.org/officeDocument/2006/relationships" id="281" r:id="R1575b28d112945e5"/>
    <p:sldId xmlns:r="http://schemas.openxmlformats.org/officeDocument/2006/relationships" id="282" r:id="Rdbdd92ff7d8a457f"/>
    <p:sldId xmlns:r="http://schemas.openxmlformats.org/officeDocument/2006/relationships" id="283" r:id="R05a44c146f214257"/>
    <p:sldId xmlns:r="http://schemas.openxmlformats.org/officeDocument/2006/relationships" id="284" r:id="R4f15064133ec4ce7"/>
    <p:sldId xmlns:r="http://schemas.openxmlformats.org/officeDocument/2006/relationships" id="285" r:id="R2e2412b6e93342a9"/>
    <p:sldId xmlns:r="http://schemas.openxmlformats.org/officeDocument/2006/relationships" id="286" r:id="R599d8735234745c9"/>
    <p:sldId xmlns:r="http://schemas.openxmlformats.org/officeDocument/2006/relationships" id="287" r:id="Rbf91a63e48e94f74"/>
    <p:sldId xmlns:r="http://schemas.openxmlformats.org/officeDocument/2006/relationships" id="288" r:id="R7ba9d4b1579a4533"/>
    <p:sldId xmlns:r="http://schemas.openxmlformats.org/officeDocument/2006/relationships" id="289" r:id="R1e8ffdbfac164d02"/>
    <p:sldId xmlns:r="http://schemas.openxmlformats.org/officeDocument/2006/relationships" id="290" r:id="R78750fbcf1784a68"/>
    <p:sldId xmlns:r="http://schemas.openxmlformats.org/officeDocument/2006/relationships" id="291" r:id="R5d2f878925454e55"/>
    <p:sldId xmlns:r="http://schemas.openxmlformats.org/officeDocument/2006/relationships" id="292" r:id="Rae0286021c524829"/>
    <p:sldId xmlns:r="http://schemas.openxmlformats.org/officeDocument/2006/relationships" id="293" r:id="Rf7721e0c77594edc"/>
    <p:sldId xmlns:r="http://schemas.openxmlformats.org/officeDocument/2006/relationships" id="294" r:id="Rd986963244e2473f"/>
    <p:sldId xmlns:r="http://schemas.openxmlformats.org/officeDocument/2006/relationships" id="295" r:id="Rc9886d2982dc42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154d7010843b6" /><Relationship Type="http://schemas.openxmlformats.org/officeDocument/2006/relationships/slideMaster" Target="/ppt/slideMasters/slideMaster1.xml" Id="Rb13ba63ccc1d4b48" /><Relationship Type="http://schemas.openxmlformats.org/officeDocument/2006/relationships/notesMaster" Target="/ppt/notesMasters/notesMaster1.xml" Id="R6bfd0dfbaeb54072" /><Relationship Type="http://schemas.openxmlformats.org/officeDocument/2006/relationships/presProps" Target="/ppt/presProps.xml" Id="R81f5b3608bb94bc2" /><Relationship Type="http://schemas.openxmlformats.org/officeDocument/2006/relationships/tableStyles" Target="/ppt/tableStyles.xml" Id="R8dca28bb6bc24728" /><Relationship Type="http://schemas.openxmlformats.org/officeDocument/2006/relationships/slide" Target="/ppt/slides/slide1.xml" Id="Rcb3c1c3cd9034c38" /><Relationship Type="http://schemas.openxmlformats.org/officeDocument/2006/relationships/slide" Target="/ppt/slides/slide2.xml" Id="R9a18b3027a874339" /><Relationship Type="http://schemas.openxmlformats.org/officeDocument/2006/relationships/slide" Target="/ppt/slides/slide3.xml" Id="Ra99d834be9f24e92" /><Relationship Type="http://schemas.openxmlformats.org/officeDocument/2006/relationships/slide" Target="/ppt/slides/slide4.xml" Id="R4f8311857b034a31" /><Relationship Type="http://schemas.openxmlformats.org/officeDocument/2006/relationships/slide" Target="/ppt/slides/slide5.xml" Id="R69667222b4e14c2c" /><Relationship Type="http://schemas.openxmlformats.org/officeDocument/2006/relationships/slide" Target="/ppt/slides/slide6.xml" Id="Raf8eb6bb077144aa" /><Relationship Type="http://schemas.openxmlformats.org/officeDocument/2006/relationships/slide" Target="/ppt/slides/slide7.xml" Id="Rdbc25fda4f844989" /><Relationship Type="http://schemas.openxmlformats.org/officeDocument/2006/relationships/slide" Target="/ppt/slides/slide8.xml" Id="Rf763125e967c412f" /><Relationship Type="http://schemas.openxmlformats.org/officeDocument/2006/relationships/slide" Target="/ppt/slides/slide9.xml" Id="Ra8d4f818701a4791" /><Relationship Type="http://schemas.openxmlformats.org/officeDocument/2006/relationships/slide" Target="/ppt/slides/slide10.xml" Id="Rc1c3eac868174a62" /><Relationship Type="http://schemas.openxmlformats.org/officeDocument/2006/relationships/slide" Target="/ppt/slides/slide11.xml" Id="R15984e0d3aa240e0" /><Relationship Type="http://schemas.openxmlformats.org/officeDocument/2006/relationships/slide" Target="/ppt/slides/slide12.xml" Id="Rebdadeb35ce44f6b" /><Relationship Type="http://schemas.openxmlformats.org/officeDocument/2006/relationships/slide" Target="/ppt/slides/slide13.xml" Id="R7d254ed7102c44af" /><Relationship Type="http://schemas.openxmlformats.org/officeDocument/2006/relationships/slide" Target="/ppt/slides/slide14.xml" Id="R5349619adfd749ce" /><Relationship Type="http://schemas.openxmlformats.org/officeDocument/2006/relationships/slide" Target="/ppt/slides/slide15.xml" Id="R267e278dda6e4e71" /><Relationship Type="http://schemas.openxmlformats.org/officeDocument/2006/relationships/slide" Target="/ppt/slides/slide16.xml" Id="Rb5651f3f5e224db9" /><Relationship Type="http://schemas.openxmlformats.org/officeDocument/2006/relationships/slide" Target="/ppt/slides/slide17.xml" Id="R1f409ef3181b4203" /><Relationship Type="http://schemas.openxmlformats.org/officeDocument/2006/relationships/slide" Target="/ppt/slides/slide18.xml" Id="R07292339cd2f4939" /><Relationship Type="http://schemas.openxmlformats.org/officeDocument/2006/relationships/slide" Target="/ppt/slides/slide19.xml" Id="Re836307ffa7c436b" /><Relationship Type="http://schemas.openxmlformats.org/officeDocument/2006/relationships/slide" Target="/ppt/slides/slide20.xml" Id="R6b056e0a81014769" /><Relationship Type="http://schemas.openxmlformats.org/officeDocument/2006/relationships/slide" Target="/ppt/slides/slide21.xml" Id="Rab1f773f04064766" /><Relationship Type="http://schemas.openxmlformats.org/officeDocument/2006/relationships/slide" Target="/ppt/slides/slide22.xml" Id="R92250a2d2f194a46" /><Relationship Type="http://schemas.openxmlformats.org/officeDocument/2006/relationships/slide" Target="/ppt/slides/slide23.xml" Id="Rf73390dfdbf84dab" /><Relationship Type="http://schemas.openxmlformats.org/officeDocument/2006/relationships/slide" Target="/ppt/slides/slide24.xml" Id="R9ea9cae38b9f4aa7" /><Relationship Type="http://schemas.openxmlformats.org/officeDocument/2006/relationships/slide" Target="/ppt/slides/slide25.xml" Id="Radb1169c82464054" /><Relationship Type="http://schemas.openxmlformats.org/officeDocument/2006/relationships/slide" Target="/ppt/slides/slide26.xml" Id="R1575b28d112945e5" /><Relationship Type="http://schemas.openxmlformats.org/officeDocument/2006/relationships/slide" Target="/ppt/slides/slide27.xml" Id="Rdbdd92ff7d8a457f" /><Relationship Type="http://schemas.openxmlformats.org/officeDocument/2006/relationships/slide" Target="/ppt/slides/slide28.xml" Id="R05a44c146f214257" /><Relationship Type="http://schemas.openxmlformats.org/officeDocument/2006/relationships/slide" Target="/ppt/slides/slide29.xml" Id="R4f15064133ec4ce7" /><Relationship Type="http://schemas.openxmlformats.org/officeDocument/2006/relationships/slide" Target="/ppt/slides/slide30.xml" Id="R2e2412b6e93342a9" /><Relationship Type="http://schemas.openxmlformats.org/officeDocument/2006/relationships/slide" Target="/ppt/slides/slide31.xml" Id="R599d8735234745c9" /><Relationship Type="http://schemas.openxmlformats.org/officeDocument/2006/relationships/slide" Target="/ppt/slides/slide32.xml" Id="Rbf91a63e48e94f74" /><Relationship Type="http://schemas.openxmlformats.org/officeDocument/2006/relationships/slide" Target="/ppt/slides/slide33.xml" Id="R7ba9d4b1579a4533" /><Relationship Type="http://schemas.openxmlformats.org/officeDocument/2006/relationships/slide" Target="/ppt/slides/slide34.xml" Id="R1e8ffdbfac164d02" /><Relationship Type="http://schemas.openxmlformats.org/officeDocument/2006/relationships/slide" Target="/ppt/slides/slide35.xml" Id="R78750fbcf1784a68" /><Relationship Type="http://schemas.openxmlformats.org/officeDocument/2006/relationships/slide" Target="/ppt/slides/slide36.xml" Id="R5d2f878925454e55" /><Relationship Type="http://schemas.openxmlformats.org/officeDocument/2006/relationships/slide" Target="/ppt/slides/slide37.xml" Id="Rae0286021c524829" /><Relationship Type="http://schemas.openxmlformats.org/officeDocument/2006/relationships/slide" Target="/ppt/slides/slide38.xml" Id="Rf7721e0c77594edc" /><Relationship Type="http://schemas.openxmlformats.org/officeDocument/2006/relationships/slide" Target="/ppt/slides/slide39.xml" Id="Rd986963244e2473f" /><Relationship Type="http://schemas.openxmlformats.org/officeDocument/2006/relationships/slide" Target="/ppt/slides/slide40.xml" Id="Rc9886d2982dc42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7eb64e9cc5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42bc84b4c4f23" /><Relationship Type="http://schemas.openxmlformats.org/officeDocument/2006/relationships/notesMaster" Target="/ppt/notesMasters/notesMaster1.xml" Id="Rc19c39b421fe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f9f2eaed3442a0" /><Relationship Type="http://schemas.openxmlformats.org/officeDocument/2006/relationships/notesMaster" Target="/ppt/notesMasters/notesMaster1.xml" Id="R3f08500ca03b46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28623566214d55" /><Relationship Type="http://schemas.openxmlformats.org/officeDocument/2006/relationships/notesMaster" Target="/ppt/notesMasters/notesMaster1.xml" Id="Rebb013cfdf2249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58c797e65d4c19" /><Relationship Type="http://schemas.openxmlformats.org/officeDocument/2006/relationships/notesMaster" Target="/ppt/notesMasters/notesMaster1.xml" Id="Rc9f4d0c6dd95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1e0e44d0ae42f5" /><Relationship Type="http://schemas.openxmlformats.org/officeDocument/2006/relationships/notesMaster" Target="/ppt/notesMasters/notesMaster1.xml" Id="R6321b80fbbbf40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b819e316034781" /><Relationship Type="http://schemas.openxmlformats.org/officeDocument/2006/relationships/notesMaster" Target="/ppt/notesMasters/notesMaster1.xml" Id="R37f1a818ee2e42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bfbb5e79d941e4" /><Relationship Type="http://schemas.openxmlformats.org/officeDocument/2006/relationships/notesMaster" Target="/ppt/notesMasters/notesMaster1.xml" Id="Rba2ffe05d97441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05d7a74cd84903" /><Relationship Type="http://schemas.openxmlformats.org/officeDocument/2006/relationships/notesMaster" Target="/ppt/notesMasters/notesMaster1.xml" Id="Ra8a1244f35ad4d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de3c511fe74bb4" /><Relationship Type="http://schemas.openxmlformats.org/officeDocument/2006/relationships/notesMaster" Target="/ppt/notesMasters/notesMaster1.xml" Id="R598c2da653764b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36a185fa414807" /><Relationship Type="http://schemas.openxmlformats.org/officeDocument/2006/relationships/notesMaster" Target="/ppt/notesMasters/notesMaster1.xml" Id="R4a680c4203b5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21e418a99a448e" /><Relationship Type="http://schemas.openxmlformats.org/officeDocument/2006/relationships/notesMaster" Target="/ppt/notesMasters/notesMaster1.xml" Id="R218021bdb3054c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fcd1820bfa4d17" /><Relationship Type="http://schemas.openxmlformats.org/officeDocument/2006/relationships/notesMaster" Target="/ppt/notesMasters/notesMaster1.xml" Id="Raa1900ed1d7a47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38e8b9513f4d36" /><Relationship Type="http://schemas.openxmlformats.org/officeDocument/2006/relationships/notesMaster" Target="/ppt/notesMasters/notesMaster1.xml" Id="R8735760c5ff74f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1031ca793142b0" /><Relationship Type="http://schemas.openxmlformats.org/officeDocument/2006/relationships/notesMaster" Target="/ppt/notesMasters/notesMaster1.xml" Id="R8949d35fa93843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160eaebf2844a2" /><Relationship Type="http://schemas.openxmlformats.org/officeDocument/2006/relationships/notesMaster" Target="/ppt/notesMasters/notesMaster1.xml" Id="R91b322cda9e945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ec35b4cbfb4b55" /><Relationship Type="http://schemas.openxmlformats.org/officeDocument/2006/relationships/notesMaster" Target="/ppt/notesMasters/notesMaster1.xml" Id="R928bd77a3dde41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04593a2108461f" /><Relationship Type="http://schemas.openxmlformats.org/officeDocument/2006/relationships/notesMaster" Target="/ppt/notesMasters/notesMaster1.xml" Id="R0a48466a770547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5be514f25741d7" /><Relationship Type="http://schemas.openxmlformats.org/officeDocument/2006/relationships/notesMaster" Target="/ppt/notesMasters/notesMaster1.xml" Id="Rcc1b9740a0b64d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f0cff55c204dd3" /><Relationship Type="http://schemas.openxmlformats.org/officeDocument/2006/relationships/notesMaster" Target="/ppt/notesMasters/notesMaster1.xml" Id="Rc09766e56b7740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4b6347a23b4b48" /><Relationship Type="http://schemas.openxmlformats.org/officeDocument/2006/relationships/notesMaster" Target="/ppt/notesMasters/notesMaster1.xml" Id="R571834cd1b1a48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21f70f14f4625" /><Relationship Type="http://schemas.openxmlformats.org/officeDocument/2006/relationships/notesMaster" Target="/ppt/notesMasters/notesMaster1.xml" Id="Re846cbee57534b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f6c137f2824716" /><Relationship Type="http://schemas.openxmlformats.org/officeDocument/2006/relationships/notesMaster" Target="/ppt/notesMasters/notesMaster1.xml" Id="R691407cc56084dd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1c1a05abf44d81" /><Relationship Type="http://schemas.openxmlformats.org/officeDocument/2006/relationships/notesMaster" Target="/ppt/notesMasters/notesMaster1.xml" Id="R71ae7536ab5541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1ede7ec0b64a68" /><Relationship Type="http://schemas.openxmlformats.org/officeDocument/2006/relationships/notesMaster" Target="/ppt/notesMasters/notesMaster1.xml" Id="Rb98074139bf44f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7ba71db569414d" /><Relationship Type="http://schemas.openxmlformats.org/officeDocument/2006/relationships/notesMaster" Target="/ppt/notesMasters/notesMaster1.xml" Id="R42399f072bfe4d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56ef13796b45b1" /><Relationship Type="http://schemas.openxmlformats.org/officeDocument/2006/relationships/notesMaster" Target="/ppt/notesMasters/notesMaster1.xml" Id="R559873f4515c45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233615378e4bc3" /><Relationship Type="http://schemas.openxmlformats.org/officeDocument/2006/relationships/notesMaster" Target="/ppt/notesMasters/notesMaster1.xml" Id="R3af4fd3ad7c04a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b0659f39ee49a9" /><Relationship Type="http://schemas.openxmlformats.org/officeDocument/2006/relationships/notesMaster" Target="/ppt/notesMasters/notesMaster1.xml" Id="R02148945363d471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16919701d1400c" /><Relationship Type="http://schemas.openxmlformats.org/officeDocument/2006/relationships/notesMaster" Target="/ppt/notesMasters/notesMaster1.xml" Id="Red2b4ebe3be14fb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86600cb5f743fc" /><Relationship Type="http://schemas.openxmlformats.org/officeDocument/2006/relationships/notesMaster" Target="/ppt/notesMasters/notesMaster1.xml" Id="R2a53383572c242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19bd7e52661403b" /><Relationship Type="http://schemas.openxmlformats.org/officeDocument/2006/relationships/notesMaster" Target="/ppt/notesMasters/notesMaster1.xml" Id="R7b34cd8d6c8d42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703898559494d36" /><Relationship Type="http://schemas.openxmlformats.org/officeDocument/2006/relationships/notesMaster" Target="/ppt/notesMasters/notesMaster1.xml" Id="Rba8c229d965042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f72b830bffe43cb" /><Relationship Type="http://schemas.openxmlformats.org/officeDocument/2006/relationships/notesMaster" Target="/ppt/notesMasters/notesMaster1.xml" Id="Rfa74802b54c749d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5b5ec35b8a14df9" /><Relationship Type="http://schemas.openxmlformats.org/officeDocument/2006/relationships/notesMaster" Target="/ppt/notesMasters/notesMaster1.xml" Id="R4cea0961c6fd47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41d4d1c9b824718" /><Relationship Type="http://schemas.openxmlformats.org/officeDocument/2006/relationships/notesMaster" Target="/ppt/notesMasters/notesMaster1.xml" Id="R2dbd598af3234de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2cc9eac97104f8a" /><Relationship Type="http://schemas.openxmlformats.org/officeDocument/2006/relationships/notesMaster" Target="/ppt/notesMasters/notesMaster1.xml" Id="R7a16ed61800f401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d1331dd434c413d" /><Relationship Type="http://schemas.openxmlformats.org/officeDocument/2006/relationships/notesMaster" Target="/ppt/notesMasters/notesMaster1.xml" Id="Rd6d0934e361c461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f121d3028b446e5" /><Relationship Type="http://schemas.openxmlformats.org/officeDocument/2006/relationships/notesMaster" Target="/ppt/notesMasters/notesMaster1.xml" Id="R2efcba8ba0c546a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0ca625e35054ef1" /><Relationship Type="http://schemas.openxmlformats.org/officeDocument/2006/relationships/notesMaster" Target="/ppt/notesMasters/notesMaster1.xml" Id="Rffe41825c3ca495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50f218c853d4586" /><Relationship Type="http://schemas.openxmlformats.org/officeDocument/2006/relationships/notesMaster" Target="/ppt/notesMasters/notesMaster1.xml" Id="Rb49ca932aaa346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references/papers/Alenezi 等 - 2025 - Physics-Informed Weakly-Supervised Learning for Quality Prediction of Manufacturing Processes.pdf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reproduction/src/pwl_repro/core/optimization.py</a:t>
            </a:r>
          </a:p>
          <a:p xmlns:a="http://schemas.openxmlformats.org/drawingml/2006/main">
            <a:r>
              <a:t>- reproduction/src/pwl_repro/experiments/tuning.py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references/papers/Alenezi 等 - 2025 - Physics-Informed Weakly-Supervised Learning for Quality Prediction of Manufacturing Processes.pdf（原论文 Fig. 2、Table I，PDF 第 9 页）</a:t>
            </a:r>
          </a:p>
          <a:p xmlns:a="http://schemas.openxmlformats.org/drawingml/2006/main">
            <a:r>
              <a:t>- reproduction/SECTION_IV_PROTOCOL.md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reproduction/REPRODUCTION.md</a:t>
            </a:r>
          </a:p>
          <a:p xmlns:a="http://schemas.openxmlformats.org/drawingml/2006/main">
            <a:r>
              <a:t>- reproduction/SECTION_IV_PROTOCOL.md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reproduction/src/pwl_repro/core/optimization.py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reproduction/REPRODUCTION.md</a:t>
            </a:r>
          </a:p>
          <a:p xmlns:a="http://schemas.openxmlformats.org/drawingml/2006/main">
            <a:r>
              <a:t>- reproduction/SECTION_IV_PROTOCOL.md</a:t>
            </a:r>
          </a:p>
          <a:p xmlns:a="http://schemas.openxmlformats.org/drawingml/2006/main">
            <a:r>
              <a:t>- reproduction/src/pwl_repro/experiments/protocols.py</a:t>
            </a:r>
          </a:p>
          <a:p xmlns:a="http://schemas.openxmlformats.org/drawingml/2006/main">
            <a:r>
              <a:t>- reproduction/src/pwl_repro/scenarios/simulation.py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references/docs/legacy/02_PWL论文解析.md（正文式 (3)–(5)）</a:t>
            </a:r>
          </a:p>
          <a:p xmlns:a="http://schemas.openxmlformats.org/drawingml/2006/main">
            <a:r>
              <a:t>- references/docs/legacy/03_PWL补充材料解析.md（Proposition 1–3）</a:t>
            </a:r>
          </a:p>
          <a:p xmlns:a="http://schemas.openxmlformats.org/drawingml/2006/main">
            <a:r>
              <a:t>- ImageGen 生成的概念示意图，仅用于解释，不代表实验数据。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migration/src/pwl_migration/heat.py</a:t>
            </a:r>
          </a:p>
          <a:p xmlns:a="http://schemas.openxmlformats.org/drawingml/2006/main">
            <a:r>
              <a:t>- migration/src/pwl_migration/heat_experiments.py</a:t>
            </a:r>
          </a:p>
          <a:p xmlns:a="http://schemas.openxmlformats.org/drawingml/2006/main">
            <a:r>
              <a:t>- migration/configs/heat_v3_qint_min.yaml</a:t>
            </a:r>
          </a:p>
          <a:p xmlns:a="http://schemas.openxmlformats.org/drawingml/2006/main">
            <a:r>
              <a:t>- ImageGen 生成的热传导概念示意图，仅用于解释物理对象，不代表具体网格或求解结果。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migration/results/heat_v3_qint_min/figure_iv_a_rmse.png</a:t>
            </a:r>
          </a:p>
          <a:p xmlns:a="http://schemas.openxmlformats.org/drawingml/2006/main">
            <a:r>
              <a:t>- migration/results/heat_v3_qint_min/BASELINE.md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migration/results/heat_v3_qint_min/figure_iv_a_boxplots.png</a:t>
            </a:r>
          </a:p>
          <a:p xmlns:a="http://schemas.openxmlformats.org/drawingml/2006/main">
            <a:r>
              <a:t>- migration/reports/迁移后续工作/COMSOL场景v3机制消融报告.md</a:t>
            </a:r>
          </a:p>
          <a:p xmlns:a="http://schemas.openxmlformats.org/drawingml/2006/main">
            <a:r>
              <a:t>- migration/reports/迁移后续工作/COMSOL场景v3机理列修复与协议消融实验报告.md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  <a:p xmlns:a="http://schemas.openxmlformats.org/drawingml/2006/main">
            <a:r>
              <a:t>- migration/reports/迁移后续工作/COMSOL场景theta判据修订.md</a:t>
            </a:r>
          </a:p>
          <a:p xmlns:a="http://schemas.openxmlformats.org/drawingml/2006/main">
            <a:r>
              <a:t>- references/docs/legacy/02_PWL论文解析.md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>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解释性内容---附件.md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解释性内容---附件.md</a:t>
            </a:r>
          </a:p>
          <a:p xmlns:a="http://schemas.openxmlformats.org/drawingml/2006/main">
            <a:r>
              <a:t>references/docs/legacy/02_PWL论文解析.md</a:t>
            </a:r>
          </a:p>
          <a:p xmlns:a="http://schemas.openxmlformats.org/drawingml/2006/main">
            <a:r>
              <a:t>references/papers/Alenezi 等 - 2025 - Physics-Informed Weakly-Supervised Learning for Quality Prediction of Manufacturing Processes.pdf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reproduction/src/pwl_repro/core/features.py</a:t>
            </a:r>
          </a:p>
          <a:p xmlns:a="http://schemas.openxmlformats.org/drawingml/2006/main">
            <a:r>
              <a:t>解释性内容---附件.md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PWL当前必须项目与实施方案.md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migration/reports/迁移后续工作/COMSOL场景theta判据修订.md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reproduction/src/pwl_repro/core/model.py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reproduction/src/pwl_repro/core/model.py</a:t>
            </a:r>
          </a:p>
          <a:p xmlns:a="http://schemas.openxmlformats.org/drawingml/2006/main">
            <a:r>
              <a:t>reproduction/src/pwl_repro/core/optimization.py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reproduction/SECTION_IV_PROTOCOL.md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reproduction/src/pwl_repro/core/optimization.py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reproduction/SECTION_IV_PROTOCOL.md</a:t>
            </a:r>
          </a:p>
          <a:p xmlns:a="http://schemas.openxmlformats.org/drawingml/2006/main">
            <a:r>
              <a:t>references/papers/Alenezi 等 - 2025 - Physics-Informed Weakly-Supervised Learning for Quality Prediction of Manufacturing Processes.pdf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reproduction/SECTION_IV_PROTOCOL.md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reproduction/SECTION_IV_PROTOCOL.md</a:t>
            </a:r>
          </a:p>
          <a:p xmlns:a="http://schemas.openxmlformats.org/drawingml/2006/main">
            <a:r>
              <a:t>references/papers/Alenezi 等 - 2025 - Physics-Informed Weakly-Supervised Learning for Quality Prediction of Manufacturing Processes.pdf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reproduction/SECTION_IV_PROTOCOL.md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reproduction/SECTION_IV_PROTOCOL.md</a:t>
            </a:r>
          </a:p>
          <a:p xmlns:a="http://schemas.openxmlformats.org/drawingml/2006/main">
            <a:r>
              <a:t>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migration/src/pwl_migration/heat.py</a:t>
            </a:r>
          </a:p>
          <a:p xmlns:a="http://schemas.openxmlformats.org/drawingml/2006/main">
            <a:r>
              <a:t>migration/src/pwl_migration/heat_experiments.py</a:t>
            </a:r>
          </a:p>
          <a:p xmlns:a="http://schemas.openxmlformats.org/drawingml/2006/main">
            <a:r>
              <a:t>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migration/src/pwl_migration/heat.py</a:t>
            </a:r>
          </a:p>
          <a:p xmlns:a="http://schemas.openxmlformats.org/drawingml/2006/main">
            <a:r>
              <a:t>migration/configs/heat_v3_qint_min_b20.yaml</a:t>
            </a:r>
          </a:p>
          <a:p xmlns:a="http://schemas.openxmlformats.org/drawingml/2006/main">
            <a:r>
              <a:t>概念示意图：assets/ppt/heat-conduction.png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migration/configs/heat_v3_qint_min_b20.yaml</a:t>
            </a:r>
          </a:p>
          <a:p xmlns:a="http://schemas.openxmlformats.org/drawingml/2006/main">
            <a:r>
              <a:t>migration/src/pwl_migration/heat.py</a:t>
            </a:r>
          </a:p>
          <a:p xmlns:a="http://schemas.openxmlformats.org/drawingml/2006/main">
            <a:r>
              <a:t>migration/reports/迁移后续工作/COMSOL场景v3机制消融报告.md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  <a:p xmlns:a="http://schemas.openxmlformats.org/drawingml/2006/main">
            <a:r>
              <a:t>migration/datasets/acceptance_report.json</a:t>
            </a:r>
          </a:p>
          <a:p xmlns:a="http://schemas.openxmlformats.org/drawingml/2006/main">
            <a:r>
              <a:t>migration/configs/heat_v3_qint_min_b20.yaml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migration/results/heat_v3_qint_min_b20/figure_iv_a_rmse.png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  <a:p xmlns:a="http://schemas.openxmlformats.org/drawingml/2006/main">
            <a:r>
              <a:t>migration/results/heat_v3_qint_min_b20/statistical_tests.csv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migration/results/heat_v3_qint_min_b20/figure_iv_a_boxplots.png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migration/reports/迁移后续工作/COMSOL场景v3机制消融报告.md</a:t>
            </a:r>
          </a:p>
          <a:p xmlns:a="http://schemas.openxmlformats.org/drawingml/2006/main">
            <a:r>
              <a:t>migration/results/heat_v3_qint_min/summary.csv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migration/reports/迁移后续工作/COMSOL场景v3机制消融报告.md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migration/reports/迁移后续工作/COMSOL场景theta判据修订.md</a:t>
            </a:r>
          </a:p>
          <a:p xmlns:a="http://schemas.openxmlformats.org/drawingml/2006/main">
            <a:r>
              <a:t>PWL当前必须项目与实施方案.md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  <a:p xmlns:a="http://schemas.openxmlformats.org/drawingml/2006/main">
            <a:r>
              <a:t>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阶段性总结_PWL算法实现框架.md</a:t>
            </a:r>
          </a:p>
          <a:p xmlns:a="http://schemas.openxmlformats.org/drawingml/2006/main">
            <a:r>
              <a:t>migration/reports/迁移后续工作/COMSOL场景20批统计闭环报告.md</a:t>
            </a:r>
          </a:p>
          <a:p xmlns:a="http://schemas.openxmlformats.org/drawingml/2006/main">
            <a:r>
              <a:t>migration/reports/迁移后续工作/COMSOL场景v3机制消融报告.md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fe1c95fcf4a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0e756d08344a55" /><Relationship Type="http://schemas.openxmlformats.org/officeDocument/2006/relationships/slideLayout" Target="/ppt/slideLayouts/slideLayout1.xml" Id="R182fac4ae5d542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fac4ae5d542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146fcd5b84e14" /><Relationship Type="http://schemas.openxmlformats.org/officeDocument/2006/relationships/notesSlide" Target="/ppt/notesSlides/notesSlide1.xml" Id="R99f7a2f5ee4c4c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a8b63044540e3" /><Relationship Type="http://schemas.openxmlformats.org/officeDocument/2006/relationships/notesSlide" Target="/ppt/notesSlides/notesSlide2.xml" Id="Rac31d4fc3689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221ec74a74120" /><Relationship Type="http://schemas.openxmlformats.org/officeDocument/2006/relationships/notesSlide" Target="/ppt/notesSlides/notesSlide3.xml" Id="R4ea5b77fa5184b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9ef881f5b4868" /><Relationship Type="http://schemas.openxmlformats.org/officeDocument/2006/relationships/notesSlide" Target="/ppt/notesSlides/notesSlide4.xml" Id="R302fb113564d40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87c68dce44b4b" /><Relationship Type="http://schemas.openxmlformats.org/officeDocument/2006/relationships/image" Target="/ppt/media/image.png" Id="R79a0a0d00d8e4137" /><Relationship Type="http://schemas.openxmlformats.org/officeDocument/2006/relationships/image" Target="/ppt/media/image2.png" Id="R13be9bb817764ada" /><Relationship Type="http://schemas.openxmlformats.org/officeDocument/2006/relationships/notesSlide" Target="/ppt/notesSlides/notesSlide5.xml" Id="R6afcbaf8eeb24a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50b4d08014eca" /><Relationship Type="http://schemas.openxmlformats.org/officeDocument/2006/relationships/notesSlide" Target="/ppt/notesSlides/notesSlide6.xml" Id="Rdd3ed9429e0142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8e643b1ab44bf" /><Relationship Type="http://schemas.openxmlformats.org/officeDocument/2006/relationships/notesSlide" Target="/ppt/notesSlides/notesSlide7.xml" Id="Rc6c97333d4fb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6feaddd5b49e7" /><Relationship Type="http://schemas.openxmlformats.org/officeDocument/2006/relationships/image" Target="/ppt/media/image3.png" Id="R604295a009d24563" /><Relationship Type="http://schemas.openxmlformats.org/officeDocument/2006/relationships/notesSlide" Target="/ppt/notesSlides/notesSlide8.xml" Id="R0bc12e1757bd41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aedebdfde490b" /><Relationship Type="http://schemas.openxmlformats.org/officeDocument/2006/relationships/image" Target="/ppt/media/image4.png" Id="R95ac52b377bc4ab2" /><Relationship Type="http://schemas.openxmlformats.org/officeDocument/2006/relationships/notesSlide" Target="/ppt/notesSlides/notesSlide9.xml" Id="R44c237be59614d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877801fa24f84" /><Relationship Type="http://schemas.openxmlformats.org/officeDocument/2006/relationships/image" Target="/ppt/media/image5.png" Id="Ra5e9022848434051" /><Relationship Type="http://schemas.openxmlformats.org/officeDocument/2006/relationships/notesSlide" Target="/ppt/notesSlides/notesSlide10.xml" Id="R0c9f7269d5e544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c45e87fd54337" /><Relationship Type="http://schemas.openxmlformats.org/officeDocument/2006/relationships/image" Target="/ppt/media/image6.png" Id="Ra05cda33f4584f82" /><Relationship Type="http://schemas.openxmlformats.org/officeDocument/2006/relationships/notesSlide" Target="/ppt/notesSlides/notesSlide11.xml" Id="R27dffba020014e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f2345df84936" /><Relationship Type="http://schemas.openxmlformats.org/officeDocument/2006/relationships/notesSlide" Target="/ppt/notesSlides/notesSlide12.xml" Id="R7a90b8e74fde43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6a000cf8a489c" /><Relationship Type="http://schemas.openxmlformats.org/officeDocument/2006/relationships/notesSlide" Target="/ppt/notesSlides/notesSlide13.xml" Id="R595a83990d864c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7f38b1cc94d0e" /><Relationship Type="http://schemas.openxmlformats.org/officeDocument/2006/relationships/notesSlide" Target="/ppt/notesSlides/notesSlide14.xml" Id="Rd0ac1de8fda045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b88dd8d224854" /><Relationship Type="http://schemas.openxmlformats.org/officeDocument/2006/relationships/notesSlide" Target="/ppt/notesSlides/notesSlide15.xml" Id="R01a5c644247448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868e90eab4278" /><Relationship Type="http://schemas.openxmlformats.org/officeDocument/2006/relationships/notesSlide" Target="/ppt/notesSlides/notesSlide16.xml" Id="R0e49ce0070694c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3800bcac5415f" /><Relationship Type="http://schemas.openxmlformats.org/officeDocument/2006/relationships/notesSlide" Target="/ppt/notesSlides/notesSlide17.xml" Id="R688dc2a6f8be40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02760f6bb4010" /><Relationship Type="http://schemas.openxmlformats.org/officeDocument/2006/relationships/notesSlide" Target="/ppt/notesSlides/notesSlide18.xml" Id="Re0935a621b7e43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67884c9d443f4" /><Relationship Type="http://schemas.openxmlformats.org/officeDocument/2006/relationships/notesSlide" Target="/ppt/notesSlides/notesSlide19.xml" Id="R4fb2b9eb6efc4e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4061849aa45ff" /><Relationship Type="http://schemas.openxmlformats.org/officeDocument/2006/relationships/notesSlide" Target="/ppt/notesSlides/notesSlide20.xml" Id="R14ba7408aa8d41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f6fac238c439f" /><Relationship Type="http://schemas.openxmlformats.org/officeDocument/2006/relationships/notesSlide" Target="/ppt/notesSlides/notesSlide21.xml" Id="R2d3fbe7b82bb43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3484845344645" /><Relationship Type="http://schemas.openxmlformats.org/officeDocument/2006/relationships/notesSlide" Target="/ppt/notesSlides/notesSlide22.xml" Id="R456885d4bba145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2ee19e2f64b0a" /><Relationship Type="http://schemas.openxmlformats.org/officeDocument/2006/relationships/notesSlide" Target="/ppt/notesSlides/notesSlide23.xml" Id="R237cc64ce66740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23dd17d684299" /><Relationship Type="http://schemas.openxmlformats.org/officeDocument/2006/relationships/notesSlide" Target="/ppt/notesSlides/notesSlide24.xml" Id="R789b853065254ac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8d4e9179141b4" /><Relationship Type="http://schemas.openxmlformats.org/officeDocument/2006/relationships/notesSlide" Target="/ppt/notesSlides/notesSlide25.xml" Id="R52308866133f4e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a64427964e81" /><Relationship Type="http://schemas.openxmlformats.org/officeDocument/2006/relationships/notesSlide" Target="/ppt/notesSlides/notesSlide26.xml" Id="R78c2292b473747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99e132011418f" /><Relationship Type="http://schemas.openxmlformats.org/officeDocument/2006/relationships/notesSlide" Target="/ppt/notesSlides/notesSlide27.xml" Id="R697fdc0a0fbe40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99298ac6b4312" /><Relationship Type="http://schemas.openxmlformats.org/officeDocument/2006/relationships/image" Target="/ppt/media/image7.png" Id="R014d5b8969474bbd" /><Relationship Type="http://schemas.openxmlformats.org/officeDocument/2006/relationships/notesSlide" Target="/ppt/notesSlides/notesSlide28.xml" Id="R18a57532e74748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690165d554653" /><Relationship Type="http://schemas.openxmlformats.org/officeDocument/2006/relationships/notesSlide" Target="/ppt/notesSlides/notesSlide29.xml" Id="R0b05fab4aeb448d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6372180604187" /><Relationship Type="http://schemas.openxmlformats.org/officeDocument/2006/relationships/notesSlide" Target="/ppt/notesSlides/notesSlide30.xml" Id="Rdd10ad6e7a5d4f9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1b0bb9e22499c" /><Relationship Type="http://schemas.openxmlformats.org/officeDocument/2006/relationships/image" Target="/ppt/media/image8.png" Id="Rb41aba1e84a5404c" /><Relationship Type="http://schemas.openxmlformats.org/officeDocument/2006/relationships/notesSlide" Target="/ppt/notesSlides/notesSlide31.xml" Id="R1e14d47f65284f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1328ed0ea454e" /><Relationship Type="http://schemas.openxmlformats.org/officeDocument/2006/relationships/notesSlide" Target="/ppt/notesSlides/notesSlide32.xml" Id="Rece6c062331041f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911a1847a4adf" /><Relationship Type="http://schemas.openxmlformats.org/officeDocument/2006/relationships/image" Target="/ppt/media/image9.png" Id="R2ba83df098fe454b" /><Relationship Type="http://schemas.openxmlformats.org/officeDocument/2006/relationships/notesSlide" Target="/ppt/notesSlides/notesSlide33.xml" Id="R6f9eb385e422424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483aeeef4234" /><Relationship Type="http://schemas.openxmlformats.org/officeDocument/2006/relationships/notesSlide" Target="/ppt/notesSlides/notesSlide34.xml" Id="R7828796bbb9b47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d2343a3db442a" /><Relationship Type="http://schemas.openxmlformats.org/officeDocument/2006/relationships/notesSlide" Target="/ppt/notesSlides/notesSlide35.xml" Id="R5a6d8df842b0426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d5a9b1c744c1a" /><Relationship Type="http://schemas.openxmlformats.org/officeDocument/2006/relationships/notesSlide" Target="/ppt/notesSlides/notesSlide36.xml" Id="R3b083a1e205343e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35e9a59e04aa6" /><Relationship Type="http://schemas.openxmlformats.org/officeDocument/2006/relationships/notesSlide" Target="/ppt/notesSlides/notesSlide37.xml" Id="Rc5ec5e2e7fea4e5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f639cd8f64dc9" /><Relationship Type="http://schemas.openxmlformats.org/officeDocument/2006/relationships/notesSlide" Target="/ppt/notesSlides/notesSlide38.xml" Id="R8cf4cb5d0fd74c0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8da4f03284d59" /><Relationship Type="http://schemas.openxmlformats.org/officeDocument/2006/relationships/notesSlide" Target="/ppt/notesSlides/notesSlide39.xml" Id="R3588422d9f3b459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0da68468040f9" /><Relationship Type="http://schemas.openxmlformats.org/officeDocument/2006/relationships/notesSlide" Target="/ppt/notesSlides/notesSlide40.xml" Id="R079429b0428049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7FAC-1A53-487A-B49F-A0ED25D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3102F-2E32-48A0-83C7-53C8D8C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论文复现与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COMSOL 热传导迁移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C2DE-4E5F-4A1E-9F04-1EE5DA6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组会汇报 · 复现过程、数据结果与局限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2026.08.04</a:t>
            </a:r>
          </a:p>
        </p:txBody>
      </p:sp>
    </p:spTree>
    <p:extLst>
      <p:ext uri="{BB962C8B-B14F-4D97-AF65-F5344CB8AC3E}">
        <p14:creationId xmlns:p14="http://schemas.microsoft.com/office/powerpoint/2010/main" val="814252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F92E-D97F-4097-9687-06A8E56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E2FE8-01F8-468C-B1CA-6D706B7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研究问题：少量真实标签如何纠正物理弱标签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FC1B-6705-4DEE-8275-EC19558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B221-F08D-4E7C-B60B-D30E2DB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E160B-8641-41E9-9842-A75C94D5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论文关注的不是一个通用产品，而是三类信息如何共同影响预测。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271F8-9557-4F9D-80CE-3B8DF53D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D4105-DF22-41B7-9234-AE6E8B9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物理弱标签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A19D9-574E-46CB-BE8C-D962C58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便宜、可扩展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但有系统误差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5D6D4-9266-4B5A-8894-FE57166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C4590-B68E-402B-A934-419EA42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少量真实标签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EDB2D-0337-4851-81E8-9FD9CC63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昂贵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但可用于纠偏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59C19-3DC6-41C6-B2DB-33E8A2C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914C9-7F2D-4EE8-8213-E9B62B1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过程变量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B7473-F911-45EE-8DA5-2A85E81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补充现实偏差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也可能与物理项混淆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FA86-6694-4812-8EA4-CAE0318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339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2077-39D7-44F3-B326-E8EB9EA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29175"/>
            <a:ext cx="845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6876C-5AB3-4289-B0FE-1A3B9A6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62525"/>
            <a:ext cx="811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本组会的问题：复现协议是否保留？迁移后哪些机制仍然有效？</a:t>
            </a:r>
          </a:p>
        </p:txBody>
      </p:sp>
    </p:spTree>
    <p:extLst>
      <p:ext uri="{BB962C8B-B14F-4D97-AF65-F5344CB8AC3E}">
        <p14:creationId xmlns:p14="http://schemas.microsoft.com/office/powerpoint/2010/main" val="47594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6A93-5561-4880-9CC5-DAA5699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DD21-9A6A-4792-91E4-59BA05C5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的核心：物理项 + 差异项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71B2D-6A34-45B9-A747-2B144EC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3FB7C-73DE-4987-9369-379AFD6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F4EB6-0D6F-4AFD-9135-C7E2D5D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预测结构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B021-60CC-4C6B-AF3D-18B7E39C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114014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ŷ = H(xᵖʰ, θ)g + B(xᵖʳ, xᵖʰ)d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5EB91-0495-452D-8CC3-9940BB5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613F4-F253-49E8-B8E2-4A70A71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4A918-7739-4B1B-8D6E-1934996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 g · 蒸馏项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1BD8-482C-481B-A188-BCC55A4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从物理弱标签中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提取可复用规律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80766-EE6A-4BED-BD36-BDFDB9E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5FF27-398F-43B0-ACDA-D24BB20C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 d · 差异项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7DE7-C8EC-4ED4-B9BA-CC58604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用过程变量与物理变量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补偿遗漏效应和结构偏差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70FF-4757-48D5-8596-44AF3E3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0F3D4-6B2F-468C-ABFC-2E92AD0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θ · 校准参数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519A0-E758-4A41-A26B-E14E41B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在盒约束内联合更新；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既服务校准，也影响预测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EB5-4EE7-451E-B814-BF6EB97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H 与 B 不是两个独立模型，而是同一预测式中的两类信息来源。</a:t>
            </a:r>
          </a:p>
        </p:txBody>
      </p:sp>
    </p:spTree>
    <p:extLst>
      <p:ext uri="{BB962C8B-B14F-4D97-AF65-F5344CB8AC3E}">
        <p14:creationId xmlns:p14="http://schemas.microsoft.com/office/powerpoint/2010/main" val="1027109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21B15-63EF-45B3-AA5A-E60F7AD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E209-C0F6-45DD-9B34-A34C066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实现层面：g、d、θ 分开更新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5636-55CC-4B9F-9843-D163950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987B6-AAEE-4910-8804-A974BEB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43BF-6082-42FB-94E0-C0AA2F0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论文给出求解骨架；复现时还要补齐特征、尺度、近奇异处理和停止条件。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08E8C-F586-4A3E-9CF4-7F47E70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11DAB-7602-415A-ADB7-0F3BA13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FD99-0156-489C-878C-BE5453E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696EB-EEC0-46AB-8FDB-BF3BE64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6CB5C-E7DF-40A2-8469-39F1E46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13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D52-98EC-4ED7-9DD6-A73ADDD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194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真实标签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物理弱标签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1E430-1954-4E37-97A4-D61F352D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C79F2-C9B7-409E-B934-AAF27EBB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 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435C-6CB9-48E6-B059-C8F0E5A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 + L1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组稀疏阈值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8641-EE79-4A2D-8CDF-6C7E28B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098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CD2C2-2FD9-4B87-A685-F34E87D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1B7A0-E6AE-4016-A632-C7A822A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194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最小二乘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可选 ridge 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5AB07-9428-4036-B784-1C6725D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8B1ED-35D1-4307-B0A4-8B1118A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θ 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F0830-37BE-4491-B35E-5893CBD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盒约束投影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4D679-5F51-4078-B6BA-90E2D99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11401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203E0-B09E-47B5-AE45-F956A46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14900"/>
            <a:ext cx="11058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每轮记录 objective、参数与 ADMM 残差，用于定位复现偏差。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688A6-C83E-4F52-8D9E-0DFEEBC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这里展示的是实现过程，不是新的算法贡献。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436931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F5E41-02BC-4255-A07B-BD5F312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4739-95DD-4F87-B8AB-6D70162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原论文结果图：标签量增加时，PWL 的 RMSE 如何变化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59B8-FAB7-483C-BEB9-0B67252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86895-8EF6-48AA-B4CF-1E6C288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0a0d00d8e4137"/>
          <a:stretch xmlns:a="http://schemas.openxmlformats.org/drawingml/2006/main"/>
        </p:blipFill>
        <p:spPr>
          <a:xfrm xmlns:a="http://schemas.openxmlformats.org/drawingml/2006/main">
            <a:off x="1839130" y="1809750"/>
            <a:ext cx="2436791" cy="33337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e9bb817764ada"/>
          <a:stretch xmlns:a="http://schemas.openxmlformats.org/drawingml/2006/main"/>
        </p:blipFill>
        <p:spPr>
          <a:xfrm xmlns:a="http://schemas.openxmlformats.org/drawingml/2006/main">
            <a:off x="7894421" y="1809750"/>
            <a:ext cx="2146733" cy="3333750"/>
          </a:xfrm>
          <a:prstGeom xmlns:a="http://schemas.openxmlformats.org/drawingml/2006/main" prst="rect">
            <a:avLst/>
          </a:prstGeom>
        </p:spPr>
      </p:pic>
      <p:sp>
        <p:nvSpPr>
          <p:cNvPr id="30" name="paper-fig2-caption">
            <a:extLst xmlns:a="http://schemas.openxmlformats.org/drawingml/2006/main">
              <a:ext uri="{FF2B5EF4-FFF2-40B4-BE49-F238E27FC236}">
                <a16:creationId xmlns:a16="http://schemas.microsoft.com/office/drawing/2014/main" id="{FB309326-0D91-4EB1-B253-27DD6E29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863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626B"/>
                </a:solidFill>
              </a:defRPr>
            </a:pPr>
            <a:r>
              <a:rPr sz="1125">
                <a:solidFill>
                  <a:srgbClr val="5D626B"/>
                </a:solidFill>
              </a:rPr>
              <a:t>原论文 Fig. 2：横轴为场景，曲线比较各模型平均 RMSE。</a:t>
            </a:r>
          </a:p>
        </p:txBody>
      </p:sp>
      <p:sp>
        <p:nvSpPr>
          <p:cNvPr id="31" name="paper-table1-caption">
            <a:extLst xmlns:a="http://schemas.openxmlformats.org/drawingml/2006/main">
              <a:ext uri="{FF2B5EF4-FFF2-40B4-BE49-F238E27FC236}">
                <a16:creationId xmlns:a16="http://schemas.microsoft.com/office/drawing/2014/main" id="{B8DCEEAC-6286-44A2-91AC-4C14093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86375"/>
            <a:ext cx="564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626B"/>
                </a:solidFill>
              </a:defRPr>
            </a:pPr>
            <a:r>
              <a:rPr sz="1125">
                <a:solidFill>
                  <a:srgbClr val="5D626B"/>
                </a:solidFill>
              </a:rPr>
              <a:t>原论文 Table I：PWL 在 10 / 60 / 120 个标签下的 RMSE 均值与标准差。</a:t>
            </a:r>
          </a:p>
        </p:txBody>
      </p:sp>
      <p:sp>
        <p:nvSpPr>
          <p:cNvPr id="32" name="paper-evidence-note">
            <a:extLst xmlns:a="http://schemas.openxmlformats.org/drawingml/2006/main">
              <a:ext uri="{FF2B5EF4-FFF2-40B4-BE49-F238E27FC236}">
                <a16:creationId xmlns:a16="http://schemas.microsoft.com/office/drawing/2014/main" id="{478452F5-AFD7-426A-8A94-3DC5DD0D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阅读方式：先看论文原图的实验设定，再对照项目代码中的实现与数据口径。</a:t>
            </a:r>
          </a:p>
        </p:txBody>
      </p:sp>
    </p:spTree>
    <p:extLst>
      <p:ext uri="{BB962C8B-B14F-4D97-AF65-F5344CB8AC3E}">
        <p14:creationId xmlns:p14="http://schemas.microsoft.com/office/powerpoint/2010/main" val="1145534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B18FE2-AEEE-482C-A2B4-73C43C6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B3061-5410-4FAC-9351-75112C49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复现边界：哪些是论文内容，哪些是工程补充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AFD3-9702-4939-958C-B51E153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1039E-0919-4B2A-AB24-6FCF749A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7" name="repro-paper-panel">
            <a:extLst xmlns:a="http://schemas.openxmlformats.org/drawingml/2006/main">
              <a:ext uri="{FF2B5EF4-FFF2-40B4-BE49-F238E27FC236}">
                <a16:creationId xmlns:a16="http://schemas.microsoft.com/office/drawing/2014/main" id="{8EA5CEF1-4405-469F-B975-A9FCFAA3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238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pro-project-panel">
            <a:extLst xmlns:a="http://schemas.openxmlformats.org/drawingml/2006/main">
              <a:ext uri="{FF2B5EF4-FFF2-40B4-BE49-F238E27FC236}">
                <a16:creationId xmlns:a16="http://schemas.microsoft.com/office/drawing/2014/main" id="{7FF8412E-9C25-4DB1-90C3-F577A66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600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pro-paper-title">
            <a:extLst xmlns:a="http://schemas.openxmlformats.org/drawingml/2006/main">
              <a:ext uri="{FF2B5EF4-FFF2-40B4-BE49-F238E27FC236}">
                <a16:creationId xmlns:a16="http://schemas.microsoft.com/office/drawing/2014/main" id="{B56A16E8-FE33-4915-A539-A8C36E2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论文中直接对照</a:t>
            </a:r>
          </a:p>
        </p:txBody>
      </p:sp>
      <p:sp>
        <p:nvSpPr>
          <p:cNvPr id="50" name="repro-paper-body">
            <a:extLst xmlns:a="http://schemas.openxmlformats.org/drawingml/2006/main">
              <a:ext uri="{FF2B5EF4-FFF2-40B4-BE49-F238E27FC236}">
                <a16:creationId xmlns:a16="http://schemas.microsoft.com/office/drawing/2014/main" id="{6FAEA418-4448-44D2-B95D-D035357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预测式与 H / B 分支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弱监督设定与基函数表示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Section IV 的三组实验协议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BCD–ADMM 求解骨架</a:t>
            </a:r>
          </a:p>
        </p:txBody>
      </p:sp>
      <p:sp>
        <p:nvSpPr>
          <p:cNvPr id="51" name="repro-project-title">
            <a:extLst xmlns:a="http://schemas.openxmlformats.org/drawingml/2006/main">
              <a:ext uri="{FF2B5EF4-FFF2-40B4-BE49-F238E27FC236}">
                <a16:creationId xmlns:a16="http://schemas.microsoft.com/office/drawing/2014/main" id="{F2975C6A-5F34-4F50-82FA-3B368103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项目需要补齐</a:t>
            </a:r>
          </a:p>
        </p:txBody>
      </p:sp>
      <p:sp>
        <p:nvSpPr>
          <p:cNvPr id="52" name="repro-project-body">
            <a:extLst xmlns:a="http://schemas.openxmlformats.org/drawingml/2006/main">
              <a:ext uri="{FF2B5EF4-FFF2-40B4-BE49-F238E27FC236}">
                <a16:creationId xmlns:a16="http://schemas.microsoft.com/office/drawing/2014/main" id="{1175ECAD-6D84-427A-BF5A-81FEC11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协方差与噪声尺度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基函数列空间与近奇异处理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seed、重复次数、统计检验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当前结论：结构复现，不宣称论文全部数字严格一致</a:t>
            </a:r>
          </a:p>
        </p:txBody>
      </p:sp>
      <p:sp>
        <p:nvSpPr>
          <p:cNvPr id="53" name="repro-boundary-note">
            <a:extLst xmlns:a="http://schemas.openxmlformats.org/drawingml/2006/main">
              <a:ext uri="{FF2B5EF4-FFF2-40B4-BE49-F238E27FC236}">
                <a16:creationId xmlns:a16="http://schemas.microsoft.com/office/drawing/2014/main" id="{5A633E35-0B35-4390-96D4-6A24555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目的：把“复现结构”与“数值完全一致”区分开。</a:t>
            </a:r>
          </a:p>
        </p:txBody>
      </p:sp>
    </p:spTree>
    <p:extLst>
      <p:ext uri="{BB962C8B-B14F-4D97-AF65-F5344CB8AC3E}">
        <p14:creationId xmlns:p14="http://schemas.microsoft.com/office/powerpoint/2010/main" val="90240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FA2C6-CCFF-4BF7-BD68-C837BC2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94F2-8AE8-44AD-93A8-4046F3D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 Section IV：复现实验协议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43F8C-5D9E-4DE0-B864-709B70F8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9688-8F77-4526-9B36-DA2C541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AD0A2-D2C4-4C0E-8FAC-6AE7472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每条协议重新配置数据划分、调参与重复次数，再汇总 RMSE / MSE / MAE。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ABCF2-E7C1-4991-9383-A27D098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090A9-D687-48DE-A270-6892C2D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CE91-91FB-47AE-95A6-586BBE8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DBA5-A24C-44A5-923B-66EEB31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标签量扫描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CBC8-90F6-4DB7-BD68-4E1FBD2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10 / 20 / … / 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7448A-E7C9-4E29-990F-662C5FF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0BE04-31C7-4CCA-8BFE-18CADD2B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7340-63A1-40CD-AC6B-CDD75CC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物理精度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49458-87F5-4620-A186-607C4F0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corr = 0.85 / 0.70 / 0.50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AAC70-AA76-4166-B2CB-15D666C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DA78C-B767-44A1-9A8B-536301B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C72CC-29D8-450A-8230-59DA5CE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标签节省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ACE25-1740-49FF-8B2C-53DE8755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PWL 固定 30 vs 监督曲线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3B6FF-0DCB-453D-A9B5-DD741AD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547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B94F-9FDE-45EF-8B24-1B35258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91150"/>
            <a:ext cx="513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F4923-A4C1-4483-A971-E655A7C0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5133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输出：metrics、predictions、conditions、statistical_tests。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C5CF4-1501-414F-B8F8-D3DB9A8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5340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25426-1608-4B0E-931A-DC56EC8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911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E232B-9ADA-4B9C-BF2C-9D520D73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67400"/>
            <a:ext cx="519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结构复现完成；论文未披露的细节以项目配置显式记录。</a:t>
            </a:r>
          </a:p>
        </p:txBody>
      </p:sp>
    </p:spTree>
    <p:extLst>
      <p:ext uri="{BB962C8B-B14F-4D97-AF65-F5344CB8AC3E}">
        <p14:creationId xmlns:p14="http://schemas.microsoft.com/office/powerpoint/2010/main" val="1396343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C4966-BF66-4379-9640-6A9BBCB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96109-2A66-4EA3-AFA8-4240D34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学术补充：为什么把完整方程写成基函数组合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B843E-A171-4555-9795-5243B27E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035C-73BD-4D55-B942-951A0AF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7" name="basis-explain-lead">
            <a:extLst xmlns:a="http://schemas.openxmlformats.org/drawingml/2006/main">
              <a:ext uri="{FF2B5EF4-FFF2-40B4-BE49-F238E27FC236}">
                <a16:creationId xmlns:a16="http://schemas.microsoft.com/office/drawing/2014/main" id="{F1A55B95-96A7-4BB7-BB90-EB00B4E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26B"/>
                </a:solidFill>
              </a:defRPr>
            </a:pPr>
            <a:r>
              <a:rPr sz="1575">
                <a:solidFill>
                  <a:srgbClr val="5D626B"/>
                </a:solidFill>
              </a:rPr>
              <a:t>完整方程可以直接计算；拆分是为了把每一项变成可学习、可校正的接口。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295a009d24563"/>
          <a:stretch xmlns:a="http://schemas.openxmlformats.org/drawingml/2006/main"/>
        </p:blipFill>
        <p:spPr>
          <a:xfrm xmlns:a="http://schemas.openxmlformats.org/drawingml/2006/main">
            <a:off x="556276" y="2266950"/>
            <a:ext cx="6431248" cy="3619500"/>
          </a:xfrm>
          <a:prstGeom xmlns:a="http://schemas.openxmlformats.org/drawingml/2006/main" prst="rect">
            <a:avLst/>
          </a:prstGeom>
        </p:spPr>
      </p:pic>
      <p:sp>
        <p:nvSpPr>
          <p:cNvPr id="39" name="basis-explain-panel">
            <a:extLst xmlns:a="http://schemas.openxmlformats.org/drawingml/2006/main">
              <a:ext uri="{FF2B5EF4-FFF2-40B4-BE49-F238E27FC236}">
                <a16:creationId xmlns:a16="http://schemas.microsoft.com/office/drawing/2014/main" id="{29E1EBEC-597C-45D0-9B65-477DB1A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4267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sis-direct-title">
            <a:extLst xmlns:a="http://schemas.openxmlformats.org/drawingml/2006/main">
              <a:ext uri="{FF2B5EF4-FFF2-40B4-BE49-F238E27FC236}">
                <a16:creationId xmlns:a16="http://schemas.microsoft.com/office/drawing/2014/main" id="{2095A19B-E78B-4826-9FD3-BA1EA03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完整公式</a:t>
            </a:r>
          </a:p>
        </p:txBody>
      </p:sp>
      <p:sp>
        <p:nvSpPr>
          <p:cNvPr id="41" name="basis-direct-body">
            <a:extLst xmlns:a="http://schemas.openxmlformats.org/drawingml/2006/main">
              <a:ext uri="{FF2B5EF4-FFF2-40B4-BE49-F238E27FC236}">
                <a16:creationId xmlns:a16="http://schemas.microsoft.com/office/drawing/2014/main" id="{58C3011F-D089-4BBE-B775-B55C2DB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可作为 PhysicsDirect baseline。</a:t>
            </a:r>
          </a:p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结构固定，计算简单。</a:t>
            </a:r>
          </a:p>
        </p:txBody>
      </p:sp>
      <p:sp>
        <p:nvSpPr>
          <p:cNvPr id="42" name="basis-split-title">
            <a:extLst xmlns:a="http://schemas.openxmlformats.org/drawingml/2006/main">
              <a:ext uri="{FF2B5EF4-FFF2-40B4-BE49-F238E27FC236}">
                <a16:creationId xmlns:a16="http://schemas.microsoft.com/office/drawing/2014/main" id="{5A0D45E0-D0CA-4410-9DB7-599BD45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基函数组合</a:t>
            </a:r>
          </a:p>
        </p:txBody>
      </p:sp>
      <p:sp>
        <p:nvSpPr>
          <p:cNvPr id="43" name="basis-split-body">
            <a:extLst xmlns:a="http://schemas.openxmlformats.org/drawingml/2006/main">
              <a:ext uri="{FF2B5EF4-FFF2-40B4-BE49-F238E27FC236}">
                <a16:creationId xmlns:a16="http://schemas.microsoft.com/office/drawing/2014/main" id="{9DFB7E3C-14D0-43D6-A6BB-E73D49F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14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每个模式可单独加权、筛选、正则化。</a:t>
            </a:r>
          </a:p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H：物理项；B：差异项。</a:t>
            </a:r>
          </a:p>
        </p:txBody>
      </p:sp>
      <p:sp>
        <p:nvSpPr>
          <p:cNvPr id="44" name="basis-bottom-callout">
            <a:extLst xmlns:a="http://schemas.openxmlformats.org/drawingml/2006/main">
              <a:ext uri="{FF2B5EF4-FFF2-40B4-BE49-F238E27FC236}">
                <a16:creationId xmlns:a16="http://schemas.microsoft.com/office/drawing/2014/main" id="{7D438F83-34CF-48E0-97DC-9858911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不改变物理规律，而是改变可调接口</a:t>
            </a:r>
          </a:p>
        </p:txBody>
      </p:sp>
    </p:spTree>
    <p:extLst>
      <p:ext uri="{BB962C8B-B14F-4D97-AF65-F5344CB8AC3E}">
        <p14:creationId xmlns:p14="http://schemas.microsoft.com/office/powerpoint/2010/main" val="777842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15DFF-3D37-4AA2-B884-59882EB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C9C33-DE2C-469C-8E75-4724B708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迁移到 COMSOL：重写物理输入，不重写求解器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FF67-FD4E-45DF-9F82-A864868D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F79C-0056-4364-9DD2-70BEA00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B0C2-C60F-48B3-A003-6024DCE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低保真热传导量进入 H / B 特征；θ 只作为校准参数解释。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04601-CAD3-4FCB-9ACA-ABCF202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59150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A348-8AE4-418F-9FA3-132D88AA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28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COMSOL 输入与差异特征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00D9-3914-4AF9-AFA3-0B3EBDA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813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x_ph = (q, h, T∞, P)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 特征：q_int × P⁻⁰·⁷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q_int / (1 + hL/k) × P⁻⁰·⁷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9A951-6818-4511-9816-AD6DE63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95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θ 在该场景中是 nuisance / calibration parameter，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不等同于可恢复的真实材料热导率。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c52b377bc4ab2"/>
          <a:stretch xmlns:a="http://schemas.openxmlformats.org/drawingml/2006/main"/>
        </p:blipFill>
        <p:spPr>
          <a:xfrm xmlns:a="http://schemas.openxmlformats.org/drawingml/2006/main">
            <a:off x="542095" y="2400300"/>
            <a:ext cx="4840360" cy="2724150"/>
          </a:xfrm>
          <a:prstGeom xmlns:a="http://schemas.openxmlformats.org/drawingml/2006/main" prst="rect">
            <a:avLst/>
          </a:prstGeom>
        </p:spPr>
      </p:pic>
      <p:sp>
        <p:nvSpPr>
          <p:cNvPr id="30" name="migration-config-note">
            <a:extLst xmlns:a="http://schemas.openxmlformats.org/drawingml/2006/main">
              <a:ext uri="{FF2B5EF4-FFF2-40B4-BE49-F238E27FC236}">
                <a16:creationId xmlns:a16="http://schemas.microsoft.com/office/drawing/2014/main" id="{8C1D5F17-0D00-468E-95BC-13AABCA3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38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迁移配置：heat_v3_qint_min.yaml</a:t>
            </a:r>
          </a:p>
        </p:txBody>
      </p:sp>
    </p:spTree>
    <p:extLst>
      <p:ext uri="{BB962C8B-B14F-4D97-AF65-F5344CB8AC3E}">
        <p14:creationId xmlns:p14="http://schemas.microsoft.com/office/powerpoint/2010/main" val="1266165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EC104-E69A-45B5-BD32-14B6BC9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F6CC7-B67A-4995-B0D6-A212906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迁移趋势图：标签量增加时，PWL 保持较低 RMSE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23CA-B351-4F38-93F7-692C85B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70C5-BB88-4E32-8914-61CA0EB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9022848434051"/>
          <a:stretch xmlns:a="http://schemas.openxmlformats.org/drawingml/2006/main"/>
        </p:blipFill>
        <p:spPr>
          <a:xfrm xmlns:a="http://schemas.openxmlformats.org/drawingml/2006/main">
            <a:off x="658957" y="1714500"/>
            <a:ext cx="6702136" cy="4095750"/>
          </a:xfrm>
          <a:prstGeom xmlns:a="http://schemas.openxmlformats.org/drawingml/2006/main" prst="rect">
            <a:avLst/>
          </a:prstGeom>
        </p:spPr>
      </p:pic>
      <p:sp>
        <p:nvSpPr>
          <p:cNvPr id="15" name="migration-result-metric">
            <a:extLst xmlns:a="http://schemas.openxmlformats.org/drawingml/2006/main">
              <a:ext uri="{FF2B5EF4-FFF2-40B4-BE49-F238E27FC236}">
                <a16:creationId xmlns:a16="http://schemas.microsoft.com/office/drawing/2014/main" id="{0408306E-30A7-4D8F-9131-7EC1DC4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读图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红色曲线为 PWL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12 个标签档整体下降</a:t>
            </a:r>
          </a:p>
        </p:txBody>
      </p:sp>
      <p:sp>
        <p:nvSpPr>
          <p:cNvPr id="16" name="migration-result-count">
            <a:extLst xmlns:a="http://schemas.openxmlformats.org/drawingml/2006/main">
              <a:ext uri="{FF2B5EF4-FFF2-40B4-BE49-F238E27FC236}">
                <a16:creationId xmlns:a16="http://schemas.microsoft.com/office/drawing/2014/main" id="{CAA8C9A6-D8C5-4BF3-A221-F4F5D18D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趋势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12 个标签档的均值比较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20 批闭环结果见后续专页</a:t>
            </a:r>
          </a:p>
        </p:txBody>
      </p:sp>
      <p:sp>
        <p:nvSpPr>
          <p:cNvPr id="17" name="migration-result-stats">
            <a:extLst xmlns:a="http://schemas.openxmlformats.org/drawingml/2006/main">
              <a:ext uri="{FF2B5EF4-FFF2-40B4-BE49-F238E27FC236}">
                <a16:creationId xmlns:a16="http://schemas.microsoft.com/office/drawing/2014/main" id="{1BC3392B-F801-4364-AA86-4B4F0B4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D626B"/>
                </a:solidFill>
              </a:defRPr>
            </a:pPr>
            <a:r>
              <a:rPr sz="1275">
                <a:solidFill>
                  <a:srgbClr val="5D626B"/>
                </a:solidFill>
              </a:rPr>
              <a:t>这里只保留趋势判断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26B"/>
                </a:solidFill>
              </a:defRPr>
            </a:pPr>
            <a:r>
              <a:rPr sz="1275">
                <a:solidFill>
                  <a:srgbClr val="5D626B"/>
                </a:solidFill>
              </a:rPr>
              <a:t/>
            </a:r>
          </a:p>
          <a:p xmlns:a="http://schemas.openxmlformats.org/drawingml/2006/main">
            <a:r>
              <a:t>精确统计与批间分布见后续 20 批专页。</a:t>
            </a:r>
          </a:p>
        </p:txBody>
      </p:sp>
    </p:spTree>
    <p:extLst>
      <p:ext uri="{BB962C8B-B14F-4D97-AF65-F5344CB8AC3E}">
        <p14:creationId xmlns:p14="http://schemas.microsoft.com/office/powerpoint/2010/main" val="578069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DB7D2-103F-4A0E-B417-EE700B9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CEE7-1FF5-4FEF-A911-D186F04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 批基线的分布与机制消融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3ED58-747E-419A-AE0B-FF53F21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5B62-72D4-47FF-A6E6-45F7C07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cda33f4584f82"/>
          <a:stretch xmlns:a="http://schemas.openxmlformats.org/drawingml/2006/main"/>
        </p:blipFill>
        <p:spPr>
          <a:xfrm xmlns:a="http://schemas.openxmlformats.org/drawingml/2006/main">
            <a:off x="1118507" y="1714500"/>
            <a:ext cx="5783036" cy="4048125"/>
          </a:xfrm>
          <a:prstGeom xmlns:a="http://schemas.openxmlformats.org/drawingml/2006/main" prst="rect">
            <a:avLst/>
          </a:prstGeom>
        </p:spPr>
      </p:pic>
      <p:sp>
        <p:nvSpPr>
          <p:cNvPr id="38" name="ablation-title">
            <a:extLst xmlns:a="http://schemas.openxmlformats.org/drawingml/2006/main">
              <a:ext uri="{FF2B5EF4-FFF2-40B4-BE49-F238E27FC236}">
                <a16:creationId xmlns:a16="http://schemas.microsoft.com/office/drawing/2014/main" id="{D540D65A-1C1A-4D73-AE5D-CE14963A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机制消融（报告中的 RMSE）</a:t>
            </a:r>
          </a:p>
        </p:txBody>
      </p:sp>
      <p:sp>
        <p:nvSpPr>
          <p:cNvPr id="39" name="ablation-body">
            <a:extLst xmlns:a="http://schemas.openxmlformats.org/drawingml/2006/main">
              <a:ext uri="{FF2B5EF4-FFF2-40B4-BE49-F238E27FC236}">
                <a16:creationId xmlns:a16="http://schemas.microsoft.com/office/drawing/2014/main" id="{B124EFED-9DC1-4F8B-BAC7-FD7122A4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去掉弱标签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@10：8.055 → 10.355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去掉差异项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@120：5.366 → 8.047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去掉 q_int</a:t>
            </a:r>
          </a:p>
          <a:p xmlns:a="http://schemas.openxmlformats.org/drawingml/2006/main">
            <a:pPr algn="l">
              <a:buNone/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@120：5.366 → 5.548</a:t>
            </a:r>
          </a:p>
        </p:txBody>
      </p:sp>
      <p:sp>
        <p:nvSpPr>
          <p:cNvPr id="40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B3D8D356-8FD0-43AC-A36B-685AE3F8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</a:defRPr>
            </a:pPr>
            <a:r>
              <a:rPr sz="1275" b="1">
                <a:solidFill>
                  <a:srgbClr val="5D626B"/>
                </a:solidFill>
              </a:rPr>
              <a:t>解释：弱标签主要帮助小样本；差异项承担大样本结构偏差；q_int 提供机理信息。</a:t>
            </a:r>
          </a:p>
        </p:txBody>
      </p:sp>
    </p:spTree>
    <p:extLst>
      <p:ext uri="{BB962C8B-B14F-4D97-AF65-F5344CB8AC3E}">
        <p14:creationId xmlns:p14="http://schemas.microsoft.com/office/powerpoint/2010/main" val="352867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340CA-08AA-40BB-8577-015160AD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3F70-BB91-44E9-9429-D0243DD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48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CD208-4ADD-461B-B9CF-66B10AF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05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当前汇报的结论，只基于论文复现协议与 COMSOL 迁移数据。</a:t>
            </a:r>
          </a:p>
        </p:txBody>
      </p:sp>
      <p:sp>
        <p:nvSpPr>
          <p:cNvPr id="15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71465CF3-752A-4333-A758-7F4D906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可以支持的结论</a:t>
            </a:r>
          </a:p>
        </p:txBody>
      </p:sp>
      <p:sp>
        <p:nvSpPr>
          <p:cNvPr id="16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6CC88ABD-C1AE-425C-8406-358490B4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1. 论文侧：复现了模型结构与实验协议，数字不表述为完全重合。</a:t>
            </a:r>
          </a:p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2. 迁移侧：20 批 × 12 标签量，PWL 平均 RMSE 更低。</a:t>
            </a:r>
          </a:p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3. 机制侧：弱标签帮助小样本，差异项帮助大样本。</a:t>
            </a:r>
          </a:p>
        </p:txBody>
      </p:sp>
      <p:sp>
        <p:nvSpPr>
          <p:cNvPr id="17" name="limitation-title">
            <a:extLst xmlns:a="http://schemas.openxmlformats.org/drawingml/2006/main">
              <a:ext uri="{FF2B5EF4-FFF2-40B4-BE49-F238E27FC236}">
                <a16:creationId xmlns:a16="http://schemas.microsoft.com/office/drawing/2014/main" id="{8CBF44B0-AA16-4BF0-B3F1-583C026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需要继续讨论</a:t>
            </a:r>
          </a:p>
        </p:txBody>
      </p:sp>
      <p:sp>
        <p:nvSpPr>
          <p:cNvPr id="18" name="limitation-body">
            <a:extLst xmlns:a="http://schemas.openxmlformats.org/drawingml/2006/main">
              <a:ext uri="{FF2B5EF4-FFF2-40B4-BE49-F238E27FC236}">
                <a16:creationId xmlns:a16="http://schemas.microsoft.com/office/drawing/2014/main" id="{556E0A65-B151-44A6-87EB-7666DAD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H / B 基函数仍依赖场景设计</a:t>
            </a:r>
          </a:p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θ 的可识别性与真实物理参数并不等价</a:t>
            </a:r>
          </a:p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迁移结论依赖低保真特征与当前测试协议</a:t>
            </a:r>
          </a:p>
          <a:p xmlns:a="http://schemas.openxmlformats.org/drawingml/2006/main">
            <a:pPr algn="l">
              <a:buNone/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外推能力和真实实验数据仍需单独验证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1853614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eyebrow-13">
            <a:extLst xmlns:a="http://schemas.openxmlformats.org/drawingml/2006/main">
              <a:ext uri="{FF2B5EF4-FFF2-40B4-BE49-F238E27FC236}">
                <a16:creationId xmlns:a16="http://schemas.microsoft.com/office/drawing/2014/main" id="{D26C9CC2-A9FB-4257-A609-2003B65B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A / PROJECT MAP</a:t>
            </a:r>
          </a:p>
        </p:txBody>
      </p:sp>
      <p:sp>
        <p:nvSpPr>
          <p:cNvPr id="2" name="full-title-13">
            <a:extLst xmlns:a="http://schemas.openxmlformats.org/drawingml/2006/main">
              <a:ext uri="{FF2B5EF4-FFF2-40B4-BE49-F238E27FC236}">
                <a16:creationId xmlns:a16="http://schemas.microsoft.com/office/drawing/2014/main" id="{D9F33754-DE4D-43C9-BA8B-E5424D58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完整实现不是一张公式，而是一条可审计链路</a:t>
            </a:r>
          </a:p>
        </p:txBody>
      </p:sp>
      <p:sp>
        <p:nvSpPr>
          <p:cNvPr id="3" name="full-subtitle-13">
            <a:extLst xmlns:a="http://schemas.openxmlformats.org/drawingml/2006/main">
              <a:ext uri="{FF2B5EF4-FFF2-40B4-BE49-F238E27FC236}">
                <a16:creationId xmlns:a16="http://schemas.microsoft.com/office/drawing/2014/main" id="{640D794A-2F17-4DDA-9B44-37FBAC4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从场景输入、基函数库、求解器到统计报告，每一层都需要单独验证。</a:t>
            </a:r>
          </a:p>
        </p:txBody>
      </p:sp>
      <p:sp>
        <p:nvSpPr>
          <p:cNvPr id="4" name="full-page-13">
            <a:extLst xmlns:a="http://schemas.openxmlformats.org/drawingml/2006/main">
              <a:ext uri="{FF2B5EF4-FFF2-40B4-BE49-F238E27FC236}">
                <a16:creationId xmlns:a16="http://schemas.microsoft.com/office/drawing/2014/main" id="{C67F19BC-76C5-43EF-9D1B-5D6795D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4B7EF9A5-ACC9-463E-8CAE-4CD5D8C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01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物理输入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COMSOL / 低保真量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+过程变量</a:t>
            </a:r>
          </a:p>
        </p:txBody>
      </p:sp>
      <p:sp>
        <p:nvSpPr>
          <p:cNvPr id="6" name="flow-02">
            <a:extLst xmlns:a="http://schemas.openxmlformats.org/drawingml/2006/main">
              <a:ext uri="{FF2B5EF4-FFF2-40B4-BE49-F238E27FC236}">
                <a16:creationId xmlns:a16="http://schemas.microsoft.com/office/drawing/2014/main" id="{5AA6A8E5-B362-4C0F-9A77-2F5D3F8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02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特征注册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H / B 基函数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标准化与分组</a:t>
            </a:r>
          </a:p>
        </p:txBody>
      </p:sp>
      <p:sp>
        <p:nvSpPr>
          <p:cNvPr id="7" name="flow-03">
            <a:extLst xmlns:a="http://schemas.openxmlformats.org/drawingml/2006/main">
              <a:ext uri="{FF2B5EF4-FFF2-40B4-BE49-F238E27FC236}">
                <a16:creationId xmlns:a16="http://schemas.microsoft.com/office/drawing/2014/main" id="{14D6689A-F5EC-4FC6-AA5D-3D76C24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03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联合训练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监督 + 弱监督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BCD–ADMM</a:t>
            </a:r>
          </a:p>
        </p:txBody>
      </p:sp>
      <p:sp>
        <p:nvSpPr>
          <p:cNvPr id="8" name="flow-04">
            <a:extLst xmlns:a="http://schemas.openxmlformats.org/drawingml/2006/main">
              <a:ext uri="{FF2B5EF4-FFF2-40B4-BE49-F238E27FC236}">
                <a16:creationId xmlns:a16="http://schemas.microsoft.com/office/drawing/2014/main" id="{72211F2E-E92B-4B3F-BFE8-FE03F07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33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04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实验协议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重复 / 共享测试集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配对统计</a:t>
            </a:r>
          </a:p>
        </p:txBody>
      </p:sp>
      <p:sp>
        <p:nvSpPr>
          <p:cNvPr id="9" name="map-note">
            <a:extLst xmlns:a="http://schemas.openxmlformats.org/drawingml/2006/main">
              <a:ext uri="{FF2B5EF4-FFF2-40B4-BE49-F238E27FC236}">
                <a16:creationId xmlns:a16="http://schemas.microsoft.com/office/drawing/2014/main" id="{81E8851B-7626-41A6-9C4D-949E14C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这张图是汇报路线图：后面每个模块都要回答“输入是什么、怎样计算、怎样验证”。</a:t>
            </a:r>
          </a:p>
        </p:txBody>
      </p:sp>
    </p:spTree>
    <p:extLst>
      <p:ext uri="{BB962C8B-B14F-4D97-AF65-F5344CB8AC3E}">
        <p14:creationId xmlns:p14="http://schemas.microsoft.com/office/powerpoint/2010/main" val="1560158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full-eyebrow-14">
            <a:extLst xmlns:a="http://schemas.openxmlformats.org/drawingml/2006/main">
              <a:ext uri="{FF2B5EF4-FFF2-40B4-BE49-F238E27FC236}">
                <a16:creationId xmlns:a16="http://schemas.microsoft.com/office/drawing/2014/main" id="{5AA70269-5E24-4786-A1D6-54DF6904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A / PROJECT MAP</a:t>
            </a:r>
          </a:p>
        </p:txBody>
      </p:sp>
      <p:sp>
        <p:nvSpPr>
          <p:cNvPr id="2" name="full-title-14">
            <a:extLst xmlns:a="http://schemas.openxmlformats.org/drawingml/2006/main">
              <a:ext uri="{FF2B5EF4-FFF2-40B4-BE49-F238E27FC236}">
                <a16:creationId xmlns:a16="http://schemas.microsoft.com/office/drawing/2014/main" id="{BB915D3E-E681-41DE-86CC-C3D14268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项目代码按“内核—场景—实验—报告”分层</a:t>
            </a:r>
          </a:p>
        </p:txBody>
      </p:sp>
      <p:sp>
        <p:nvSpPr>
          <p:cNvPr id="3" name="full-subtitle-14">
            <a:extLst xmlns:a="http://schemas.openxmlformats.org/drawingml/2006/main">
              <a:ext uri="{FF2B5EF4-FFF2-40B4-BE49-F238E27FC236}">
                <a16:creationId xmlns:a16="http://schemas.microsoft.com/office/drawing/2014/main" id="{E5062CC4-E7B1-4611-9420-47E7986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分层的目的不是软件工程展示，而是让复现结果知道自己依赖了哪一层。</a:t>
            </a:r>
          </a:p>
        </p:txBody>
      </p:sp>
      <p:sp>
        <p:nvSpPr>
          <p:cNvPr id="4" name="full-page-14">
            <a:extLst xmlns:a="http://schemas.openxmlformats.org/drawingml/2006/main">
              <a:ext uri="{FF2B5EF4-FFF2-40B4-BE49-F238E27FC236}">
                <a16:creationId xmlns:a16="http://schemas.microsoft.com/office/drawing/2014/main" id="{7BF11917-20A6-48F1-A359-3B993AA6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14</a:t>
            </a:r>
          </a:p>
        </p:txBody>
      </p:sp>
      <p:sp>
        <p:nvSpPr>
          <p:cNvPr id="5" name="architecture-0-0">
            <a:extLst xmlns:a="http://schemas.openxmlformats.org/drawingml/2006/main">
              <a:ext uri="{FF2B5EF4-FFF2-40B4-BE49-F238E27FC236}">
                <a16:creationId xmlns:a16="http://schemas.microsoft.com/office/drawing/2014/main" id="{25371644-DE49-41A8-81C7-7A69C81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层次</a:t>
            </a:r>
          </a:p>
        </p:txBody>
      </p:sp>
      <p:sp>
        <p:nvSpPr>
          <p:cNvPr id="6" name="architecture-0-1">
            <a:extLst xmlns:a="http://schemas.openxmlformats.org/drawingml/2006/main">
              <a:ext uri="{FF2B5EF4-FFF2-40B4-BE49-F238E27FC236}">
                <a16:creationId xmlns:a16="http://schemas.microsoft.com/office/drawing/2014/main" id="{64DD68E9-729A-4C6E-A803-2797DFE6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002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主要内容</a:t>
            </a:r>
          </a:p>
        </p:txBody>
      </p:sp>
      <p:sp>
        <p:nvSpPr>
          <p:cNvPr id="7" name="architecture-0-2">
            <a:extLst xmlns:a="http://schemas.openxmlformats.org/drawingml/2006/main">
              <a:ext uri="{FF2B5EF4-FFF2-40B4-BE49-F238E27FC236}">
                <a16:creationId xmlns:a16="http://schemas.microsoft.com/office/drawing/2014/main" id="{CA071C1F-EA69-4166-87BC-DA85C69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本项目中的位置</a:t>
            </a:r>
          </a:p>
        </p:txBody>
      </p:sp>
      <p:sp>
        <p:nvSpPr>
          <p:cNvPr id="8" name="architecture-1-0">
            <a:extLst xmlns:a="http://schemas.openxmlformats.org/drawingml/2006/main">
              <a:ext uri="{FF2B5EF4-FFF2-40B4-BE49-F238E27FC236}">
                <a16:creationId xmlns:a16="http://schemas.microsoft.com/office/drawing/2014/main" id="{D2D8ED66-CF16-4B0A-BF67-A02CD7A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算法内核</a:t>
            </a:r>
          </a:p>
        </p:txBody>
      </p:sp>
      <p:sp>
        <p:nvSpPr>
          <p:cNvPr id="9" name="architecture-1-1">
            <a:extLst xmlns:a="http://schemas.openxmlformats.org/drawingml/2006/main">
              <a:ext uri="{FF2B5EF4-FFF2-40B4-BE49-F238E27FC236}">
                <a16:creationId xmlns:a16="http://schemas.microsoft.com/office/drawing/2014/main" id="{4ECC0546-008A-4D08-997F-9A79886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PWLRegressor、目标函数、BCD–ADMM</a:t>
            </a:r>
          </a:p>
        </p:txBody>
      </p:sp>
      <p:sp>
        <p:nvSpPr>
          <p:cNvPr id="10" name="architecture-1-2">
            <a:extLst xmlns:a="http://schemas.openxmlformats.org/drawingml/2006/main">
              <a:ext uri="{FF2B5EF4-FFF2-40B4-BE49-F238E27FC236}">
                <a16:creationId xmlns:a16="http://schemas.microsoft.com/office/drawing/2014/main" id="{AB0DDA81-41F5-48D4-BD61-4EC6AFE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reproduction/src/pwl_repro/core/</a:t>
            </a:r>
          </a:p>
        </p:txBody>
      </p:sp>
      <p:sp>
        <p:nvSpPr>
          <p:cNvPr id="11" name="architecture-2-0">
            <a:extLst xmlns:a="http://schemas.openxmlformats.org/drawingml/2006/main">
              <a:ext uri="{FF2B5EF4-FFF2-40B4-BE49-F238E27FC236}">
                <a16:creationId xmlns:a16="http://schemas.microsoft.com/office/drawing/2014/main" id="{1E4BF0BF-3016-4133-8761-364FBC6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特征层</a:t>
            </a:r>
          </a:p>
        </p:txBody>
      </p:sp>
      <p:sp>
        <p:nvSpPr>
          <p:cNvPr id="12" name="architecture-2-1">
            <a:extLst xmlns:a="http://schemas.openxmlformats.org/drawingml/2006/main">
              <a:ext uri="{FF2B5EF4-FFF2-40B4-BE49-F238E27FC236}">
                <a16:creationId xmlns:a16="http://schemas.microsoft.com/office/drawing/2014/main" id="{CAC1EE49-79B1-4C05-8562-C03E2B21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908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FeatureSpec、H/B、标准化、分组</a:t>
            </a:r>
          </a:p>
        </p:txBody>
      </p:sp>
      <p:sp>
        <p:nvSpPr>
          <p:cNvPr id="13" name="architecture-2-2">
            <a:extLst xmlns:a="http://schemas.openxmlformats.org/drawingml/2006/main">
              <a:ext uri="{FF2B5EF4-FFF2-40B4-BE49-F238E27FC236}">
                <a16:creationId xmlns:a16="http://schemas.microsoft.com/office/drawing/2014/main" id="{31BA24FB-8BE5-4EF0-B741-1DB19793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reproduction/src/pwl_repro/core/features.py</a:t>
            </a:r>
          </a:p>
        </p:txBody>
      </p:sp>
      <p:sp>
        <p:nvSpPr>
          <p:cNvPr id="14" name="architecture-3-0">
            <a:extLst xmlns:a="http://schemas.openxmlformats.org/drawingml/2006/main">
              <a:ext uri="{FF2B5EF4-FFF2-40B4-BE49-F238E27FC236}">
                <a16:creationId xmlns:a16="http://schemas.microsoft.com/office/drawing/2014/main" id="{9FBD3530-0549-4E62-8D30-4529A191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场景层</a:t>
            </a:r>
          </a:p>
        </p:txBody>
      </p:sp>
      <p:sp>
        <p:nvSpPr>
          <p:cNvPr id="15" name="architecture-3-1">
            <a:extLst xmlns:a="http://schemas.openxmlformats.org/drawingml/2006/main">
              <a:ext uri="{FF2B5EF4-FFF2-40B4-BE49-F238E27FC236}">
                <a16:creationId xmlns:a16="http://schemas.microsoft.com/office/drawing/2014/main" id="{8E2FAF34-8FD6-44C1-9B5C-D279FB97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861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论文仿真与热传导输入映射</a:t>
            </a:r>
          </a:p>
        </p:txBody>
      </p:sp>
      <p:sp>
        <p:nvSpPr>
          <p:cNvPr id="16" name="architecture-3-2">
            <a:extLst xmlns:a="http://schemas.openxmlformats.org/drawingml/2006/main">
              <a:ext uri="{FF2B5EF4-FFF2-40B4-BE49-F238E27FC236}">
                <a16:creationId xmlns:a16="http://schemas.microsoft.com/office/drawing/2014/main" id="{9ABA8155-B1AA-4C72-BEDC-4C2C824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reproduction/scenarios/；migration/src/</a:t>
            </a:r>
          </a:p>
        </p:txBody>
      </p:sp>
      <p:sp>
        <p:nvSpPr>
          <p:cNvPr id="17" name="architecture-4-0">
            <a:extLst xmlns:a="http://schemas.openxmlformats.org/drawingml/2006/main">
              <a:ext uri="{FF2B5EF4-FFF2-40B4-BE49-F238E27FC236}">
                <a16:creationId xmlns:a16="http://schemas.microsoft.com/office/drawing/2014/main" id="{BD2C53E9-7611-4059-83E4-6A59FA5E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实验层</a:t>
            </a:r>
          </a:p>
        </p:txBody>
      </p:sp>
      <p:sp>
        <p:nvSpPr>
          <p:cNvPr id="18" name="architecture-4-1">
            <a:extLst xmlns:a="http://schemas.openxmlformats.org/drawingml/2006/main">
              <a:ext uri="{FF2B5EF4-FFF2-40B4-BE49-F238E27FC236}">
                <a16:creationId xmlns:a16="http://schemas.microsoft.com/office/drawing/2014/main" id="{F88157F5-FC93-41C6-B569-F89E98F8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814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协议、重复、统计、质量检查</a:t>
            </a:r>
          </a:p>
        </p:txBody>
      </p:sp>
      <p:sp>
        <p:nvSpPr>
          <p:cNvPr id="19" name="architecture-4-2">
            <a:extLst xmlns:a="http://schemas.openxmlformats.org/drawingml/2006/main">
              <a:ext uri="{FF2B5EF4-FFF2-40B4-BE49-F238E27FC236}">
                <a16:creationId xmlns:a16="http://schemas.microsoft.com/office/drawing/2014/main" id="{AE046168-FBAC-42FA-B3BB-A252A00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reproduction/experiments/；migration/</a:t>
            </a:r>
          </a:p>
        </p:txBody>
      </p:sp>
      <p:sp>
        <p:nvSpPr>
          <p:cNvPr id="20" name="architecture-5-0">
            <a:extLst xmlns:a="http://schemas.openxmlformats.org/drawingml/2006/main">
              <a:ext uri="{FF2B5EF4-FFF2-40B4-BE49-F238E27FC236}">
                <a16:creationId xmlns:a16="http://schemas.microsoft.com/office/drawing/2014/main" id="{46B1C651-BD62-48C7-8C8A-77EF2F9B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报告层</a:t>
            </a:r>
          </a:p>
        </p:txBody>
      </p:sp>
      <p:sp>
        <p:nvSpPr>
          <p:cNvPr id="21" name="architecture-5-1">
            <a:extLst xmlns:a="http://schemas.openxmlformats.org/drawingml/2006/main">
              <a:ext uri="{FF2B5EF4-FFF2-40B4-BE49-F238E27FC236}">
                <a16:creationId xmlns:a16="http://schemas.microsoft.com/office/drawing/2014/main" id="{3F2C5FAB-4790-4224-B089-DC2C65F1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CSV、图像、审计报告、基线卡</a:t>
            </a:r>
          </a:p>
        </p:txBody>
      </p:sp>
      <p:sp>
        <p:nvSpPr>
          <p:cNvPr id="22" name="architecture-5-2">
            <a:extLst xmlns:a="http://schemas.openxmlformats.org/drawingml/2006/main">
              <a:ext uri="{FF2B5EF4-FFF2-40B4-BE49-F238E27FC236}">
                <a16:creationId xmlns:a16="http://schemas.microsoft.com/office/drawing/2014/main" id="{CE08AD80-5151-4DAD-BAED-0A58CC1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47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migration/results/；migration/reports/</a:t>
            </a:r>
          </a:p>
        </p:txBody>
      </p:sp>
      <p:sp>
        <p:nvSpPr>
          <p:cNvPr id="23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2D87BE39-7DAA-4554-AC7A-95D95A65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A43"/>
                </a:solidFill>
              </a:defRPr>
            </a:pPr>
            <a:r>
              <a:rPr sz="1575" b="1">
                <a:solidFill>
                  <a:srgbClr val="B64A43"/>
                </a:solidFill>
              </a:rPr>
              <a:t>阅读代码时要区分：求解器可以复用，但 H/B 和 θ 的具体含义必须随场景重新设计。</a:t>
            </a:r>
          </a:p>
        </p:txBody>
      </p:sp>
    </p:spTree>
    <p:extLst>
      <p:ext uri="{BB962C8B-B14F-4D97-AF65-F5344CB8AC3E}">
        <p14:creationId xmlns:p14="http://schemas.microsoft.com/office/powerpoint/2010/main" val="308588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ull-eyebrow-15">
            <a:extLst xmlns:a="http://schemas.openxmlformats.org/drawingml/2006/main">
              <a:ext uri="{FF2B5EF4-FFF2-40B4-BE49-F238E27FC236}">
                <a16:creationId xmlns:a16="http://schemas.microsoft.com/office/drawing/2014/main" id="{1E5D2D99-8D05-4B7D-A85F-034DF361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BASIS FUNCTIONS</a:t>
            </a:r>
          </a:p>
        </p:txBody>
      </p:sp>
      <p:sp>
        <p:nvSpPr>
          <p:cNvPr id="2" name="full-title-15">
            <a:extLst xmlns:a="http://schemas.openxmlformats.org/drawingml/2006/main">
              <a:ext uri="{FF2B5EF4-FFF2-40B4-BE49-F238E27FC236}">
                <a16:creationId xmlns:a16="http://schemas.microsoft.com/office/drawing/2014/main" id="{85AAB49F-8178-46ED-B1A1-A33F0AD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 与 B 不是两个黑箱，而是两套可检查的基函数矩阵</a:t>
            </a:r>
          </a:p>
        </p:txBody>
      </p:sp>
      <p:sp>
        <p:nvSpPr>
          <p:cNvPr id="3" name="full-subtitle-15">
            <a:extLst xmlns:a="http://schemas.openxmlformats.org/drawingml/2006/main">
              <a:ext uri="{FF2B5EF4-FFF2-40B4-BE49-F238E27FC236}">
                <a16:creationId xmlns:a16="http://schemas.microsoft.com/office/drawing/2014/main" id="{992B3B47-5125-41AB-892A-AD606C1D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同一预测值可以由“物理分支 + 差异补偿”共同组成。</a:t>
            </a:r>
          </a:p>
        </p:txBody>
      </p:sp>
      <p:sp>
        <p:nvSpPr>
          <p:cNvPr id="4" name="full-page-15">
            <a:extLst xmlns:a="http://schemas.openxmlformats.org/drawingml/2006/main">
              <a:ext uri="{FF2B5EF4-FFF2-40B4-BE49-F238E27FC236}">
                <a16:creationId xmlns:a16="http://schemas.microsoft.com/office/drawing/2014/main" id="{CEBA881C-AA9E-4883-8605-D45CA34B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15</a:t>
            </a:r>
          </a:p>
        </p:txBody>
      </p:sp>
      <p:sp>
        <p:nvSpPr>
          <p:cNvPr id="5" name="H-panel">
            <a:extLst xmlns:a="http://schemas.openxmlformats.org/drawingml/2006/main">
              <a:ext uri="{FF2B5EF4-FFF2-40B4-BE49-F238E27FC236}">
                <a16:creationId xmlns:a16="http://schemas.microsoft.com/office/drawing/2014/main" id="{E55DBC51-1989-4C38-981F-29826856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-title">
            <a:extLst xmlns:a="http://schemas.openxmlformats.org/drawingml/2006/main">
              <a:ext uri="{FF2B5EF4-FFF2-40B4-BE49-F238E27FC236}">
                <a16:creationId xmlns:a16="http://schemas.microsoft.com/office/drawing/2014/main" id="{C0D0356F-8786-4713-8F5B-F4A86E7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6FB2"/>
                </a:solidFill>
              </a:defRPr>
            </a:pPr>
            <a:r>
              <a:rPr sz="1875" b="1">
                <a:solidFill>
                  <a:srgbClr val="1F6FB2"/>
                </a:solidFill>
              </a:rPr>
              <a:t>H(x_ph, θ)g — 物理分支</a:t>
            </a:r>
          </a:p>
        </p:txBody>
      </p:sp>
      <p:sp>
        <p:nvSpPr>
          <p:cNvPr id="7" name="H-body">
            <a:extLst xmlns:a="http://schemas.openxmlformats.org/drawingml/2006/main">
              <a:ext uri="{FF2B5EF4-FFF2-40B4-BE49-F238E27FC236}">
                <a16:creationId xmlns:a16="http://schemas.microsoft.com/office/drawing/2014/main" id="{46B48A41-7755-42DD-AB31-8135A054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候选项示例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截距与主物理量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θ 作用下的物理形状/尺度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热流、换热、环境温度的组合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目标：先保留低成本物理模型提供的趋势。</a:t>
            </a:r>
          </a:p>
        </p:txBody>
      </p:sp>
      <p:sp>
        <p:nvSpPr>
          <p:cNvPr id="8" name="B-panel">
            <a:extLst xmlns:a="http://schemas.openxmlformats.org/drawingml/2006/main">
              <a:ext uri="{FF2B5EF4-FFF2-40B4-BE49-F238E27FC236}">
                <a16:creationId xmlns:a16="http://schemas.microsoft.com/office/drawing/2014/main" id="{37488C96-E374-4865-8405-BB557A8F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-title">
            <a:extLst xmlns:a="http://schemas.openxmlformats.org/drawingml/2006/main">
              <a:ext uri="{FF2B5EF4-FFF2-40B4-BE49-F238E27FC236}">
                <a16:creationId xmlns:a16="http://schemas.microsoft.com/office/drawing/2014/main" id="{49ED513A-BB72-4D57-880B-632DE97A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9AAB"/>
                </a:solidFill>
              </a:defRPr>
            </a:pPr>
            <a:r>
              <a:rPr sz="1875" b="1">
                <a:solidFill>
                  <a:srgbClr val="159AAB"/>
                </a:solidFill>
              </a:rPr>
              <a:t>B(x_pr, x_ph)d — 差异分支</a:t>
            </a:r>
          </a:p>
        </p:txBody>
      </p:sp>
      <p:sp>
        <p:nvSpPr>
          <p:cNvPr id="10" name="B-body">
            <a:extLst xmlns:a="http://schemas.openxmlformats.org/drawingml/2006/main">
              <a:ext uri="{FF2B5EF4-FFF2-40B4-BE49-F238E27FC236}">
                <a16:creationId xmlns:a16="http://schemas.microsoft.com/office/drawing/2014/main" id="{895A238B-23A7-4103-A349-E0E2A21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候选项示例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过程变量与物理量的交互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低保真与真实过程的系统差异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场景化机理列与残差方向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目标：给物理模型没有覆盖的部分留出接口。</a:t>
            </a:r>
          </a:p>
        </p:txBody>
      </p:sp>
      <p:sp>
        <p:nvSpPr>
          <p:cNvPr id="11" name="HB-note">
            <a:extLst xmlns:a="http://schemas.openxmlformats.org/drawingml/2006/main">
              <a:ext uri="{FF2B5EF4-FFF2-40B4-BE49-F238E27FC236}">
                <a16:creationId xmlns:a16="http://schemas.microsoft.com/office/drawing/2014/main" id="{CA17F8A9-199B-48D9-AD7F-88BCF990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拆分后可分别做：缩放、分组、正则化、消融和条件数检查。</a:t>
            </a:r>
          </a:p>
        </p:txBody>
      </p:sp>
    </p:spTree>
    <p:extLst>
      <p:ext uri="{BB962C8B-B14F-4D97-AF65-F5344CB8AC3E}">
        <p14:creationId xmlns:p14="http://schemas.microsoft.com/office/powerpoint/2010/main" val="12843829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16">
            <a:extLst xmlns:a="http://schemas.openxmlformats.org/drawingml/2006/main">
              <a:ext uri="{FF2B5EF4-FFF2-40B4-BE49-F238E27FC236}">
                <a16:creationId xmlns:a16="http://schemas.microsoft.com/office/drawing/2014/main" id="{E4202266-82CA-4C07-B358-EB60648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BASIS FUNCTIONS</a:t>
            </a:r>
          </a:p>
        </p:txBody>
      </p:sp>
      <p:sp>
        <p:nvSpPr>
          <p:cNvPr id="2" name="full-title-16">
            <a:extLst xmlns:a="http://schemas.openxmlformats.org/drawingml/2006/main">
              <a:ext uri="{FF2B5EF4-FFF2-40B4-BE49-F238E27FC236}">
                <a16:creationId xmlns:a16="http://schemas.microsoft.com/office/drawing/2014/main" id="{A157D6C4-F364-4FE8-B633-06F83C98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“完整代数方程”当然能用，但它不一定是好的学习接口</a:t>
            </a:r>
          </a:p>
        </p:txBody>
      </p:sp>
      <p:sp>
        <p:nvSpPr>
          <p:cNvPr id="3" name="full-subtitle-16">
            <a:extLst xmlns:a="http://schemas.openxmlformats.org/drawingml/2006/main">
              <a:ext uri="{FF2B5EF4-FFF2-40B4-BE49-F238E27FC236}">
                <a16:creationId xmlns:a16="http://schemas.microsoft.com/office/drawing/2014/main" id="{0360CC6F-DAFD-4BB1-90D1-0C081FC4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PhysicsDirect 作为直接公式对照；PWL 拆分是为了控制可学习自由度。</a:t>
            </a:r>
          </a:p>
        </p:txBody>
      </p:sp>
      <p:sp>
        <p:nvSpPr>
          <p:cNvPr id="4" name="full-page-16">
            <a:extLst xmlns:a="http://schemas.openxmlformats.org/drawingml/2006/main">
              <a:ext uri="{FF2B5EF4-FFF2-40B4-BE49-F238E27FC236}">
                <a16:creationId xmlns:a16="http://schemas.microsoft.com/office/drawing/2014/main" id="{D4CC8B4E-8C23-44FA-93B1-16A6406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16</a:t>
            </a:r>
          </a:p>
        </p:txBody>
      </p:sp>
      <p:sp>
        <p:nvSpPr>
          <p:cNvPr id="5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2DC4DE5F-7ED9-4CB9-9357-E78F7E4B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30003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完整公式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y = f(x)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输入一次、输出一次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适合：公式可信、参数已知、无需逐项校正</a:t>
            </a:r>
          </a:p>
        </p:txBody>
      </p:sp>
      <p:sp>
        <p:nvSpPr>
          <p:cNvPr id="6" name="split-formula">
            <a:extLst xmlns:a="http://schemas.openxmlformats.org/drawingml/2006/main">
              <a:ext uri="{FF2B5EF4-FFF2-40B4-BE49-F238E27FC236}">
                <a16:creationId xmlns:a16="http://schemas.microsoft.com/office/drawing/2014/main" id="{BBAEE0B6-CBD3-4AB7-A8EC-ABDA42E5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003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基函数组合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y = Σ w_j φ_j(x)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每一项都可检查、加权、筛选、正则化</a:t>
            </a:r>
          </a:p>
        </p:txBody>
      </p:sp>
      <p:sp>
        <p:nvSpPr>
          <p:cNvPr id="7" name="pwl-formula">
            <a:extLst xmlns:a="http://schemas.openxmlformats.org/drawingml/2006/main">
              <a:ext uri="{FF2B5EF4-FFF2-40B4-BE49-F238E27FC236}">
                <a16:creationId xmlns:a16="http://schemas.microsoft.com/office/drawing/2014/main" id="{46EB3876-2EB7-4437-B5E1-DE24E1B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30003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PWL 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ŷ = H(x_ph,θ)g + B(x_pr,x_ph)d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保留物理趋势 + 学习差异补偿</a:t>
            </a:r>
          </a:p>
        </p:txBody>
      </p:sp>
      <p:sp>
        <p:nvSpPr>
          <p:cNvPr id="8" name="formula-note">
            <a:extLst xmlns:a="http://schemas.openxmlformats.org/drawingml/2006/main">
              <a:ext uri="{FF2B5EF4-FFF2-40B4-BE49-F238E27FC236}">
                <a16:creationId xmlns:a16="http://schemas.microsoft.com/office/drawing/2014/main" id="{753E3C9A-CCF0-4BF6-856E-CA6821DE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核心不是把公式“拆碎”，而是把“物理规律”和“需要数据校正的部分”放到不同接口中。</a:t>
            </a:r>
          </a:p>
        </p:txBody>
      </p:sp>
    </p:spTree>
    <p:extLst>
      <p:ext uri="{BB962C8B-B14F-4D97-AF65-F5344CB8AC3E}">
        <p14:creationId xmlns:p14="http://schemas.microsoft.com/office/powerpoint/2010/main" val="4321053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full-eyebrow-17">
            <a:extLst xmlns:a="http://schemas.openxmlformats.org/drawingml/2006/main">
              <a:ext uri="{FF2B5EF4-FFF2-40B4-BE49-F238E27FC236}">
                <a16:creationId xmlns:a16="http://schemas.microsoft.com/office/drawing/2014/main" id="{29D6BDC7-456F-43A4-9EDD-313E72D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BASIS FUNCTIONS</a:t>
            </a:r>
          </a:p>
        </p:txBody>
      </p:sp>
      <p:sp>
        <p:nvSpPr>
          <p:cNvPr id="2" name="full-title-17">
            <a:extLst xmlns:a="http://schemas.openxmlformats.org/drawingml/2006/main">
              <a:ext uri="{FF2B5EF4-FFF2-40B4-BE49-F238E27FC236}">
                <a16:creationId xmlns:a16="http://schemas.microsoft.com/office/drawing/2014/main" id="{347D08C7-BFF8-4224-B690-0D885D15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基函数设计的四个工程约束比“项越多越好”更重要</a:t>
            </a:r>
          </a:p>
        </p:txBody>
      </p:sp>
      <p:sp>
        <p:nvSpPr>
          <p:cNvPr id="3" name="full-subtitle-17">
            <a:extLst xmlns:a="http://schemas.openxmlformats.org/drawingml/2006/main">
              <a:ext uri="{FF2B5EF4-FFF2-40B4-BE49-F238E27FC236}">
                <a16:creationId xmlns:a16="http://schemas.microsoft.com/office/drawing/2014/main" id="{F23237A1-7565-459E-A4A1-BE4EB23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候选基函数要同时满足物理含义、可计算性、可识别性和可迁移性。</a:t>
            </a:r>
          </a:p>
        </p:txBody>
      </p:sp>
      <p:sp>
        <p:nvSpPr>
          <p:cNvPr id="4" name="full-page-17">
            <a:extLst xmlns:a="http://schemas.openxmlformats.org/drawingml/2006/main">
              <a:ext uri="{FF2B5EF4-FFF2-40B4-BE49-F238E27FC236}">
                <a16:creationId xmlns:a16="http://schemas.microsoft.com/office/drawing/2014/main" id="{C998696C-5427-4FD1-A7A8-3AEBF6F8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17</a:t>
            </a:r>
          </a:p>
        </p:txBody>
      </p:sp>
      <p:sp>
        <p:nvSpPr>
          <p:cNvPr id="5" name="constraint-1-box">
            <a:extLst xmlns:a="http://schemas.openxmlformats.org/drawingml/2006/main">
              <a:ext uri="{FF2B5EF4-FFF2-40B4-BE49-F238E27FC236}">
                <a16:creationId xmlns:a16="http://schemas.microsoft.com/office/drawing/2014/main" id="{2EBDFF95-31A1-48B7-9842-32DDA40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straint-1-value">
            <a:extLst xmlns:a="http://schemas.openxmlformats.org/drawingml/2006/main">
              <a:ext uri="{FF2B5EF4-FFF2-40B4-BE49-F238E27FC236}">
                <a16:creationId xmlns:a16="http://schemas.microsoft.com/office/drawing/2014/main" id="{85EFBC5C-2885-42E2-903F-2BB8EBE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B2"/>
                </a:solidFill>
              </a:defRPr>
            </a:pPr>
            <a:r>
              <a:rPr sz="2100" b="1">
                <a:solidFill>
                  <a:srgbClr val="1F6FB2"/>
                </a:solidFill>
              </a:rPr>
              <a:t>1</a:t>
            </a:r>
          </a:p>
        </p:txBody>
      </p:sp>
      <p:sp>
        <p:nvSpPr>
          <p:cNvPr id="7" name="constraint-1-label">
            <a:extLst xmlns:a="http://schemas.openxmlformats.org/drawingml/2006/main">
              <a:ext uri="{FF2B5EF4-FFF2-40B4-BE49-F238E27FC236}">
                <a16:creationId xmlns:a16="http://schemas.microsoft.com/office/drawing/2014/main" id="{9F6D699F-C6E1-48B2-8C9A-E27DB9D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含义：每一列都能说明“表示什么变化”。</a:t>
            </a:r>
          </a:p>
        </p:txBody>
      </p:sp>
      <p:sp>
        <p:nvSpPr>
          <p:cNvPr id="8" name="constraint-2-box">
            <a:extLst xmlns:a="http://schemas.openxmlformats.org/drawingml/2006/main">
              <a:ext uri="{FF2B5EF4-FFF2-40B4-BE49-F238E27FC236}">
                <a16:creationId xmlns:a16="http://schemas.microsoft.com/office/drawing/2014/main" id="{C59A6220-D15A-4971-88BB-BA06BD8F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38375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straint-2-value">
            <a:extLst xmlns:a="http://schemas.openxmlformats.org/drawingml/2006/main">
              <a:ext uri="{FF2B5EF4-FFF2-40B4-BE49-F238E27FC236}">
                <a16:creationId xmlns:a16="http://schemas.microsoft.com/office/drawing/2014/main" id="{F881692A-1E27-48D0-84C8-4468F47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9AAB"/>
                </a:solidFill>
              </a:defRPr>
            </a:pPr>
            <a:r>
              <a:rPr sz="2100" b="1">
                <a:solidFill>
                  <a:srgbClr val="159AAB"/>
                </a:solidFill>
              </a:rPr>
              <a:t>2</a:t>
            </a:r>
          </a:p>
        </p:txBody>
      </p:sp>
      <p:sp>
        <p:nvSpPr>
          <p:cNvPr id="10" name="constraint-2-label">
            <a:extLst xmlns:a="http://schemas.openxmlformats.org/drawingml/2006/main">
              <a:ext uri="{FF2B5EF4-FFF2-40B4-BE49-F238E27FC236}">
                <a16:creationId xmlns:a16="http://schemas.microsoft.com/office/drawing/2014/main" id="{CC5BBD6A-A103-4E72-9F65-630C9ECC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47975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尺度：单位、范围和标准化方式可追踪。</a:t>
            </a:r>
          </a:p>
        </p:txBody>
      </p:sp>
      <p:sp>
        <p:nvSpPr>
          <p:cNvPr id="11" name="constraint-3-box">
            <a:extLst xmlns:a="http://schemas.openxmlformats.org/drawingml/2006/main">
              <a:ext uri="{FF2B5EF4-FFF2-40B4-BE49-F238E27FC236}">
                <a16:creationId xmlns:a16="http://schemas.microsoft.com/office/drawing/2014/main" id="{B608E346-2A62-4FBE-8014-1230679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straint-3-value">
            <a:extLst xmlns:a="http://schemas.openxmlformats.org/drawingml/2006/main">
              <a:ext uri="{FF2B5EF4-FFF2-40B4-BE49-F238E27FC236}">
                <a16:creationId xmlns:a16="http://schemas.microsoft.com/office/drawing/2014/main" id="{40CB8374-783E-47EA-9D7C-C21F737C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3" name="constraint-3-label">
            <a:extLst xmlns:a="http://schemas.openxmlformats.org/drawingml/2006/main">
              <a:ext uri="{FF2B5EF4-FFF2-40B4-BE49-F238E27FC236}">
                <a16:creationId xmlns:a16="http://schemas.microsoft.com/office/drawing/2014/main" id="{6802A7D4-F1D9-4B17-BB70-42D64C14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47975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识别：H/B 不应高度重复，矩阵不能近奇异。</a:t>
            </a:r>
          </a:p>
        </p:txBody>
      </p:sp>
      <p:sp>
        <p:nvSpPr>
          <p:cNvPr id="14" name="constraint-4-box">
            <a:extLst xmlns:a="http://schemas.openxmlformats.org/drawingml/2006/main">
              <a:ext uri="{FF2B5EF4-FFF2-40B4-BE49-F238E27FC236}">
                <a16:creationId xmlns:a16="http://schemas.microsoft.com/office/drawing/2014/main" id="{9505D718-FF76-41F6-B9F4-E22360FC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38375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straint-4-value">
            <a:extLst xmlns:a="http://schemas.openxmlformats.org/drawingml/2006/main">
              <a:ext uri="{FF2B5EF4-FFF2-40B4-BE49-F238E27FC236}">
                <a16:creationId xmlns:a16="http://schemas.microsoft.com/office/drawing/2014/main" id="{4B3E6942-6DC1-40E6-8B86-AE08ED86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822B"/>
                </a:solidFill>
              </a:defRPr>
            </a:pPr>
            <a:r>
              <a:rPr sz="2100" b="1">
                <a:solidFill>
                  <a:srgbClr val="E9822B"/>
                </a:solidFill>
              </a:rPr>
              <a:t>4</a:t>
            </a:r>
          </a:p>
        </p:txBody>
      </p:sp>
      <p:sp>
        <p:nvSpPr>
          <p:cNvPr id="16" name="constraint-4-label">
            <a:extLst xmlns:a="http://schemas.openxmlformats.org/drawingml/2006/main">
              <a:ext uri="{FF2B5EF4-FFF2-40B4-BE49-F238E27FC236}">
                <a16:creationId xmlns:a16="http://schemas.microsoft.com/office/drawing/2014/main" id="{EB45C2EB-33E1-410A-81E0-06FCF902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47975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迁移：替换物理输入后仍能对应到同一求解接口。</a:t>
            </a:r>
          </a:p>
        </p:txBody>
      </p:sp>
      <p:sp>
        <p:nvSpPr>
          <p:cNvPr id="17" name="constraint-bottom">
            <a:extLst xmlns:a="http://schemas.openxmlformats.org/drawingml/2006/main">
              <a:ext uri="{FF2B5EF4-FFF2-40B4-BE49-F238E27FC236}">
                <a16:creationId xmlns:a16="http://schemas.microsoft.com/office/drawing/2014/main" id="{4CB76A66-70A0-4FAF-8F32-1B5A92B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实际实现中，这四项会落到 FeatureSpec、标准化统计量、正交化/残差化、正则化和跨批次诊断上。</a:t>
            </a:r>
          </a:p>
        </p:txBody>
      </p:sp>
    </p:spTree>
    <p:extLst>
      <p:ext uri="{BB962C8B-B14F-4D97-AF65-F5344CB8AC3E}">
        <p14:creationId xmlns:p14="http://schemas.microsoft.com/office/powerpoint/2010/main" val="18837407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18">
            <a:extLst xmlns:a="http://schemas.openxmlformats.org/drawingml/2006/main">
              <a:ext uri="{FF2B5EF4-FFF2-40B4-BE49-F238E27FC236}">
                <a16:creationId xmlns:a16="http://schemas.microsoft.com/office/drawing/2014/main" id="{DC64D030-7666-48E9-B6EE-82363C65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BASIS FUNCTIONS</a:t>
            </a:r>
          </a:p>
        </p:txBody>
      </p:sp>
      <p:sp>
        <p:nvSpPr>
          <p:cNvPr id="2" name="full-title-18">
            <a:extLst xmlns:a="http://schemas.openxmlformats.org/drawingml/2006/main">
              <a:ext uri="{FF2B5EF4-FFF2-40B4-BE49-F238E27FC236}">
                <a16:creationId xmlns:a16="http://schemas.microsoft.com/office/drawing/2014/main" id="{FAB14A2A-6AAE-4ED6-B75B-135EBFD8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在热传导场景中，H 有 11 列但有效秩约为 7</a:t>
            </a:r>
          </a:p>
        </p:txBody>
      </p:sp>
      <p:sp>
        <p:nvSpPr>
          <p:cNvPr id="3" name="full-subtitle-18">
            <a:extLst xmlns:a="http://schemas.openxmlformats.org/drawingml/2006/main">
              <a:ext uri="{FF2B5EF4-FFF2-40B4-BE49-F238E27FC236}">
                <a16:creationId xmlns:a16="http://schemas.microsoft.com/office/drawing/2014/main" id="{9B5986F3-70B2-4E61-BF10-C43F565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这说明“列数”不等于“独立信息量”，必须同时检查有效秩和条件数。</a:t>
            </a:r>
          </a:p>
        </p:txBody>
      </p:sp>
      <p:sp>
        <p:nvSpPr>
          <p:cNvPr id="4" name="full-page-18">
            <a:extLst xmlns:a="http://schemas.openxmlformats.org/drawingml/2006/main">
              <a:ext uri="{FF2B5EF4-FFF2-40B4-BE49-F238E27FC236}">
                <a16:creationId xmlns:a16="http://schemas.microsoft.com/office/drawing/2014/main" id="{4EAF431E-F25D-4192-BC88-8066F7C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18</a:t>
            </a:r>
          </a:p>
        </p:txBody>
      </p:sp>
      <p:sp>
        <p:nvSpPr>
          <p:cNvPr id="5" name="rank-left">
            <a:extLst xmlns:a="http://schemas.openxmlformats.org/drawingml/2006/main">
              <a:ext uri="{FF2B5EF4-FFF2-40B4-BE49-F238E27FC236}">
                <a16:creationId xmlns:a16="http://schemas.microsoft.com/office/drawing/2014/main" id="{00397BA6-7F09-47B1-8831-A6A6BB3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名义维度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H：11 列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B：场景化差异列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看起来自由度很多</a:t>
            </a:r>
          </a:p>
        </p:txBody>
      </p:sp>
      <p:sp>
        <p:nvSpPr>
          <p:cNvPr id="6" name="rank-middle">
            <a:extLst xmlns:a="http://schemas.openxmlformats.org/drawingml/2006/main">
              <a:ext uri="{FF2B5EF4-FFF2-40B4-BE49-F238E27FC236}">
                <a16:creationId xmlns:a16="http://schemas.microsoft.com/office/drawing/2014/main" id="{08802ADB-7550-4A63-BE74-0B238B2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线性代数检查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SVD / 条件数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识别哪些列实际上在重复表达同一方向</a:t>
            </a:r>
          </a:p>
        </p:txBody>
      </p:sp>
      <p:sp>
        <p:nvSpPr>
          <p:cNvPr id="7" name="rank-right">
            <a:extLst xmlns:a="http://schemas.openxmlformats.org/drawingml/2006/main">
              <a:ext uri="{FF2B5EF4-FFF2-40B4-BE49-F238E27FC236}">
                <a16:creationId xmlns:a16="http://schemas.microsoft.com/office/drawing/2014/main" id="{CC88AA04-C758-4478-87C3-FF21641C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工程含义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有效秩约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θ 与总热阻存在耦合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不宜直接解释为真实材料常数</a:t>
            </a:r>
          </a:p>
        </p:txBody>
      </p:sp>
      <p:sp>
        <p:nvSpPr>
          <p:cNvPr id="8" name="rank-note">
            <a:extLst xmlns:a="http://schemas.openxmlformats.org/drawingml/2006/main">
              <a:ext uri="{FF2B5EF4-FFF2-40B4-BE49-F238E27FC236}">
                <a16:creationId xmlns:a16="http://schemas.microsoft.com/office/drawing/2014/main" id="{6E335F23-0308-4479-97F1-5E2A908F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A43"/>
                </a:solidFill>
              </a:defRPr>
            </a:pPr>
            <a:r>
              <a:rPr sz="1575" b="1">
                <a:solidFill>
                  <a:srgbClr val="B64A43"/>
                </a:solidFill>
              </a:rPr>
              <a:t>所以基函数设计不仅是“写出候选列”，还要回答：哪些列能被数据区分？哪些参数只能作为等效/扰动参数？</a:t>
            </a:r>
          </a:p>
        </p:txBody>
      </p:sp>
    </p:spTree>
    <p:extLst>
      <p:ext uri="{BB962C8B-B14F-4D97-AF65-F5344CB8AC3E}">
        <p14:creationId xmlns:p14="http://schemas.microsoft.com/office/powerpoint/2010/main" val="15149021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ull-eyebrow-19">
            <a:extLst xmlns:a="http://schemas.openxmlformats.org/drawingml/2006/main">
              <a:ext uri="{FF2B5EF4-FFF2-40B4-BE49-F238E27FC236}">
                <a16:creationId xmlns:a16="http://schemas.microsoft.com/office/drawing/2014/main" id="{DB437CE0-DA5E-43B9-878D-2DA1B50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OPTIMIZATION</a:t>
            </a:r>
          </a:p>
        </p:txBody>
      </p:sp>
      <p:sp>
        <p:nvSpPr>
          <p:cNvPr id="2" name="full-title-19">
            <a:extLst xmlns:a="http://schemas.openxmlformats.org/drawingml/2006/main">
              <a:ext uri="{FF2B5EF4-FFF2-40B4-BE49-F238E27FC236}">
                <a16:creationId xmlns:a16="http://schemas.microsoft.com/office/drawing/2014/main" id="{55CA7114-3CDE-4CC0-B1F8-46B07B5C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目标函数把三类信息放在同一个可计算对象中</a:t>
            </a:r>
          </a:p>
        </p:txBody>
      </p:sp>
      <p:sp>
        <p:nvSpPr>
          <p:cNvPr id="3" name="full-subtitle-19">
            <a:extLst xmlns:a="http://schemas.openxmlformats.org/drawingml/2006/main">
              <a:ext uri="{FF2B5EF4-FFF2-40B4-BE49-F238E27FC236}">
                <a16:creationId xmlns:a16="http://schemas.microsoft.com/office/drawing/2014/main" id="{D6000CD6-E74C-45CC-9B44-126B800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监督标签负责贴近真实值，弱标签负责保留物理趋势，正则项负责控制自由度。</a:t>
            </a:r>
          </a:p>
        </p:txBody>
      </p:sp>
      <p:sp>
        <p:nvSpPr>
          <p:cNvPr id="4" name="full-page-19">
            <a:extLst xmlns:a="http://schemas.openxmlformats.org/drawingml/2006/main">
              <a:ext uri="{FF2B5EF4-FFF2-40B4-BE49-F238E27FC236}">
                <a16:creationId xmlns:a16="http://schemas.microsoft.com/office/drawing/2014/main" id="{096F537E-8556-42C8-A292-C4B9447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19</a:t>
            </a:r>
          </a:p>
        </p:txBody>
      </p:sp>
      <p:sp>
        <p:nvSpPr>
          <p:cNvPr id="5" name="objective">
            <a:extLst xmlns:a="http://schemas.openxmlformats.org/drawingml/2006/main">
              <a:ext uri="{FF2B5EF4-FFF2-40B4-BE49-F238E27FC236}">
                <a16:creationId xmlns:a16="http://schemas.microsoft.com/office/drawing/2014/main" id="{76894646-9712-4F63-AA23-C1738BC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667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min_{g,d,θ}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1/(2n) ‖y − H(θ)g − Bd‖²</a:t>
            </a:r>
          </a:p>
          <a:p xmlns:a="http://schemas.openxmlformats.org/drawingml/2006/main">
            <a:pPr algn="l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+ λ_physics/(2n_w) ‖ỹ − H(θ)g‖²</a:t>
            </a:r>
          </a:p>
          <a:p xmlns:a="http://schemas.openxmlformats.org/drawingml/2006/main">
            <a:pPr algn="l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+ λ_l1 ‖d‖₁</a:t>
            </a:r>
          </a:p>
          <a:p xmlns:a="http://schemas.openxmlformats.org/drawingml/2006/main">
            <a:pPr algn="l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+ λ_group Σ ‖θ_group‖₂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其中：第一项是监督误差，第二项是物理弱监督，后两项约束差异项和参数组。</a:t>
            </a:r>
          </a:p>
        </p:txBody>
      </p:sp>
      <p:sp>
        <p:nvSpPr>
          <p:cNvPr id="6" name="objective-meaning">
            <a:extLst xmlns:a="http://schemas.openxmlformats.org/drawingml/2006/main">
              <a:ext uri="{FF2B5EF4-FFF2-40B4-BE49-F238E27FC236}">
                <a16:creationId xmlns:a16="http://schemas.microsoft.com/office/drawing/2014/main" id="{C3260F88-648C-4DDD-8CC0-3850555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448050" cy="3667125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读法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监督数据：把模型拉向真实标签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物理弱标签：在标签少时提供方向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L1 / 组正则：避免把每个候选项都打开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θ 约束：保持参数搜索可控</a:t>
            </a:r>
          </a:p>
        </p:txBody>
      </p:sp>
      <p:sp>
        <p:nvSpPr>
          <p:cNvPr id="7" name="objective-note">
            <a:extLst xmlns:a="http://schemas.openxmlformats.org/drawingml/2006/main">
              <a:ext uri="{FF2B5EF4-FFF2-40B4-BE49-F238E27FC236}">
                <a16:creationId xmlns:a16="http://schemas.microsoft.com/office/drawing/2014/main" id="{FFB8F59F-9EA9-443B-80B6-9E7A9CFE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这也是为什么“直接把所有变量放进一个黑箱模型”不是同一个研究问题：它无法直接给出上述机制分工。</a:t>
            </a:r>
          </a:p>
        </p:txBody>
      </p:sp>
    </p:spTree>
    <p:extLst>
      <p:ext uri="{BB962C8B-B14F-4D97-AF65-F5344CB8AC3E}">
        <p14:creationId xmlns:p14="http://schemas.microsoft.com/office/powerpoint/2010/main" val="10502996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eyebrow-20">
            <a:extLst xmlns:a="http://schemas.openxmlformats.org/drawingml/2006/main">
              <a:ext uri="{FF2B5EF4-FFF2-40B4-BE49-F238E27FC236}">
                <a16:creationId xmlns:a16="http://schemas.microsoft.com/office/drawing/2014/main" id="{F395F181-F110-4A41-9178-578FDFD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OPTIMIZATION</a:t>
            </a:r>
          </a:p>
        </p:txBody>
      </p:sp>
      <p:sp>
        <p:nvSpPr>
          <p:cNvPr id="2" name="full-title-20">
            <a:extLst xmlns:a="http://schemas.openxmlformats.org/drawingml/2006/main">
              <a:ext uri="{FF2B5EF4-FFF2-40B4-BE49-F238E27FC236}">
                <a16:creationId xmlns:a16="http://schemas.microsoft.com/office/drawing/2014/main" id="{940EDEE8-13BE-43B0-9037-234CCCA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BCD–ADMM 的一轮更新可以被拆成三个可检查动作</a:t>
            </a:r>
          </a:p>
        </p:txBody>
      </p:sp>
      <p:sp>
        <p:nvSpPr>
          <p:cNvPr id="3" name="full-subtitle-20">
            <a:extLst xmlns:a="http://schemas.openxmlformats.org/drawingml/2006/main">
              <a:ext uri="{FF2B5EF4-FFF2-40B4-BE49-F238E27FC236}">
                <a16:creationId xmlns:a16="http://schemas.microsoft.com/office/drawing/2014/main" id="{9BB6074D-DB77-45FF-A880-F9AE98F7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实现中 g、d、θ 分块交替；每一块都记录目标值、残差和参数变化。</a:t>
            </a:r>
          </a:p>
        </p:txBody>
      </p:sp>
      <p:sp>
        <p:nvSpPr>
          <p:cNvPr id="4" name="full-page-20">
            <a:extLst xmlns:a="http://schemas.openxmlformats.org/drawingml/2006/main">
              <a:ext uri="{FF2B5EF4-FFF2-40B4-BE49-F238E27FC236}">
                <a16:creationId xmlns:a16="http://schemas.microsoft.com/office/drawing/2014/main" id="{0787A10D-BA6E-42F0-8963-3E9AB86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20</a:t>
            </a:r>
          </a:p>
        </p:txBody>
      </p:sp>
      <p:sp>
        <p:nvSpPr>
          <p:cNvPr id="5" name="flow-g">
            <a:extLst xmlns:a="http://schemas.openxmlformats.org/drawingml/2006/main">
              <a:ext uri="{FF2B5EF4-FFF2-40B4-BE49-F238E27FC236}">
                <a16:creationId xmlns:a16="http://schemas.microsoft.com/office/drawing/2014/main" id="{C9A8F5EF-5AF5-44C7-A85A-C6FCA80E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g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物理权重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固定 d、θ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更新 H(θ)g</a:t>
            </a:r>
          </a:p>
        </p:txBody>
      </p:sp>
      <p:sp>
        <p:nvSpPr>
          <p:cNvPr id="6" name="flow-d">
            <a:extLst xmlns:a="http://schemas.openxmlformats.org/drawingml/2006/main">
              <a:ext uri="{FF2B5EF4-FFF2-40B4-BE49-F238E27FC236}">
                <a16:creationId xmlns:a16="http://schemas.microsoft.com/office/drawing/2014/main" id="{97C04195-C008-4098-A9F7-9A3765DB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d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差异权重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固定 g、θ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L1 / 近端更新</a:t>
            </a:r>
          </a:p>
        </p:txBody>
      </p:sp>
      <p:sp>
        <p:nvSpPr>
          <p:cNvPr id="7" name="flow-θ">
            <a:extLst xmlns:a="http://schemas.openxmlformats.org/drawingml/2006/main">
              <a:ext uri="{FF2B5EF4-FFF2-40B4-BE49-F238E27FC236}">
                <a16:creationId xmlns:a16="http://schemas.microsoft.com/office/drawing/2014/main" id="{36C87789-A87C-4651-868E-1B7BAE3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θ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校准参数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固定 g、d</a:t>
            </a:r>
          </a:p>
          <a:p xmlns:a="http://schemas.openxmlformats.org/drawingml/2006/main">
            <a:pPr algn="ctr">
              <a:defRPr sz="1350" b="0">
                <a:solidFill>
                  <a:srgbClr val="3D424A"/>
                </a:solidFill>
              </a:defRPr>
            </a:pPr>
            <a:r>
              <a:rPr sz="1350" b="0">
                <a:solidFill>
                  <a:srgbClr val="3D424A"/>
                </a:solidFill>
              </a:rPr>
              <a:t>ADMM 一致性更新</a:t>
            </a:r>
          </a:p>
        </p:txBody>
      </p:sp>
      <p:sp>
        <p:nvSpPr>
          <p:cNvPr id="8" name="bcd-loop">
            <a:extLst xmlns:a="http://schemas.openxmlformats.org/drawingml/2006/main">
              <a:ext uri="{FF2B5EF4-FFF2-40B4-BE49-F238E27FC236}">
                <a16:creationId xmlns:a16="http://schemas.microsoft.com/office/drawing/2014/main" id="{9674D006-AD62-48C5-B25B-7A095BA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每轮结束：检查目标值下降、参数变化、ADMM 原始/对偶残差；不满足停止条件就继续迭代。</a:t>
            </a:r>
          </a:p>
        </p:txBody>
      </p:sp>
      <p:sp>
        <p:nvSpPr>
          <p:cNvPr id="9" name="bcd-diagnostic">
            <a:extLst xmlns:a="http://schemas.openxmlformats.org/drawingml/2006/main">
              <a:ext uri="{FF2B5EF4-FFF2-40B4-BE49-F238E27FC236}">
                <a16:creationId xmlns:a16="http://schemas.microsoft.com/office/drawing/2014/main" id="{D1A3960E-5D0B-48F2-9C0C-56ADD98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B64A43"/>
                </a:solidFill>
              </a:defRPr>
            </a:pPr>
            <a:r>
              <a:rPr sz="1500">
                <a:solidFill>
                  <a:srgbClr val="B64A43"/>
                </a:solidFill>
              </a:rPr>
              <a:t>这使得“复现失败”可以定位到：特征矩阵、某一块近端算子、ADMM 收敛，还是选参规则。</a:t>
            </a:r>
          </a:p>
        </p:txBody>
      </p:sp>
    </p:spTree>
    <p:extLst>
      <p:ext uri="{BB962C8B-B14F-4D97-AF65-F5344CB8AC3E}">
        <p14:creationId xmlns:p14="http://schemas.microsoft.com/office/powerpoint/2010/main" val="708511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full-eyebrow-21">
            <a:extLst xmlns:a="http://schemas.openxmlformats.org/drawingml/2006/main">
              <a:ext uri="{FF2B5EF4-FFF2-40B4-BE49-F238E27FC236}">
                <a16:creationId xmlns:a16="http://schemas.microsoft.com/office/drawing/2014/main" id="{05E0E38D-AEEB-428C-A018-F30C31A1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B / NUMERICS</a:t>
            </a:r>
          </a:p>
        </p:txBody>
      </p:sp>
      <p:sp>
        <p:nvSpPr>
          <p:cNvPr id="2" name="full-title-21">
            <a:extLst xmlns:a="http://schemas.openxmlformats.org/drawingml/2006/main">
              <a:ext uri="{FF2B5EF4-FFF2-40B4-BE49-F238E27FC236}">
                <a16:creationId xmlns:a16="http://schemas.microsoft.com/office/drawing/2014/main" id="{EB28B6F9-617C-4262-9E90-5686DDA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复现中最容易被忽略的，是公式之外的数值稳定性</a:t>
            </a:r>
          </a:p>
        </p:txBody>
      </p:sp>
      <p:sp>
        <p:nvSpPr>
          <p:cNvPr id="3" name="full-subtitle-21">
            <a:extLst xmlns:a="http://schemas.openxmlformats.org/drawingml/2006/main">
              <a:ext uri="{FF2B5EF4-FFF2-40B4-BE49-F238E27FC236}">
                <a16:creationId xmlns:a16="http://schemas.microsoft.com/office/drawing/2014/main" id="{FE9915AE-4E2A-4F8F-8440-B8C5507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论文给出求解骨架；工程实现必须显式处理尺度、奇点、近奇异和无效候选。</a:t>
            </a:r>
          </a:p>
        </p:txBody>
      </p:sp>
      <p:sp>
        <p:nvSpPr>
          <p:cNvPr id="4" name="full-page-21">
            <a:extLst xmlns:a="http://schemas.openxmlformats.org/drawingml/2006/main">
              <a:ext uri="{FF2B5EF4-FFF2-40B4-BE49-F238E27FC236}">
                <a16:creationId xmlns:a16="http://schemas.microsoft.com/office/drawing/2014/main" id="{6C0D4069-5D99-4711-AB85-2655DDF7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21</a:t>
            </a:r>
          </a:p>
        </p:txBody>
      </p:sp>
      <p:sp>
        <p:nvSpPr>
          <p:cNvPr id="5" name="numerics-0-0">
            <a:extLst xmlns:a="http://schemas.openxmlformats.org/drawingml/2006/main">
              <a:ext uri="{FF2B5EF4-FFF2-40B4-BE49-F238E27FC236}">
                <a16:creationId xmlns:a16="http://schemas.microsoft.com/office/drawing/2014/main" id="{6802DC4B-33A4-4DBB-8687-CD647FB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6" name="numerics-0-1">
            <a:extLst xmlns:a="http://schemas.openxmlformats.org/drawingml/2006/main">
              <a:ext uri="{FF2B5EF4-FFF2-40B4-BE49-F238E27FC236}">
                <a16:creationId xmlns:a16="http://schemas.microsoft.com/office/drawing/2014/main" id="{715AE67B-0EBE-47B4-A69F-10C0E9B3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02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实现补充</a:t>
            </a:r>
          </a:p>
        </p:txBody>
      </p:sp>
      <p:sp>
        <p:nvSpPr>
          <p:cNvPr id="7" name="numerics-0-2">
            <a:extLst xmlns:a="http://schemas.openxmlformats.org/drawingml/2006/main">
              <a:ext uri="{FF2B5EF4-FFF2-40B4-BE49-F238E27FC236}">
                <a16:creationId xmlns:a16="http://schemas.microsoft.com/office/drawing/2014/main" id="{D231C890-A3DD-47A5-97D2-5FBB354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为什么影响结果</a:t>
            </a:r>
          </a:p>
        </p:txBody>
      </p:sp>
      <p:sp>
        <p:nvSpPr>
          <p:cNvPr id="8" name="numerics-1-0">
            <a:extLst xmlns:a="http://schemas.openxmlformats.org/drawingml/2006/main">
              <a:ext uri="{FF2B5EF4-FFF2-40B4-BE49-F238E27FC236}">
                <a16:creationId xmlns:a16="http://schemas.microsoft.com/office/drawing/2014/main" id="{8622A78C-18B0-45E4-BA4C-A2317BB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输入尺度</a:t>
            </a:r>
          </a:p>
        </p:txBody>
      </p:sp>
      <p:sp>
        <p:nvSpPr>
          <p:cNvPr id="9" name="numerics-1-1">
            <a:extLst xmlns:a="http://schemas.openxmlformats.org/drawingml/2006/main">
              <a:ext uri="{FF2B5EF4-FFF2-40B4-BE49-F238E27FC236}">
                <a16:creationId xmlns:a16="http://schemas.microsoft.com/office/drawing/2014/main" id="{7D1C2892-9E33-475E-A883-9B1D047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955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冻结 fit 阶段标准化统计量</a:t>
            </a:r>
          </a:p>
        </p:txBody>
      </p:sp>
      <p:sp>
        <p:nvSpPr>
          <p:cNvPr id="10" name="numerics-1-2">
            <a:extLst xmlns:a="http://schemas.openxmlformats.org/drawingml/2006/main">
              <a:ext uri="{FF2B5EF4-FFF2-40B4-BE49-F238E27FC236}">
                <a16:creationId xmlns:a16="http://schemas.microsoft.com/office/drawing/2014/main" id="{6811A525-6953-4B71-80F5-4F9A21D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避免某一列因单位大而主导正则</a:t>
            </a:r>
          </a:p>
        </p:txBody>
      </p:sp>
      <p:sp>
        <p:nvSpPr>
          <p:cNvPr id="11" name="numerics-2-0">
            <a:extLst xmlns:a="http://schemas.openxmlformats.org/drawingml/2006/main">
              <a:ext uri="{FF2B5EF4-FFF2-40B4-BE49-F238E27FC236}">
                <a16:creationId xmlns:a16="http://schemas.microsoft.com/office/drawing/2014/main" id="{29038887-B9FB-40DA-B011-226AAD9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有理函数奇点</a:t>
            </a:r>
          </a:p>
        </p:txBody>
      </p:sp>
      <p:sp>
        <p:nvSpPr>
          <p:cNvPr id="12" name="numerics-2-1">
            <a:extLst xmlns:a="http://schemas.openxmlformats.org/drawingml/2006/main">
              <a:ext uri="{FF2B5EF4-FFF2-40B4-BE49-F238E27FC236}">
                <a16:creationId xmlns:a16="http://schemas.microsoft.com/office/drawing/2014/main" id="{C4C8B3F7-5355-46D8-88DC-652787C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reject_near_pole</a:t>
            </a:r>
          </a:p>
        </p:txBody>
      </p:sp>
      <p:sp>
        <p:nvSpPr>
          <p:cNvPr id="13" name="numerics-2-2">
            <a:extLst xmlns:a="http://schemas.openxmlformats.org/drawingml/2006/main">
              <a:ext uri="{FF2B5EF4-FFF2-40B4-BE49-F238E27FC236}">
                <a16:creationId xmlns:a16="http://schemas.microsoft.com/office/drawing/2014/main" id="{1EF518DB-8459-450F-8BA0-A08A1A3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不让搜索点靠近分母极点</a:t>
            </a:r>
          </a:p>
        </p:txBody>
      </p:sp>
      <p:sp>
        <p:nvSpPr>
          <p:cNvPr id="14" name="numerics-3-0">
            <a:extLst xmlns:a="http://schemas.openxmlformats.org/drawingml/2006/main">
              <a:ext uri="{FF2B5EF4-FFF2-40B4-BE49-F238E27FC236}">
                <a16:creationId xmlns:a16="http://schemas.microsoft.com/office/drawing/2014/main" id="{8C2F9276-44FA-4A4D-98BE-AECD250E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矩阵近奇异</a:t>
            </a:r>
          </a:p>
        </p:txBody>
      </p:sp>
      <p:sp>
        <p:nvSpPr>
          <p:cNvPr id="15" name="numerics-3-1">
            <a:extLst xmlns:a="http://schemas.openxmlformats.org/drawingml/2006/main">
              <a:ext uri="{FF2B5EF4-FFF2-40B4-BE49-F238E27FC236}">
                <a16:creationId xmlns:a16="http://schemas.microsoft.com/office/drawing/2014/main" id="{CA006550-E2B9-4A83-B5B0-5BE9FFA0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条件数 / 有效秩诊断</a:t>
            </a:r>
          </a:p>
        </p:txBody>
      </p:sp>
      <p:sp>
        <p:nvSpPr>
          <p:cNvPr id="16" name="numerics-3-2">
            <a:extLst xmlns:a="http://schemas.openxmlformats.org/drawingml/2006/main">
              <a:ext uri="{FF2B5EF4-FFF2-40B4-BE49-F238E27FC236}">
                <a16:creationId xmlns:a16="http://schemas.microsoft.com/office/drawing/2014/main" id="{C4820C89-D8D7-42F3-9EF2-49B8F4C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否则 θ 与 g 的归因不稳定</a:t>
            </a:r>
          </a:p>
        </p:txBody>
      </p:sp>
      <p:sp>
        <p:nvSpPr>
          <p:cNvPr id="17" name="numerics-4-0">
            <a:extLst xmlns:a="http://schemas.openxmlformats.org/drawingml/2006/main">
              <a:ext uri="{FF2B5EF4-FFF2-40B4-BE49-F238E27FC236}">
                <a16:creationId xmlns:a16="http://schemas.microsoft.com/office/drawing/2014/main" id="{B6991E75-F864-4445-B9DE-90BA1F49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ADMM / BCD</a:t>
            </a:r>
          </a:p>
        </p:txBody>
      </p:sp>
      <p:sp>
        <p:nvSpPr>
          <p:cNvPr id="18" name="numerics-4-1">
            <a:extLst xmlns:a="http://schemas.openxmlformats.org/drawingml/2006/main">
              <a:ext uri="{FF2B5EF4-FFF2-40B4-BE49-F238E27FC236}">
                <a16:creationId xmlns:a16="http://schemas.microsoft.com/office/drawing/2014/main" id="{F3F638F5-1ABA-44EE-B654-066E4F94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814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联合残差与参数变化停止</a:t>
            </a:r>
          </a:p>
        </p:txBody>
      </p:sp>
      <p:sp>
        <p:nvSpPr>
          <p:cNvPr id="19" name="numerics-4-2">
            <a:extLst xmlns:a="http://schemas.openxmlformats.org/drawingml/2006/main">
              <a:ext uri="{FF2B5EF4-FFF2-40B4-BE49-F238E27FC236}">
                <a16:creationId xmlns:a16="http://schemas.microsoft.com/office/drawing/2014/main" id="{3C9485BE-BBCB-45D2-83FE-C96EBC7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只看目标值可能误判收敛</a:t>
            </a:r>
          </a:p>
        </p:txBody>
      </p:sp>
      <p:sp>
        <p:nvSpPr>
          <p:cNvPr id="20" name="numerics-5-0">
            <a:extLst xmlns:a="http://schemas.openxmlformats.org/drawingml/2006/main">
              <a:ext uri="{FF2B5EF4-FFF2-40B4-BE49-F238E27FC236}">
                <a16:creationId xmlns:a16="http://schemas.microsoft.com/office/drawing/2014/main" id="{CFC78373-061D-46EE-90B3-6009F5DD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候选网格</a:t>
            </a:r>
          </a:p>
        </p:txBody>
      </p:sp>
      <p:sp>
        <p:nvSpPr>
          <p:cNvPr id="21" name="numerics-5-1">
            <a:extLst xmlns:a="http://schemas.openxmlformats.org/drawingml/2006/main">
              <a:ext uri="{FF2B5EF4-FFF2-40B4-BE49-F238E27FC236}">
                <a16:creationId xmlns:a16="http://schemas.microsoft.com/office/drawing/2014/main" id="{34BF9899-0A9D-47ED-A980-F07CED4B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无效候选率与收敛率</a:t>
            </a:r>
          </a:p>
        </p:txBody>
      </p:sp>
      <p:sp>
        <p:nvSpPr>
          <p:cNvPr id="22" name="numerics-5-2">
            <a:extLst xmlns:a="http://schemas.openxmlformats.org/drawingml/2006/main">
              <a:ext uri="{FF2B5EF4-FFF2-40B4-BE49-F238E27FC236}">
                <a16:creationId xmlns:a16="http://schemas.microsoft.com/office/drawing/2014/main" id="{E18F5E17-8FB6-40DC-A549-D2B1CE1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767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选参前先排除数值无效解</a:t>
            </a:r>
          </a:p>
        </p:txBody>
      </p:sp>
      <p:sp>
        <p:nvSpPr>
          <p:cNvPr id="23" name="numerics-note">
            <a:extLst xmlns:a="http://schemas.openxmlformats.org/drawingml/2006/main">
              <a:ext uri="{FF2B5EF4-FFF2-40B4-BE49-F238E27FC236}">
                <a16:creationId xmlns:a16="http://schemas.microsoft.com/office/drawing/2014/main" id="{58F558DE-7DD3-4F0A-9225-BDE8E2AE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这些不是“额外算法贡献”，但它们决定复现实验能否被重复运行。</a:t>
            </a:r>
          </a:p>
        </p:txBody>
      </p:sp>
    </p:spTree>
    <p:extLst>
      <p:ext uri="{BB962C8B-B14F-4D97-AF65-F5344CB8AC3E}">
        <p14:creationId xmlns:p14="http://schemas.microsoft.com/office/powerpoint/2010/main" val="8186514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eyebrow-22">
            <a:extLst xmlns:a="http://schemas.openxmlformats.org/drawingml/2006/main">
              <a:ext uri="{FF2B5EF4-FFF2-40B4-BE49-F238E27FC236}">
                <a16:creationId xmlns:a16="http://schemas.microsoft.com/office/drawing/2014/main" id="{98B1A161-9521-4DCF-B712-966D4D2B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C / REPRODUCTION</a:t>
            </a:r>
          </a:p>
        </p:txBody>
      </p:sp>
      <p:sp>
        <p:nvSpPr>
          <p:cNvPr id="2" name="full-title-22">
            <a:extLst xmlns:a="http://schemas.openxmlformats.org/drawingml/2006/main">
              <a:ext uri="{FF2B5EF4-FFF2-40B4-BE49-F238E27FC236}">
                <a16:creationId xmlns:a16="http://schemas.microsoft.com/office/drawing/2014/main" id="{002996BE-35FA-4407-847B-24274389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复现协议先固定“公共数据”，再比较模型</a:t>
            </a:r>
          </a:p>
        </p:txBody>
      </p:sp>
      <p:sp>
        <p:nvSpPr>
          <p:cNvPr id="3" name="full-subtitle-22">
            <a:extLst xmlns:a="http://schemas.openxmlformats.org/drawingml/2006/main">
              <a:ext uri="{FF2B5EF4-FFF2-40B4-BE49-F238E27FC236}">
                <a16:creationId xmlns:a16="http://schemas.microsoft.com/office/drawing/2014/main" id="{13998C45-14FA-4066-B2C6-A0514F0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同一重复编号共享标签池、物理弱标签和测试集，避免模型比较被数据差异污染。</a:t>
            </a:r>
          </a:p>
        </p:txBody>
      </p:sp>
      <p:sp>
        <p:nvSpPr>
          <p:cNvPr id="4" name="full-page-22">
            <a:extLst xmlns:a="http://schemas.openxmlformats.org/drawingml/2006/main">
              <a:ext uri="{FF2B5EF4-FFF2-40B4-BE49-F238E27FC236}">
                <a16:creationId xmlns:a16="http://schemas.microsoft.com/office/drawing/2014/main" id="{23DD2071-805E-44EB-87A9-3CC18D6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22</a:t>
            </a:r>
          </a:p>
        </p:txBody>
      </p:sp>
      <p:sp>
        <p:nvSpPr>
          <p:cNvPr id="5" name="data-pool">
            <a:extLst xmlns:a="http://schemas.openxmlformats.org/drawingml/2006/main">
              <a:ext uri="{FF2B5EF4-FFF2-40B4-BE49-F238E27FC236}">
                <a16:creationId xmlns:a16="http://schemas.microsoft.com/office/drawing/2014/main" id="{1EC15694-DF1C-4D92-80C2-259BE83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标签池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120 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监督数据 y</a:t>
            </a:r>
          </a:p>
        </p:txBody>
      </p:sp>
      <p:sp>
        <p:nvSpPr>
          <p:cNvPr id="6" name="weak-pool">
            <a:extLst xmlns:a="http://schemas.openxmlformats.org/drawingml/2006/main">
              <a:ext uri="{FF2B5EF4-FFF2-40B4-BE49-F238E27FC236}">
                <a16:creationId xmlns:a16="http://schemas.microsoft.com/office/drawing/2014/main" id="{FD988063-F753-4682-BBEB-491ED674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物理弱标签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100 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η(x;θ)</a:t>
            </a:r>
          </a:p>
        </p:txBody>
      </p:sp>
      <p:sp>
        <p:nvSpPr>
          <p:cNvPr id="7" name="test-pool">
            <a:extLst xmlns:a="http://schemas.openxmlformats.org/drawingml/2006/main">
              <a:ext uri="{FF2B5EF4-FFF2-40B4-BE49-F238E27FC236}">
                <a16:creationId xmlns:a16="http://schemas.microsoft.com/office/drawing/2014/main" id="{4EE8FD34-C083-4141-8133-6549D1F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独立测试集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200 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只用于最终评价</a:t>
            </a:r>
          </a:p>
        </p:txBody>
      </p:sp>
      <p:sp>
        <p:nvSpPr>
          <p:cNvPr id="8" name="repeat-pool">
            <a:extLst xmlns:a="http://schemas.openxmlformats.org/drawingml/2006/main">
              <a:ext uri="{FF2B5EF4-FFF2-40B4-BE49-F238E27FC236}">
                <a16:creationId xmlns:a16="http://schemas.microsoft.com/office/drawing/2014/main" id="{154EFBC2-F5DC-4E8D-87B1-7487A2C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重复实验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20 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共享条件 + 配对统计</a:t>
            </a:r>
          </a:p>
        </p:txBody>
      </p:sp>
      <p:sp>
        <p:nvSpPr>
          <p:cNvPr id="9" name="data-pool-note">
            <a:extLst xmlns:a="http://schemas.openxmlformats.org/drawingml/2006/main">
              <a:ext uri="{FF2B5EF4-FFF2-40B4-BE49-F238E27FC236}">
                <a16:creationId xmlns:a16="http://schemas.microsoft.com/office/drawing/2014/main" id="{FA9D124D-A60F-4B49-868F-B8FD620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论文规定：零均值多元正态输入、SNR=5、θ∈(0,1]²、指标为 MSE / RMSE / MAE。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复现补全：协方差、弱标签噪声、近极点拒绝、B 维度、网格与停止条件都在配置中显式记录。</a:t>
            </a:r>
          </a:p>
        </p:txBody>
      </p:sp>
    </p:spTree>
    <p:extLst>
      <p:ext uri="{BB962C8B-B14F-4D97-AF65-F5344CB8AC3E}">
        <p14:creationId xmlns:p14="http://schemas.microsoft.com/office/powerpoint/2010/main" val="20648670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ull-eyebrow-23">
            <a:extLst xmlns:a="http://schemas.openxmlformats.org/drawingml/2006/main">
              <a:ext uri="{FF2B5EF4-FFF2-40B4-BE49-F238E27FC236}">
                <a16:creationId xmlns:a16="http://schemas.microsoft.com/office/drawing/2014/main" id="{81C5C300-6C41-4BE2-922F-33026D5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C / REPRODUCTION</a:t>
            </a:r>
          </a:p>
        </p:txBody>
      </p:sp>
      <p:sp>
        <p:nvSpPr>
          <p:cNvPr id="2" name="full-title-23">
            <a:extLst xmlns:a="http://schemas.openxmlformats.org/drawingml/2006/main">
              <a:ext uri="{FF2B5EF4-FFF2-40B4-BE49-F238E27FC236}">
                <a16:creationId xmlns:a16="http://schemas.microsoft.com/office/drawing/2014/main" id="{2A34CC33-1D0F-451B-900E-9978EF0E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IV-A 用嵌套标签池回答“标签越多，谁受益”</a:t>
            </a:r>
          </a:p>
        </p:txBody>
      </p:sp>
      <p:sp>
        <p:nvSpPr>
          <p:cNvPr id="3" name="full-subtitle-23">
            <a:extLst xmlns:a="http://schemas.openxmlformats.org/drawingml/2006/main">
              <a:ext uri="{FF2B5EF4-FFF2-40B4-BE49-F238E27FC236}">
                <a16:creationId xmlns:a16="http://schemas.microsoft.com/office/drawing/2014/main" id="{CE94A978-DF7D-431F-8546-3E09C27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标签量从 10 到 120，每次增加 10；训练/验证集嵌套，测试集固定。</a:t>
            </a:r>
          </a:p>
        </p:txBody>
      </p:sp>
      <p:sp>
        <p:nvSpPr>
          <p:cNvPr id="4" name="full-page-23">
            <a:extLst xmlns:a="http://schemas.openxmlformats.org/drawingml/2006/main">
              <a:ext uri="{FF2B5EF4-FFF2-40B4-BE49-F238E27FC236}">
                <a16:creationId xmlns:a16="http://schemas.microsoft.com/office/drawing/2014/main" id="{219762AA-0AA5-4999-A2CD-7A6FBBAA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23</a:t>
            </a:r>
          </a:p>
        </p:txBody>
      </p:sp>
      <p:sp>
        <p:nvSpPr>
          <p:cNvPr id="5" name="iva-0-0">
            <a:extLst xmlns:a="http://schemas.openxmlformats.org/drawingml/2006/main">
              <a:ext uri="{FF2B5EF4-FFF2-40B4-BE49-F238E27FC236}">
                <a16:creationId xmlns:a16="http://schemas.microsoft.com/office/drawing/2014/main" id="{DBE394E4-C859-48F8-8709-5A4FB0CB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6" name="iva-0-1">
            <a:extLst xmlns:a="http://schemas.openxmlformats.org/drawingml/2006/main">
              <a:ext uri="{FF2B5EF4-FFF2-40B4-BE49-F238E27FC236}">
                <a16:creationId xmlns:a16="http://schemas.microsoft.com/office/drawing/2014/main" id="{1C7437D8-B55A-4CA4-9B0A-625B4C77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协议</a:t>
            </a:r>
          </a:p>
        </p:txBody>
      </p:sp>
      <p:sp>
        <p:nvSpPr>
          <p:cNvPr id="7" name="iva-1-0">
            <a:extLst xmlns:a="http://schemas.openxmlformats.org/drawingml/2006/main">
              <a:ext uri="{FF2B5EF4-FFF2-40B4-BE49-F238E27FC236}">
                <a16:creationId xmlns:a16="http://schemas.microsoft.com/office/drawing/2014/main" id="{C6DCC75B-22C4-4CAB-B167-1807BF3F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标签量</a:t>
            </a:r>
          </a:p>
        </p:txBody>
      </p:sp>
      <p:sp>
        <p:nvSpPr>
          <p:cNvPr id="8" name="iva-1-1">
            <a:extLst xmlns:a="http://schemas.openxmlformats.org/drawingml/2006/main">
              <a:ext uri="{FF2B5EF4-FFF2-40B4-BE49-F238E27FC236}">
                <a16:creationId xmlns:a16="http://schemas.microsoft.com/office/drawing/2014/main" id="{885F2985-DD9E-4CEA-8D1A-4F8ADFB8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10, 20, …, 120；同一标签池逐档扩展</a:t>
            </a:r>
          </a:p>
        </p:txBody>
      </p:sp>
      <p:sp>
        <p:nvSpPr>
          <p:cNvPr id="9" name="iva-2-0">
            <a:extLst xmlns:a="http://schemas.openxmlformats.org/drawingml/2006/main">
              <a:ext uri="{FF2B5EF4-FFF2-40B4-BE49-F238E27FC236}">
                <a16:creationId xmlns:a16="http://schemas.microsoft.com/office/drawing/2014/main" id="{7F09BBEB-85A0-418F-A8BB-62485B12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物理样本</a:t>
            </a:r>
          </a:p>
        </p:txBody>
      </p:sp>
      <p:sp>
        <p:nvSpPr>
          <p:cNvPr id="10" name="iva-2-1">
            <a:extLst xmlns:a="http://schemas.openxmlformats.org/drawingml/2006/main">
              <a:ext uri="{FF2B5EF4-FFF2-40B4-BE49-F238E27FC236}">
                <a16:creationId xmlns:a16="http://schemas.microsoft.com/office/drawing/2014/main" id="{E3822C04-7241-41EA-9E5A-3802881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100 个；所有模型共享</a:t>
            </a:r>
          </a:p>
        </p:txBody>
      </p:sp>
      <p:sp>
        <p:nvSpPr>
          <p:cNvPr id="11" name="iva-3-0">
            <a:extLst xmlns:a="http://schemas.openxmlformats.org/drawingml/2006/main">
              <a:ext uri="{FF2B5EF4-FFF2-40B4-BE49-F238E27FC236}">
                <a16:creationId xmlns:a16="http://schemas.microsoft.com/office/drawing/2014/main" id="{5C40C66E-BBE1-49FD-9760-9488460F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测试集</a:t>
            </a:r>
          </a:p>
        </p:txBody>
      </p:sp>
      <p:sp>
        <p:nvSpPr>
          <p:cNvPr id="12" name="iva-3-1">
            <a:extLst xmlns:a="http://schemas.openxmlformats.org/drawingml/2006/main">
              <a:ext uri="{FF2B5EF4-FFF2-40B4-BE49-F238E27FC236}">
                <a16:creationId xmlns:a16="http://schemas.microsoft.com/office/drawing/2014/main" id="{9481FC27-7E6B-40EF-970D-E0C8ABE2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861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200 个独立样本；所有模型共享</a:t>
            </a:r>
          </a:p>
        </p:txBody>
      </p:sp>
      <p:sp>
        <p:nvSpPr>
          <p:cNvPr id="13" name="iva-4-0">
            <a:extLst xmlns:a="http://schemas.openxmlformats.org/drawingml/2006/main">
              <a:ext uri="{FF2B5EF4-FFF2-40B4-BE49-F238E27FC236}">
                <a16:creationId xmlns:a16="http://schemas.microsoft.com/office/drawing/2014/main" id="{CCB8E052-9654-4092-8D7D-EA5F890C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训练/验证</a:t>
            </a:r>
          </a:p>
        </p:txBody>
      </p:sp>
      <p:sp>
        <p:nvSpPr>
          <p:cNvPr id="14" name="iva-4-1">
            <a:extLst xmlns:a="http://schemas.openxmlformats.org/drawingml/2006/main">
              <a:ext uri="{FF2B5EF4-FFF2-40B4-BE49-F238E27FC236}">
                <a16:creationId xmlns:a16="http://schemas.microsoft.com/office/drawing/2014/main" id="{F69CBFB4-38B9-4E0C-ACDE-7F441A7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814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70/30；每档固定进入训练与验证</a:t>
            </a:r>
          </a:p>
        </p:txBody>
      </p:sp>
      <p:sp>
        <p:nvSpPr>
          <p:cNvPr id="15" name="iva-5-0">
            <a:extLst xmlns:a="http://schemas.openxmlformats.org/drawingml/2006/main">
              <a:ext uri="{FF2B5EF4-FFF2-40B4-BE49-F238E27FC236}">
                <a16:creationId xmlns:a16="http://schemas.microsoft.com/office/drawing/2014/main" id="{6409AF5F-8764-42BE-A65E-AEF73A7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重复</a:t>
            </a:r>
          </a:p>
        </p:txBody>
      </p:sp>
      <p:sp>
        <p:nvSpPr>
          <p:cNvPr id="16" name="iva-5-1">
            <a:extLst xmlns:a="http://schemas.openxmlformats.org/drawingml/2006/main">
              <a:ext uri="{FF2B5EF4-FFF2-40B4-BE49-F238E27FC236}">
                <a16:creationId xmlns:a16="http://schemas.microsoft.com/office/drawing/2014/main" id="{803DB013-DEEC-4EBB-BC89-D065BE0E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20 次；同一重复编号内配对比较</a:t>
            </a:r>
          </a:p>
        </p:txBody>
      </p:sp>
      <p:sp>
        <p:nvSpPr>
          <p:cNvPr id="17" name="iva-6-0">
            <a:extLst xmlns:a="http://schemas.openxmlformats.org/drawingml/2006/main">
              <a:ext uri="{FF2B5EF4-FFF2-40B4-BE49-F238E27FC236}">
                <a16:creationId xmlns:a16="http://schemas.microsoft.com/office/drawing/2014/main" id="{BA2137B3-5FCF-4C2D-B9A3-F5D7D2D4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统计</a:t>
            </a:r>
          </a:p>
        </p:txBody>
      </p:sp>
      <p:sp>
        <p:nvSpPr>
          <p:cNvPr id="18" name="iva-6-1">
            <a:extLst xmlns:a="http://schemas.openxmlformats.org/drawingml/2006/main">
              <a:ext uri="{FF2B5EF4-FFF2-40B4-BE49-F238E27FC236}">
                <a16:creationId xmlns:a16="http://schemas.microsoft.com/office/drawing/2014/main" id="{35BFE312-3F0D-479F-A4D4-FE31248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7205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单侧配对 t 检验 + Holm 多重比较校正</a:t>
            </a:r>
          </a:p>
        </p:txBody>
      </p:sp>
      <p:sp>
        <p:nvSpPr>
          <p:cNvPr id="19" name="iva-note">
            <a:extLst xmlns:a="http://schemas.openxmlformats.org/drawingml/2006/main">
              <a:ext uri="{FF2B5EF4-FFF2-40B4-BE49-F238E27FC236}">
                <a16:creationId xmlns:a16="http://schemas.microsoft.com/office/drawing/2014/main" id="{C84DB48A-5246-4F08-B4BB-4798D6F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关键控制：不同模型不是“各自随机抽了一套数据”，而是在同一测试样本上作配对比较。</a:t>
            </a:r>
          </a:p>
        </p:txBody>
      </p:sp>
    </p:spTree>
    <p:extLst>
      <p:ext uri="{BB962C8B-B14F-4D97-AF65-F5344CB8AC3E}">
        <p14:creationId xmlns:p14="http://schemas.microsoft.com/office/powerpoint/2010/main" val="13097029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ull-eyebrow-24">
            <a:extLst xmlns:a="http://schemas.openxmlformats.org/drawingml/2006/main">
              <a:ext uri="{FF2B5EF4-FFF2-40B4-BE49-F238E27FC236}">
                <a16:creationId xmlns:a16="http://schemas.microsoft.com/office/drawing/2014/main" id="{538D7652-D589-4F31-950F-336FB026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C / REPRODUCTION</a:t>
            </a:r>
          </a:p>
        </p:txBody>
      </p:sp>
      <p:sp>
        <p:nvSpPr>
          <p:cNvPr id="2" name="full-title-24">
            <a:extLst xmlns:a="http://schemas.openxmlformats.org/drawingml/2006/main">
              <a:ext uri="{FF2B5EF4-FFF2-40B4-BE49-F238E27FC236}">
                <a16:creationId xmlns:a16="http://schemas.microsoft.com/office/drawing/2014/main" id="{8E7C114D-ABDE-4DE8-8258-27B4505F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IV-B 改变物理模型精度，但不改变测试条件</a:t>
            </a:r>
          </a:p>
        </p:txBody>
      </p:sp>
      <p:sp>
        <p:nvSpPr>
          <p:cNvPr id="3" name="full-subtitle-24">
            <a:extLst xmlns:a="http://schemas.openxmlformats.org/drawingml/2006/main">
              <a:ext uri="{FF2B5EF4-FFF2-40B4-BE49-F238E27FC236}">
                <a16:creationId xmlns:a16="http://schemas.microsoft.com/office/drawing/2014/main" id="{6333242B-7A35-40CE-8A3D-AE14C16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用独立校准池控制物理模型与真实过程的相关性，避免把正式标签拿去校准。</a:t>
            </a:r>
          </a:p>
        </p:txBody>
      </p:sp>
      <p:sp>
        <p:nvSpPr>
          <p:cNvPr id="4" name="full-page-24">
            <a:extLst xmlns:a="http://schemas.openxmlformats.org/drawingml/2006/main">
              <a:ext uri="{FF2B5EF4-FFF2-40B4-BE49-F238E27FC236}">
                <a16:creationId xmlns:a16="http://schemas.microsoft.com/office/drawing/2014/main" id="{A5D7C9D3-1B33-4485-97A4-85BD40B2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24</a:t>
            </a:r>
          </a:p>
        </p:txBody>
      </p:sp>
      <p:sp>
        <p:nvSpPr>
          <p:cNvPr id="5" name="ivb-85-box">
            <a:extLst xmlns:a="http://schemas.openxmlformats.org/drawingml/2006/main">
              <a:ext uri="{FF2B5EF4-FFF2-40B4-BE49-F238E27FC236}">
                <a16:creationId xmlns:a16="http://schemas.microsoft.com/office/drawing/2014/main" id="{B63B55A7-AAA3-4955-9D28-1B4E47D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vb-85-value">
            <a:extLst xmlns:a="http://schemas.openxmlformats.org/drawingml/2006/main">
              <a:ext uri="{FF2B5EF4-FFF2-40B4-BE49-F238E27FC236}">
                <a16:creationId xmlns:a16="http://schemas.microsoft.com/office/drawing/2014/main" id="{3D4935F0-66B4-454D-A921-7BBAE77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B2"/>
                </a:solidFill>
              </a:defRPr>
            </a:pPr>
            <a:r>
              <a:rPr sz="2100" b="1">
                <a:solidFill>
                  <a:srgbClr val="1F6FB2"/>
                </a:solidFill>
              </a:rPr>
              <a:t>0.85</a:t>
            </a:r>
          </a:p>
        </p:txBody>
      </p:sp>
      <p:sp>
        <p:nvSpPr>
          <p:cNvPr id="7" name="ivb-85-label">
            <a:extLst xmlns:a="http://schemas.openxmlformats.org/drawingml/2006/main">
              <a:ext uri="{FF2B5EF4-FFF2-40B4-BE49-F238E27FC236}">
                <a16:creationId xmlns:a16="http://schemas.microsoft.com/office/drawing/2014/main" id="{36288461-AFE9-419A-B38D-36E3158B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2657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目标相关性：物理模型较准确</a:t>
            </a:r>
          </a:p>
        </p:txBody>
      </p:sp>
      <p:sp>
        <p:nvSpPr>
          <p:cNvPr id="8" name="ivb-70-box">
            <a:extLst xmlns:a="http://schemas.openxmlformats.org/drawingml/2006/main">
              <a:ext uri="{FF2B5EF4-FFF2-40B4-BE49-F238E27FC236}">
                <a16:creationId xmlns:a16="http://schemas.microsoft.com/office/drawing/2014/main" id="{A8F3D4BD-1496-4BCC-9A20-4EC860AE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vb-70-value">
            <a:extLst xmlns:a="http://schemas.openxmlformats.org/drawingml/2006/main">
              <a:ext uri="{FF2B5EF4-FFF2-40B4-BE49-F238E27FC236}">
                <a16:creationId xmlns:a16="http://schemas.microsoft.com/office/drawing/2014/main" id="{642BACFD-DF2E-4735-9EE9-D131B07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9AAB"/>
                </a:solidFill>
              </a:defRPr>
            </a:pPr>
            <a:r>
              <a:rPr sz="2100" b="1">
                <a:solidFill>
                  <a:srgbClr val="159AAB"/>
                </a:solidFill>
              </a:rPr>
              <a:t>0.70</a:t>
            </a:r>
          </a:p>
        </p:txBody>
      </p:sp>
      <p:sp>
        <p:nvSpPr>
          <p:cNvPr id="10" name="ivb-70-label">
            <a:extLst xmlns:a="http://schemas.openxmlformats.org/drawingml/2006/main">
              <a:ext uri="{FF2B5EF4-FFF2-40B4-BE49-F238E27FC236}">
                <a16:creationId xmlns:a16="http://schemas.microsoft.com/office/drawing/2014/main" id="{BCD7C1F5-0D92-4EC6-AAFF-5D50235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47975"/>
            <a:ext cx="2657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目标相关性：中等物理精度</a:t>
            </a:r>
          </a:p>
        </p:txBody>
      </p:sp>
      <p:sp>
        <p:nvSpPr>
          <p:cNvPr id="11" name="ivb-50-box">
            <a:extLst xmlns:a="http://schemas.openxmlformats.org/drawingml/2006/main">
              <a:ext uri="{FF2B5EF4-FFF2-40B4-BE49-F238E27FC236}">
                <a16:creationId xmlns:a16="http://schemas.microsoft.com/office/drawing/2014/main" id="{5A87E2B6-8488-4B1F-90B7-FED4BC3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38375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vb-50-value">
            <a:extLst xmlns:a="http://schemas.openxmlformats.org/drawingml/2006/main">
              <a:ext uri="{FF2B5EF4-FFF2-40B4-BE49-F238E27FC236}">
                <a16:creationId xmlns:a16="http://schemas.microsoft.com/office/drawing/2014/main" id="{8AD1AD19-9249-464B-89CC-F7EAD35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822B"/>
                </a:solidFill>
              </a:defRPr>
            </a:pPr>
            <a:r>
              <a:rPr sz="2100" b="1">
                <a:solidFill>
                  <a:srgbClr val="E9822B"/>
                </a:solidFill>
              </a:rPr>
              <a:t>0.50</a:t>
            </a:r>
          </a:p>
        </p:txBody>
      </p:sp>
      <p:sp>
        <p:nvSpPr>
          <p:cNvPr id="13" name="ivb-50-label">
            <a:extLst xmlns:a="http://schemas.openxmlformats.org/drawingml/2006/main">
              <a:ext uri="{FF2B5EF4-FFF2-40B4-BE49-F238E27FC236}">
                <a16:creationId xmlns:a16="http://schemas.microsoft.com/office/drawing/2014/main" id="{BE92CE99-F7DA-477D-9E92-F8D7293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47975"/>
            <a:ext cx="2657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目标相关性：物理模型较粗</a:t>
            </a:r>
          </a:p>
        </p:txBody>
      </p:sp>
      <p:sp>
        <p:nvSpPr>
          <p:cNvPr id="14" name="ivb-body">
            <a:extLst xmlns:a="http://schemas.openxmlformats.org/drawingml/2006/main">
              <a:ext uri="{FF2B5EF4-FFF2-40B4-BE49-F238E27FC236}">
                <a16:creationId xmlns:a16="http://schemas.microsoft.com/office/drawing/2014/main" id="{21E086C2-D09B-4FC0-A013-EE83475F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每次重复共享相同标签、物理噪声和测试集，只改变差异项幅度：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η = η_true + c_level · δ + ε_eta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这样可以把“物理信息质量”与“数据随机性”分开。</a:t>
            </a:r>
          </a:p>
        </p:txBody>
      </p:sp>
    </p:spTree>
    <p:extLst>
      <p:ext uri="{BB962C8B-B14F-4D97-AF65-F5344CB8AC3E}">
        <p14:creationId xmlns:p14="http://schemas.microsoft.com/office/powerpoint/2010/main" val="17696646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25">
            <a:extLst xmlns:a="http://schemas.openxmlformats.org/drawingml/2006/main">
              <a:ext uri="{FF2B5EF4-FFF2-40B4-BE49-F238E27FC236}">
                <a16:creationId xmlns:a16="http://schemas.microsoft.com/office/drawing/2014/main" id="{E0BEA073-6844-4D15-B215-AB99B88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C / REPRODUCTION</a:t>
            </a:r>
          </a:p>
        </p:txBody>
      </p:sp>
      <p:sp>
        <p:nvSpPr>
          <p:cNvPr id="2" name="full-title-25">
            <a:extLst xmlns:a="http://schemas.openxmlformats.org/drawingml/2006/main">
              <a:ext uri="{FF2B5EF4-FFF2-40B4-BE49-F238E27FC236}">
                <a16:creationId xmlns:a16="http://schemas.microsoft.com/office/drawing/2014/main" id="{C7F7CF47-7A57-4AED-9FAF-AC01F57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IV-C 不是重新训练一个“固定标签量”的 PWL 曲线</a:t>
            </a:r>
          </a:p>
        </p:txBody>
      </p:sp>
      <p:sp>
        <p:nvSpPr>
          <p:cNvPr id="3" name="full-subtitle-25">
            <a:extLst xmlns:a="http://schemas.openxmlformats.org/drawingml/2006/main">
              <a:ext uri="{FF2B5EF4-FFF2-40B4-BE49-F238E27FC236}">
                <a16:creationId xmlns:a16="http://schemas.microsoft.com/office/drawing/2014/main" id="{620EFADC-929E-4CE5-BE10-1BB5DCC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PWL 固定使用 30 个标签 + 100 个物理样本，监督模型逐步增加标签量。</a:t>
            </a:r>
          </a:p>
        </p:txBody>
      </p:sp>
      <p:sp>
        <p:nvSpPr>
          <p:cNvPr id="4" name="full-page-25">
            <a:extLst xmlns:a="http://schemas.openxmlformats.org/drawingml/2006/main">
              <a:ext uri="{FF2B5EF4-FFF2-40B4-BE49-F238E27FC236}">
                <a16:creationId xmlns:a16="http://schemas.microsoft.com/office/drawing/2014/main" id="{489B5DCE-51BD-48DF-8C73-AC774C7A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25</a:t>
            </a:r>
          </a:p>
        </p:txBody>
      </p:sp>
      <p:sp>
        <p:nvSpPr>
          <p:cNvPr id="5" name="ivc-pwl">
            <a:extLst xmlns:a="http://schemas.openxmlformats.org/drawingml/2006/main">
              <a:ext uri="{FF2B5EF4-FFF2-40B4-BE49-F238E27FC236}">
                <a16:creationId xmlns:a16="http://schemas.microsoft.com/office/drawing/2014/main" id="{440DF50F-FF46-4516-9079-E9E4B70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PWL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30 labels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+ 100 weak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在曲线上表现为固定水平线</a:t>
            </a:r>
          </a:p>
        </p:txBody>
      </p:sp>
      <p:sp>
        <p:nvSpPr>
          <p:cNvPr id="6" name="ivc-supervised">
            <a:extLst xmlns:a="http://schemas.openxmlformats.org/drawingml/2006/main">
              <a:ext uri="{FF2B5EF4-FFF2-40B4-BE49-F238E27FC236}">
                <a16:creationId xmlns:a16="http://schemas.microsoft.com/office/drawing/2014/main" id="{7AF84B02-70EB-446C-AA43-A5C8A126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监督基线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30, 40, …, 110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每个标签量选择平均 MSE 最低者</a:t>
            </a:r>
          </a:p>
        </p:txBody>
      </p:sp>
      <p:sp>
        <p:nvSpPr>
          <p:cNvPr id="7" name="ivc-test">
            <a:extLst xmlns:a="http://schemas.openxmlformats.org/drawingml/2006/main">
              <a:ext uri="{FF2B5EF4-FFF2-40B4-BE49-F238E27FC236}">
                <a16:creationId xmlns:a16="http://schemas.microsoft.com/office/drawing/2014/main" id="{0D3B90D4-A4B2-4415-9FC3-7ACB279F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3837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统计解释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配对单侧检验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+ 可选 TOST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“未显著不同”不等于“统计等效”</a:t>
            </a:r>
          </a:p>
        </p:txBody>
      </p:sp>
      <p:sp>
        <p:nvSpPr>
          <p:cNvPr id="8" name="ivc-note">
            <a:extLst xmlns:a="http://schemas.openxmlformats.org/drawingml/2006/main">
              <a:ext uri="{FF2B5EF4-FFF2-40B4-BE49-F238E27FC236}">
                <a16:creationId xmlns:a16="http://schemas.microsoft.com/office/drawing/2014/main" id="{0170F547-86DC-4C5D-A044-10C4270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A43"/>
                </a:solidFill>
              </a:defRPr>
            </a:pPr>
            <a:r>
              <a:rPr sz="1575" b="1">
                <a:solidFill>
                  <a:srgbClr val="B64A43"/>
                </a:solidFill>
              </a:rPr>
              <a:t>这一页的重点是实验定义，不能把曲线的视觉交叉直接解释成“节省了多少标签”。</a:t>
            </a:r>
          </a:p>
        </p:txBody>
      </p:sp>
    </p:spTree>
    <p:extLst>
      <p:ext uri="{BB962C8B-B14F-4D97-AF65-F5344CB8AC3E}">
        <p14:creationId xmlns:p14="http://schemas.microsoft.com/office/powerpoint/2010/main" val="16878426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ull-eyebrow-26">
            <a:extLst xmlns:a="http://schemas.openxmlformats.org/drawingml/2006/main">
              <a:ext uri="{FF2B5EF4-FFF2-40B4-BE49-F238E27FC236}">
                <a16:creationId xmlns:a16="http://schemas.microsoft.com/office/drawing/2014/main" id="{4E906EA3-8EE2-4074-935E-65168CD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C / REPRODUCTION</a:t>
            </a:r>
          </a:p>
        </p:txBody>
      </p:sp>
      <p:sp>
        <p:nvSpPr>
          <p:cNvPr id="2" name="full-title-26">
            <a:extLst xmlns:a="http://schemas.openxmlformats.org/drawingml/2006/main">
              <a:ext uri="{FF2B5EF4-FFF2-40B4-BE49-F238E27FC236}">
                <a16:creationId xmlns:a16="http://schemas.microsoft.com/office/drawing/2014/main" id="{E2A6AFB3-B379-4E15-8DF3-F593A82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复现输出不是一张图，而是一组可追溯制品</a:t>
            </a:r>
          </a:p>
        </p:txBody>
      </p:sp>
      <p:sp>
        <p:nvSpPr>
          <p:cNvPr id="3" name="full-subtitle-26">
            <a:extLst xmlns:a="http://schemas.openxmlformats.org/drawingml/2006/main">
              <a:ext uri="{FF2B5EF4-FFF2-40B4-BE49-F238E27FC236}">
                <a16:creationId xmlns:a16="http://schemas.microsoft.com/office/drawing/2014/main" id="{4E20367D-ACB1-4C69-9522-05A64EE9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从配置和种子开始，最后落到逐样本预测、汇总指标和统计检验。</a:t>
            </a:r>
          </a:p>
        </p:txBody>
      </p:sp>
      <p:sp>
        <p:nvSpPr>
          <p:cNvPr id="4" name="full-page-26">
            <a:extLst xmlns:a="http://schemas.openxmlformats.org/drawingml/2006/main">
              <a:ext uri="{FF2B5EF4-FFF2-40B4-BE49-F238E27FC236}">
                <a16:creationId xmlns:a16="http://schemas.microsoft.com/office/drawing/2014/main" id="{4C3DD45A-2411-4481-A693-58F78B6A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26</a:t>
            </a:r>
          </a:p>
        </p:txBody>
      </p:sp>
      <p:sp>
        <p:nvSpPr>
          <p:cNvPr id="5" name="outputs-0-0">
            <a:extLst xmlns:a="http://schemas.openxmlformats.org/drawingml/2006/main">
              <a:ext uri="{FF2B5EF4-FFF2-40B4-BE49-F238E27FC236}">
                <a16:creationId xmlns:a16="http://schemas.microsoft.com/office/drawing/2014/main" id="{156B58B6-B6B6-4F65-89C7-726C2AB8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制品</a:t>
            </a:r>
          </a:p>
        </p:txBody>
      </p:sp>
      <p:sp>
        <p:nvSpPr>
          <p:cNvPr id="6" name="outputs-0-1">
            <a:extLst xmlns:a="http://schemas.openxmlformats.org/drawingml/2006/main">
              <a:ext uri="{FF2B5EF4-FFF2-40B4-BE49-F238E27FC236}">
                <a16:creationId xmlns:a16="http://schemas.microsoft.com/office/drawing/2014/main" id="{04634D23-3275-4F78-BBC0-4A016F3D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002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7" name="outputs-1-0">
            <a:extLst xmlns:a="http://schemas.openxmlformats.org/drawingml/2006/main">
              <a:ext uri="{FF2B5EF4-FFF2-40B4-BE49-F238E27FC236}">
                <a16:creationId xmlns:a16="http://schemas.microsoft.com/office/drawing/2014/main" id="{B26DA39D-0345-479E-9710-64BA318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metadata.json</a:t>
            </a:r>
          </a:p>
        </p:txBody>
      </p:sp>
      <p:sp>
        <p:nvSpPr>
          <p:cNvPr id="8" name="outputs-1-1">
            <a:extLst xmlns:a="http://schemas.openxmlformats.org/drawingml/2006/main">
              <a:ext uri="{FF2B5EF4-FFF2-40B4-BE49-F238E27FC236}">
                <a16:creationId xmlns:a16="http://schemas.microsoft.com/office/drawing/2014/main" id="{2DF5DB46-1C71-49E5-BB7C-E9DCDB2E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完整 YAML 配置、环境、随机种子</a:t>
            </a:r>
          </a:p>
        </p:txBody>
      </p:sp>
      <p:sp>
        <p:nvSpPr>
          <p:cNvPr id="9" name="outputs-2-0">
            <a:extLst xmlns:a="http://schemas.openxmlformats.org/drawingml/2006/main">
              <a:ext uri="{FF2B5EF4-FFF2-40B4-BE49-F238E27FC236}">
                <a16:creationId xmlns:a16="http://schemas.microsoft.com/office/drawing/2014/main" id="{9220BDCC-1262-4DC5-96F3-5BCE43A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conditions.csv</a:t>
            </a:r>
          </a:p>
        </p:txBody>
      </p:sp>
      <p:sp>
        <p:nvSpPr>
          <p:cNvPr id="10" name="outputs-2-1">
            <a:extLst xmlns:a="http://schemas.openxmlformats.org/drawingml/2006/main">
              <a:ext uri="{FF2B5EF4-FFF2-40B4-BE49-F238E27FC236}">
                <a16:creationId xmlns:a16="http://schemas.microsoft.com/office/drawing/2014/main" id="{ADB07A1F-B262-46E3-AA59-167D137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908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数据条件、θ、噪声和相关性</a:t>
            </a:r>
          </a:p>
        </p:txBody>
      </p:sp>
      <p:sp>
        <p:nvSpPr>
          <p:cNvPr id="11" name="outputs-3-0">
            <a:extLst xmlns:a="http://schemas.openxmlformats.org/drawingml/2006/main">
              <a:ext uri="{FF2B5EF4-FFF2-40B4-BE49-F238E27FC236}">
                <a16:creationId xmlns:a16="http://schemas.microsoft.com/office/drawing/2014/main" id="{1E8EB4A7-3367-4BCE-8440-7F095AC7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results.csv / summary.csv</a:t>
            </a:r>
          </a:p>
        </p:txBody>
      </p:sp>
      <p:sp>
        <p:nvSpPr>
          <p:cNvPr id="12" name="outputs-3-1">
            <a:extLst xmlns:a="http://schemas.openxmlformats.org/drawingml/2006/main">
              <a:ext uri="{FF2B5EF4-FFF2-40B4-BE49-F238E27FC236}">
                <a16:creationId xmlns:a16="http://schemas.microsoft.com/office/drawing/2014/main" id="{8E941D1E-B293-4458-95FD-3E34727E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逐重复结果与均值/标准差</a:t>
            </a:r>
          </a:p>
        </p:txBody>
      </p:sp>
      <p:sp>
        <p:nvSpPr>
          <p:cNvPr id="13" name="outputs-4-0">
            <a:extLst xmlns:a="http://schemas.openxmlformats.org/drawingml/2006/main">
              <a:ext uri="{FF2B5EF4-FFF2-40B4-BE49-F238E27FC236}">
                <a16:creationId xmlns:a16="http://schemas.microsoft.com/office/drawing/2014/main" id="{DD0F4218-7AE6-48E9-975E-2294F73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predictions.csv.gz</a:t>
            </a:r>
          </a:p>
        </p:txBody>
      </p:sp>
      <p:sp>
        <p:nvSpPr>
          <p:cNvPr id="14" name="outputs-4-1">
            <a:extLst xmlns:a="http://schemas.openxmlformats.org/drawingml/2006/main">
              <a:ext uri="{FF2B5EF4-FFF2-40B4-BE49-F238E27FC236}">
                <a16:creationId xmlns:a16="http://schemas.microsoft.com/office/drawing/2014/main" id="{FC8A5056-4A04-472B-B437-B4341D2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814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逐测试样本真实值与预测值</a:t>
            </a:r>
          </a:p>
        </p:txBody>
      </p:sp>
      <p:sp>
        <p:nvSpPr>
          <p:cNvPr id="15" name="outputs-5-0">
            <a:extLst xmlns:a="http://schemas.openxmlformats.org/drawingml/2006/main">
              <a:ext uri="{FF2B5EF4-FFF2-40B4-BE49-F238E27FC236}">
                <a16:creationId xmlns:a16="http://schemas.microsoft.com/office/drawing/2014/main" id="{FAFF78BF-6DEF-490F-8A60-1FBB09A4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statistical_tests.csv</a:t>
            </a:r>
          </a:p>
        </p:txBody>
      </p:sp>
      <p:sp>
        <p:nvSpPr>
          <p:cNvPr id="16" name="outputs-5-1">
            <a:extLst xmlns:a="http://schemas.openxmlformats.org/drawingml/2006/main">
              <a:ext uri="{FF2B5EF4-FFF2-40B4-BE49-F238E27FC236}">
                <a16:creationId xmlns:a16="http://schemas.microsoft.com/office/drawing/2014/main" id="{B3406A6C-7150-4CCB-A27C-46FCC870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767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配对检验、Holm、TOST</a:t>
            </a:r>
          </a:p>
        </p:txBody>
      </p:sp>
      <p:sp>
        <p:nvSpPr>
          <p:cNvPr id="17" name="outputs-6-0">
            <a:extLst xmlns:a="http://schemas.openxmlformats.org/drawingml/2006/main">
              <a:ext uri="{FF2B5EF4-FFF2-40B4-BE49-F238E27FC236}">
                <a16:creationId xmlns:a16="http://schemas.microsoft.com/office/drawing/2014/main" id="{EC8ADABC-90BA-4304-AD08-1ADDCB5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3619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quality_checks.csv</a:t>
            </a:r>
          </a:p>
        </p:txBody>
      </p:sp>
      <p:sp>
        <p:nvSpPr>
          <p:cNvPr id="18" name="outputs-6-1">
            <a:extLst xmlns:a="http://schemas.openxmlformats.org/drawingml/2006/main">
              <a:ext uri="{FF2B5EF4-FFF2-40B4-BE49-F238E27FC236}">
                <a16:creationId xmlns:a16="http://schemas.microsoft.com/office/drawing/2014/main" id="{3CDC62B1-4074-4C62-B116-1DD1960A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72050"/>
            <a:ext cx="695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数值、收敛、协议趋势检查</a:t>
            </a:r>
          </a:p>
        </p:txBody>
      </p:sp>
      <p:sp>
        <p:nvSpPr>
          <p:cNvPr id="19" name="outputs-note">
            <a:extLst xmlns:a="http://schemas.openxmlformats.org/drawingml/2006/main">
              <a:ext uri="{FF2B5EF4-FFF2-40B4-BE49-F238E27FC236}">
                <a16:creationId xmlns:a16="http://schemas.microsoft.com/office/drawing/2014/main" id="{0B206709-7FBE-45CE-AC79-60D699D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“能跑出 RMSE”只是开始；完整复现需要能回到配置、数据和统计检验。</a:t>
            </a:r>
          </a:p>
        </p:txBody>
      </p:sp>
    </p:spTree>
    <p:extLst>
      <p:ext uri="{BB962C8B-B14F-4D97-AF65-F5344CB8AC3E}">
        <p14:creationId xmlns:p14="http://schemas.microsoft.com/office/powerpoint/2010/main" val="18321965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27">
            <a:extLst xmlns:a="http://schemas.openxmlformats.org/drawingml/2006/main">
              <a:ext uri="{FF2B5EF4-FFF2-40B4-BE49-F238E27FC236}">
                <a16:creationId xmlns:a16="http://schemas.microsoft.com/office/drawing/2014/main" id="{85271D63-1929-44A4-B8A2-ED70A0C1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D / COMSOL MIGRATION</a:t>
            </a:r>
          </a:p>
        </p:txBody>
      </p:sp>
      <p:sp>
        <p:nvSpPr>
          <p:cNvPr id="2" name="full-title-27">
            <a:extLst xmlns:a="http://schemas.openxmlformats.org/drawingml/2006/main">
              <a:ext uri="{FF2B5EF4-FFF2-40B4-BE49-F238E27FC236}">
                <a16:creationId xmlns:a16="http://schemas.microsoft.com/office/drawing/2014/main" id="{3760B799-3F4D-42B5-9CF0-C547B9D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迁移到 COMSOL 后，变化的是物理输入，不是求解器骨架</a:t>
            </a:r>
          </a:p>
        </p:txBody>
      </p:sp>
      <p:sp>
        <p:nvSpPr>
          <p:cNvPr id="3" name="full-subtitle-27">
            <a:extLst xmlns:a="http://schemas.openxmlformats.org/drawingml/2006/main">
              <a:ext uri="{FF2B5EF4-FFF2-40B4-BE49-F238E27FC236}">
                <a16:creationId xmlns:a16="http://schemas.microsoft.com/office/drawing/2014/main" id="{8979A5EB-D4C0-4FEC-9C30-ABE20726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把新的热传导输入映射到 x_ph / x_pr，再重新设计 H/B 和 θ 的解释。</a:t>
            </a:r>
          </a:p>
        </p:txBody>
      </p:sp>
      <p:sp>
        <p:nvSpPr>
          <p:cNvPr id="4" name="full-page-27">
            <a:extLst xmlns:a="http://schemas.openxmlformats.org/drawingml/2006/main">
              <a:ext uri="{FF2B5EF4-FFF2-40B4-BE49-F238E27FC236}">
                <a16:creationId xmlns:a16="http://schemas.microsoft.com/office/drawing/2014/main" id="{445CE6B3-755D-4C3C-B077-5F6E9AE8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27</a:t>
            </a:r>
          </a:p>
        </p:txBody>
      </p:sp>
      <p:sp>
        <p:nvSpPr>
          <p:cNvPr id="5" name="migration-old">
            <a:extLst xmlns:a="http://schemas.openxmlformats.org/drawingml/2006/main">
              <a:ext uri="{FF2B5EF4-FFF2-40B4-BE49-F238E27FC236}">
                <a16:creationId xmlns:a16="http://schemas.microsoft.com/office/drawing/2014/main" id="{4114E802-9D78-407B-98B5-758CD254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143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论文仿真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输入：抽象物理变量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输出：质量指标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H/B 是仿真场景的特征库</a:t>
            </a:r>
          </a:p>
        </p:txBody>
      </p:sp>
      <p:sp>
        <p:nvSpPr>
          <p:cNvPr id="6" name="migration-map">
            <a:extLst xmlns:a="http://schemas.openxmlformats.org/drawingml/2006/main">
              <a:ext uri="{FF2B5EF4-FFF2-40B4-BE49-F238E27FC236}">
                <a16:creationId xmlns:a16="http://schemas.microsoft.com/office/drawing/2014/main" id="{3B82D8F9-DD57-428B-B650-42A8A12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迁移层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COMSOL 字段 / 工况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→ 特征注册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→ H/B 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只改场景实例化</a:t>
            </a:r>
          </a:p>
        </p:txBody>
      </p:sp>
      <p:sp>
        <p:nvSpPr>
          <p:cNvPr id="7" name="migration-new">
            <a:extLst xmlns:a="http://schemas.openxmlformats.org/drawingml/2006/main">
              <a:ext uri="{FF2B5EF4-FFF2-40B4-BE49-F238E27FC236}">
                <a16:creationId xmlns:a16="http://schemas.microsoft.com/office/drawing/2014/main" id="{A5BAB85F-AC3D-4462-8A70-7892834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38375"/>
            <a:ext cx="3143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热传导场景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输入：热流、换热、环境温度、功率</a:t>
            </a:r>
          </a:p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输出：观测位置温度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继续用同一联合训练接口</a:t>
            </a:r>
          </a:p>
        </p:txBody>
      </p:sp>
      <p:sp>
        <p:nvSpPr>
          <p:cNvPr id="8" name="migration-note">
            <a:extLst xmlns:a="http://schemas.openxmlformats.org/drawingml/2006/main">
              <a:ext uri="{FF2B5EF4-FFF2-40B4-BE49-F238E27FC236}">
                <a16:creationId xmlns:a16="http://schemas.microsoft.com/office/drawing/2014/main" id="{FBB9FEA2-DCCC-490D-8B4D-CFA4AF80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迁移不是把论文里的数值直接搬过去，而是重新确认：物理变量、差异方向、基函数和参数是否可识别。</a:t>
            </a:r>
          </a:p>
        </p:txBody>
      </p:sp>
    </p:spTree>
    <p:extLst>
      <p:ext uri="{BB962C8B-B14F-4D97-AF65-F5344CB8AC3E}">
        <p14:creationId xmlns:p14="http://schemas.microsoft.com/office/powerpoint/2010/main" val="10919865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ull-eyebrow-28">
            <a:extLst xmlns:a="http://schemas.openxmlformats.org/drawingml/2006/main">
              <a:ext uri="{FF2B5EF4-FFF2-40B4-BE49-F238E27FC236}">
                <a16:creationId xmlns:a16="http://schemas.microsoft.com/office/drawing/2014/main" id="{0E16BB5F-CD52-4F95-8F93-96F1E940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D / COMSOL MIGRATION</a:t>
            </a:r>
          </a:p>
        </p:txBody>
      </p:sp>
      <p:sp>
        <p:nvSpPr>
          <p:cNvPr id="2" name="full-title-28">
            <a:extLst xmlns:a="http://schemas.openxmlformats.org/drawingml/2006/main">
              <a:ext uri="{FF2B5EF4-FFF2-40B4-BE49-F238E27FC236}">
                <a16:creationId xmlns:a16="http://schemas.microsoft.com/office/drawing/2014/main" id="{1759123B-7A64-4833-8CF4-48D4C5C9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COMSOL 热传导中的变量角色必须先讲清楚</a:t>
            </a:r>
          </a:p>
        </p:txBody>
      </p:sp>
      <p:sp>
        <p:nvSpPr>
          <p:cNvPr id="3" name="full-subtitle-28">
            <a:extLst xmlns:a="http://schemas.openxmlformats.org/drawingml/2006/main">
              <a:ext uri="{FF2B5EF4-FFF2-40B4-BE49-F238E27FC236}">
                <a16:creationId xmlns:a16="http://schemas.microsoft.com/office/drawing/2014/main" id="{2716F38C-F425-4E35-9981-DEF25658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θ 在当前场景中更稳妥的解释是校准/扰动参数，不自动等同于材料热导率。</a:t>
            </a:r>
          </a:p>
        </p:txBody>
      </p:sp>
      <p:sp>
        <p:nvSpPr>
          <p:cNvPr id="4" name="full-page-28">
            <a:extLst xmlns:a="http://schemas.openxmlformats.org/drawingml/2006/main">
              <a:ext uri="{FF2B5EF4-FFF2-40B4-BE49-F238E27FC236}">
                <a16:creationId xmlns:a16="http://schemas.microsoft.com/office/drawing/2014/main" id="{7701E135-3E50-4E3C-8091-99714B62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28</a:t>
            </a:r>
          </a:p>
        </p:txBody>
      </p:sp>
      <p:sp>
        <p:nvSpPr>
          <p:cNvPr id="5" name="heat-map-0-0">
            <a:extLst xmlns:a="http://schemas.openxmlformats.org/drawingml/2006/main">
              <a:ext uri="{FF2B5EF4-FFF2-40B4-BE49-F238E27FC236}">
                <a16:creationId xmlns:a16="http://schemas.microsoft.com/office/drawing/2014/main" id="{E3078A24-D3E3-4720-B494-D131464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PWL 角色</a:t>
            </a:r>
          </a:p>
        </p:txBody>
      </p:sp>
      <p:sp>
        <p:nvSpPr>
          <p:cNvPr id="6" name="heat-map-0-1">
            <a:extLst xmlns:a="http://schemas.openxmlformats.org/drawingml/2006/main">
              <a:ext uri="{FF2B5EF4-FFF2-40B4-BE49-F238E27FC236}">
                <a16:creationId xmlns:a16="http://schemas.microsoft.com/office/drawing/2014/main" id="{97B536D3-4BF2-4D45-BCF2-8CEB074C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热传导示例</a:t>
            </a:r>
          </a:p>
        </p:txBody>
      </p:sp>
      <p:sp>
        <p:nvSpPr>
          <p:cNvPr id="7" name="heat-map-1-0">
            <a:extLst xmlns:a="http://schemas.openxmlformats.org/drawingml/2006/main">
              <a:ext uri="{FF2B5EF4-FFF2-40B4-BE49-F238E27FC236}">
                <a16:creationId xmlns:a16="http://schemas.microsoft.com/office/drawing/2014/main" id="{311CA7AA-E67A-4D0C-AA38-7262FBA7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x_ph</a:t>
            </a:r>
          </a:p>
        </p:txBody>
      </p:sp>
      <p:sp>
        <p:nvSpPr>
          <p:cNvPr id="8" name="heat-map-1-1">
            <a:extLst xmlns:a="http://schemas.openxmlformats.org/drawingml/2006/main">
              <a:ext uri="{FF2B5EF4-FFF2-40B4-BE49-F238E27FC236}">
                <a16:creationId xmlns:a16="http://schemas.microsoft.com/office/drawing/2014/main" id="{8D7CA39A-7733-455A-A971-63A8056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479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热流、换热系数、环境温度、功率</a:t>
            </a:r>
          </a:p>
        </p:txBody>
      </p:sp>
      <p:sp>
        <p:nvSpPr>
          <p:cNvPr id="9" name="heat-map-2-0">
            <a:extLst xmlns:a="http://schemas.openxmlformats.org/drawingml/2006/main">
              <a:ext uri="{FF2B5EF4-FFF2-40B4-BE49-F238E27FC236}">
                <a16:creationId xmlns:a16="http://schemas.microsoft.com/office/drawing/2014/main" id="{932A23B9-EACA-40FF-B57A-681CFDD5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x_pr</a:t>
            </a:r>
          </a:p>
        </p:txBody>
      </p:sp>
      <p:sp>
        <p:nvSpPr>
          <p:cNvPr id="10" name="heat-map-2-1">
            <a:extLst xmlns:a="http://schemas.openxmlformats.org/drawingml/2006/main">
              <a:ext uri="{FF2B5EF4-FFF2-40B4-BE49-F238E27FC236}">
                <a16:creationId xmlns:a16="http://schemas.microsoft.com/office/drawing/2014/main" id="{55DBF996-F4DB-4D85-A00E-5EF5A0FE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432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当前工况、位置或观测条件</a:t>
            </a:r>
          </a:p>
        </p:txBody>
      </p:sp>
      <p:sp>
        <p:nvSpPr>
          <p:cNvPr id="11" name="heat-map-3-0">
            <a:extLst xmlns:a="http://schemas.openxmlformats.org/drawingml/2006/main">
              <a:ext uri="{FF2B5EF4-FFF2-40B4-BE49-F238E27FC236}">
                <a16:creationId xmlns:a16="http://schemas.microsoft.com/office/drawing/2014/main" id="{1D8B2626-0746-4CDD-AB46-43C092F1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385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H</a:t>
            </a:r>
          </a:p>
        </p:txBody>
      </p:sp>
      <p:sp>
        <p:nvSpPr>
          <p:cNvPr id="12" name="heat-map-3-1">
            <a:extLst xmlns:a="http://schemas.openxmlformats.org/drawingml/2006/main">
              <a:ext uri="{FF2B5EF4-FFF2-40B4-BE49-F238E27FC236}">
                <a16:creationId xmlns:a16="http://schemas.microsoft.com/office/drawing/2014/main" id="{ECA153A4-20E4-4E2D-AE6C-D24DC33A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385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低保真热传导关系的基函数矩阵</a:t>
            </a:r>
          </a:p>
        </p:txBody>
      </p:sp>
      <p:sp>
        <p:nvSpPr>
          <p:cNvPr id="13" name="heat-map-4-0">
            <a:extLst xmlns:a="http://schemas.openxmlformats.org/drawingml/2006/main">
              <a:ext uri="{FF2B5EF4-FFF2-40B4-BE49-F238E27FC236}">
                <a16:creationId xmlns:a16="http://schemas.microsoft.com/office/drawing/2014/main" id="{394EDBEC-E267-4E63-B846-5478994D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338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B</a:t>
            </a:r>
          </a:p>
        </p:txBody>
      </p:sp>
      <p:sp>
        <p:nvSpPr>
          <p:cNvPr id="14" name="heat-map-4-1">
            <a:extLst xmlns:a="http://schemas.openxmlformats.org/drawingml/2006/main">
              <a:ext uri="{FF2B5EF4-FFF2-40B4-BE49-F238E27FC236}">
                <a16:creationId xmlns:a16="http://schemas.microsoft.com/office/drawing/2014/main" id="{434369ED-6CF7-499F-9129-8B476376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338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COMSOL 结果与简化物理之间的差异特征</a:t>
            </a:r>
          </a:p>
        </p:txBody>
      </p:sp>
      <p:sp>
        <p:nvSpPr>
          <p:cNvPr id="15" name="heat-map-5-0">
            <a:extLst xmlns:a="http://schemas.openxmlformats.org/drawingml/2006/main">
              <a:ext uri="{FF2B5EF4-FFF2-40B4-BE49-F238E27FC236}">
                <a16:creationId xmlns:a16="http://schemas.microsoft.com/office/drawing/2014/main" id="{7F2F0822-43F4-4323-AF89-FD24ED9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θ</a:t>
            </a:r>
          </a:p>
        </p:txBody>
      </p:sp>
      <p:sp>
        <p:nvSpPr>
          <p:cNvPr id="16" name="heat-map-5-1">
            <a:extLst xmlns:a="http://schemas.openxmlformats.org/drawingml/2006/main">
              <a:ext uri="{FF2B5EF4-FFF2-40B4-BE49-F238E27FC236}">
                <a16:creationId xmlns:a16="http://schemas.microsoft.com/office/drawing/2014/main" id="{DB6A6700-63EE-45BC-A45B-5284DD1A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用于校准预测的模型参数 / 等效热阻相关参数</a:t>
            </a:r>
          </a:p>
        </p:txBody>
      </p:sp>
      <p:sp>
        <p:nvSpPr>
          <p:cNvPr id="17" name="heat-map-6-0">
            <a:extLst xmlns:a="http://schemas.openxmlformats.org/drawingml/2006/main">
              <a:ext uri="{FF2B5EF4-FFF2-40B4-BE49-F238E27FC236}">
                <a16:creationId xmlns:a16="http://schemas.microsoft.com/office/drawing/2014/main" id="{13350B57-6B23-41A3-9F5A-C08076F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244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y</a:t>
            </a:r>
          </a:p>
        </p:txBody>
      </p:sp>
      <p:sp>
        <p:nvSpPr>
          <p:cNvPr id="18" name="heat-map-6-1">
            <a:extLst xmlns:a="http://schemas.openxmlformats.org/drawingml/2006/main">
              <a:ext uri="{FF2B5EF4-FFF2-40B4-BE49-F238E27FC236}">
                <a16:creationId xmlns:a16="http://schemas.microsoft.com/office/drawing/2014/main" id="{7EA883DA-056D-4A1B-9286-84FABAC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244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观测位置的温度或温度场统计量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d5b8969474bbd"/>
          <a:stretch xmlns:a="http://schemas.openxmlformats.org/drawingml/2006/main"/>
        </p:blipFill>
        <p:spPr>
          <a:xfrm xmlns:a="http://schemas.openxmlformats.org/drawingml/2006/main">
            <a:off x="495300" y="2416228"/>
            <a:ext cx="4953000" cy="2787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797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29">
            <a:extLst xmlns:a="http://schemas.openxmlformats.org/drawingml/2006/main">
              <a:ext uri="{FF2B5EF4-FFF2-40B4-BE49-F238E27FC236}">
                <a16:creationId xmlns:a16="http://schemas.microsoft.com/office/drawing/2014/main" id="{66101536-CFB0-4E31-8B82-9E08986D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D / COMSOL MIGRATION</a:t>
            </a:r>
          </a:p>
        </p:txBody>
      </p:sp>
      <p:sp>
        <p:nvSpPr>
          <p:cNvPr id="2" name="full-title-29">
            <a:extLst xmlns:a="http://schemas.openxmlformats.org/drawingml/2006/main">
              <a:ext uri="{FF2B5EF4-FFF2-40B4-BE49-F238E27FC236}">
                <a16:creationId xmlns:a16="http://schemas.microsoft.com/office/drawing/2014/main" id="{D85FA114-A14D-43F9-9924-F159834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迁移后的场景特征包括两列关键机理项</a:t>
            </a:r>
          </a:p>
        </p:txBody>
      </p:sp>
      <p:sp>
        <p:nvSpPr>
          <p:cNvPr id="3" name="full-subtitle-29">
            <a:extLst xmlns:a="http://schemas.openxmlformats.org/drawingml/2006/main">
              <a:ext uri="{FF2B5EF4-FFF2-40B4-BE49-F238E27FC236}">
                <a16:creationId xmlns:a16="http://schemas.microsoft.com/office/drawing/2014/main" id="{0376883A-7B13-412B-8EAA-0533057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v3 的 q_int 相关列主要影响大样本端的模型类偏差，而不是小样本端。</a:t>
            </a:r>
          </a:p>
        </p:txBody>
      </p:sp>
      <p:sp>
        <p:nvSpPr>
          <p:cNvPr id="4" name="full-page-29">
            <a:extLst xmlns:a="http://schemas.openxmlformats.org/drawingml/2006/main">
              <a:ext uri="{FF2B5EF4-FFF2-40B4-BE49-F238E27FC236}">
                <a16:creationId xmlns:a16="http://schemas.microsoft.com/office/drawing/2014/main" id="{01458DF1-9EAE-45AB-9D83-899CCF0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29</a:t>
            </a:r>
          </a:p>
        </p:txBody>
      </p:sp>
      <p:sp>
        <p:nvSpPr>
          <p:cNvPr id="5" name="feature-q">
            <a:extLst xmlns:a="http://schemas.openxmlformats.org/drawingml/2006/main">
              <a:ext uri="{FF2B5EF4-FFF2-40B4-BE49-F238E27FC236}">
                <a16:creationId xmlns:a16="http://schemas.microsoft.com/office/drawing/2014/main" id="{B5457D61-BC20-4DC8-9946-C3673945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低保真物理输入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q、h、T∞、P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进入 H 分支，保留主趋势</a:t>
            </a:r>
          </a:p>
        </p:txBody>
      </p:sp>
      <p:sp>
        <p:nvSpPr>
          <p:cNvPr id="6" name="feature-qint">
            <a:extLst xmlns:a="http://schemas.openxmlformats.org/drawingml/2006/main">
              <a:ext uri="{FF2B5EF4-FFF2-40B4-BE49-F238E27FC236}">
                <a16:creationId xmlns:a16="http://schemas.microsoft.com/office/drawing/2014/main" id="{2BCB2537-A358-4B93-BF76-3B07CCD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机理列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q_int × P⁻⁰·⁷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q_int / (1+hL/k) × P⁻⁰·⁷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进入场景化特征库</a:t>
            </a:r>
          </a:p>
        </p:txBody>
      </p:sp>
      <p:sp>
        <p:nvSpPr>
          <p:cNvPr id="7" name="feature-B">
            <a:extLst xmlns:a="http://schemas.openxmlformats.org/drawingml/2006/main">
              <a:ext uri="{FF2B5EF4-FFF2-40B4-BE49-F238E27FC236}">
                <a16:creationId xmlns:a16="http://schemas.microsoft.com/office/drawing/2014/main" id="{EA250964-675A-4C0A-AD65-A24FD3A7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差异补偿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B(x_pr,x_ph)d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承担简化物理模型没有覆盖的方向</a:t>
            </a:r>
          </a:p>
        </p:txBody>
      </p:sp>
      <p:sp>
        <p:nvSpPr>
          <p:cNvPr id="8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FDBA24DB-4685-4F02-8CD0-18E0C5F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特征工程的判断标准：不是“把变量都加进去”，而是给每一列一个可解释的来源，并能通过消融验证它是否真的承担了某个作用。</a:t>
            </a:r>
          </a:p>
        </p:txBody>
      </p:sp>
    </p:spTree>
    <p:extLst>
      <p:ext uri="{BB962C8B-B14F-4D97-AF65-F5344CB8AC3E}">
        <p14:creationId xmlns:p14="http://schemas.microsoft.com/office/powerpoint/2010/main" val="5929995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full-eyebrow-30">
            <a:extLst xmlns:a="http://schemas.openxmlformats.org/drawingml/2006/main">
              <a:ext uri="{FF2B5EF4-FFF2-40B4-BE49-F238E27FC236}">
                <a16:creationId xmlns:a16="http://schemas.microsoft.com/office/drawing/2014/main" id="{D8240CE7-D388-48C5-863E-2CBB1041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D / COMSOL MIGRATION</a:t>
            </a:r>
          </a:p>
        </p:txBody>
      </p:sp>
      <p:sp>
        <p:nvSpPr>
          <p:cNvPr id="2" name="full-title-30">
            <a:extLst xmlns:a="http://schemas.openxmlformats.org/drawingml/2006/main">
              <a:ext uri="{FF2B5EF4-FFF2-40B4-BE49-F238E27FC236}">
                <a16:creationId xmlns:a16="http://schemas.microsoft.com/office/drawing/2014/main" id="{A69181B5-A632-4A4F-A82A-1AF6F31A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20 批扩展先证明数据链路连续，再讨论模型优势</a:t>
            </a:r>
          </a:p>
        </p:txBody>
      </p:sp>
      <p:sp>
        <p:nvSpPr>
          <p:cNvPr id="3" name="full-subtitle-30">
            <a:extLst xmlns:a="http://schemas.openxmlformats.org/drawingml/2006/main">
              <a:ext uri="{FF2B5EF4-FFF2-40B4-BE49-F238E27FC236}">
                <a16:creationId xmlns:a16="http://schemas.microsoft.com/office/drawing/2014/main" id="{4C7B7B1C-F9A9-4F97-8233-53837A12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批次 1–10 与冻结基线逐值一致，新增批次 11–20 使用独立种子。</a:t>
            </a:r>
          </a:p>
        </p:txBody>
      </p:sp>
      <p:sp>
        <p:nvSpPr>
          <p:cNvPr id="4" name="full-page-30">
            <a:extLst xmlns:a="http://schemas.openxmlformats.org/drawingml/2006/main">
              <a:ext uri="{FF2B5EF4-FFF2-40B4-BE49-F238E27FC236}">
                <a16:creationId xmlns:a16="http://schemas.microsoft.com/office/drawing/2014/main" id="{812CEC9C-E5E8-4C45-8125-31EC93A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30</a:t>
            </a:r>
          </a:p>
        </p:txBody>
      </p:sp>
      <p:sp>
        <p:nvSpPr>
          <p:cNvPr id="5" name="accept-box">
            <a:extLst xmlns:a="http://schemas.openxmlformats.org/drawingml/2006/main">
              <a:ext uri="{FF2B5EF4-FFF2-40B4-BE49-F238E27FC236}">
                <a16:creationId xmlns:a16="http://schemas.microsoft.com/office/drawing/2014/main" id="{3FBEBD44-C68A-4200-9A15-5CD80B3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cept-value">
            <a:extLst xmlns:a="http://schemas.openxmlformats.org/drawingml/2006/main">
              <a:ext uri="{FF2B5EF4-FFF2-40B4-BE49-F238E27FC236}">
                <a16:creationId xmlns:a16="http://schemas.microsoft.com/office/drawing/2014/main" id="{4B552EEE-A733-46F5-84E7-D86D05E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B2"/>
                </a:solidFill>
              </a:defRPr>
            </a:pPr>
            <a:r>
              <a:rPr sz="2100" b="1">
                <a:solidFill>
                  <a:srgbClr val="1F6FB2"/>
                </a:solidFill>
              </a:rPr>
              <a:t>20 / 20</a:t>
            </a:r>
          </a:p>
        </p:txBody>
      </p:sp>
      <p:sp>
        <p:nvSpPr>
          <p:cNvPr id="7" name="accept-label">
            <a:extLst xmlns:a="http://schemas.openxmlformats.org/drawingml/2006/main">
              <a:ext uri="{FF2B5EF4-FFF2-40B4-BE49-F238E27FC236}">
                <a16:creationId xmlns:a16="http://schemas.microsoft.com/office/drawing/2014/main" id="{B250D0A6-5189-4925-A195-13352DB4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2038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数据层验收通过</a:t>
            </a:r>
          </a:p>
        </p:txBody>
      </p:sp>
      <p:sp>
        <p:nvSpPr>
          <p:cNvPr id="8" name="continuity-box">
            <a:extLst xmlns:a="http://schemas.openxmlformats.org/drawingml/2006/main">
              <a:ext uri="{FF2B5EF4-FFF2-40B4-BE49-F238E27FC236}">
                <a16:creationId xmlns:a16="http://schemas.microsoft.com/office/drawing/2014/main" id="{86AA1EF0-2A51-400D-992D-B222A1C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43125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inuity-value">
            <a:extLst xmlns:a="http://schemas.openxmlformats.org/drawingml/2006/main">
              <a:ext uri="{FF2B5EF4-FFF2-40B4-BE49-F238E27FC236}">
                <a16:creationId xmlns:a16="http://schemas.microsoft.com/office/drawing/2014/main" id="{0EB810D7-344F-4F6A-A48F-E1221258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9AAB"/>
                </a:solidFill>
              </a:defRPr>
            </a:pPr>
            <a:r>
              <a:rPr sz="2100" b="1">
                <a:solidFill>
                  <a:srgbClr val="159AAB"/>
                </a:solidFill>
              </a:rPr>
              <a:t>1e−13</a:t>
            </a:r>
          </a:p>
        </p:txBody>
      </p:sp>
      <p:sp>
        <p:nvSpPr>
          <p:cNvPr id="10" name="continuity-label">
            <a:extLst xmlns:a="http://schemas.openxmlformats.org/drawingml/2006/main">
              <a:ext uri="{FF2B5EF4-FFF2-40B4-BE49-F238E27FC236}">
                <a16:creationId xmlns:a16="http://schemas.microsoft.com/office/drawing/2014/main" id="{DDDEA1BA-847B-498B-9A37-0F823B6A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52725"/>
            <a:ext cx="2038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批次 1–10 与 10 批基线最大差值</a:t>
            </a:r>
          </a:p>
        </p:txBody>
      </p:sp>
      <p:sp>
        <p:nvSpPr>
          <p:cNvPr id="11" name="noise-box">
            <a:extLst xmlns:a="http://schemas.openxmlformats.org/drawingml/2006/main">
              <a:ext uri="{FF2B5EF4-FFF2-40B4-BE49-F238E27FC236}">
                <a16:creationId xmlns:a16="http://schemas.microsoft.com/office/drawing/2014/main" id="{C12AB96B-AB56-4E76-9686-F4F4E965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ise-value">
            <a:extLst xmlns:a="http://schemas.openxmlformats.org/drawingml/2006/main">
              <a:ext uri="{FF2B5EF4-FFF2-40B4-BE49-F238E27FC236}">
                <a16:creationId xmlns:a16="http://schemas.microsoft.com/office/drawing/2014/main" id="{78C3C0DB-D2E6-40CE-9D55-E0BBE40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4.494 K</a:t>
            </a:r>
          </a:p>
        </p:txBody>
      </p:sp>
      <p:sp>
        <p:nvSpPr>
          <p:cNvPr id="13" name="noise-label">
            <a:extLst xmlns:a="http://schemas.openxmlformats.org/drawingml/2006/main">
              <a:ext uri="{FF2B5EF4-FFF2-40B4-BE49-F238E27FC236}">
                <a16:creationId xmlns:a16="http://schemas.microsoft.com/office/drawing/2014/main" id="{320EF421-1D25-47FF-BD4D-664BBC5D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52725"/>
            <a:ext cx="2038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统一噪声标准差</a:t>
            </a:r>
          </a:p>
        </p:txBody>
      </p:sp>
      <p:sp>
        <p:nvSpPr>
          <p:cNvPr id="14" name="quality-box">
            <a:extLst xmlns:a="http://schemas.openxmlformats.org/drawingml/2006/main">
              <a:ext uri="{FF2B5EF4-FFF2-40B4-BE49-F238E27FC236}">
                <a16:creationId xmlns:a16="http://schemas.microsoft.com/office/drawing/2014/main" id="{C6EFEE77-05C8-4331-B477-FD753F3C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ality-value">
            <a:extLst xmlns:a="http://schemas.openxmlformats.org/drawingml/2006/main">
              <a:ext uri="{FF2B5EF4-FFF2-40B4-BE49-F238E27FC236}">
                <a16:creationId xmlns:a16="http://schemas.microsoft.com/office/drawing/2014/main" id="{5C404797-7381-4A96-A600-AB8F0DD6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822B"/>
                </a:solidFill>
              </a:defRPr>
            </a:pPr>
            <a:r>
              <a:rPr sz="2100" b="1">
                <a:solidFill>
                  <a:srgbClr val="E9822B"/>
                </a:solidFill>
              </a:rPr>
              <a:t>1.000</a:t>
            </a:r>
          </a:p>
        </p:txBody>
      </p:sp>
      <p:sp>
        <p:nvSpPr>
          <p:cNvPr id="16" name="quality-label">
            <a:extLst xmlns:a="http://schemas.openxmlformats.org/drawingml/2006/main">
              <a:ext uri="{FF2B5EF4-FFF2-40B4-BE49-F238E27FC236}">
                <a16:creationId xmlns:a16="http://schemas.microsoft.com/office/drawing/2014/main" id="{CF575D86-1A53-4EB8-8C69-8E938A74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52725"/>
            <a:ext cx="2038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D424A"/>
                </a:solidFill>
              </a:defRPr>
            </a:pPr>
            <a:r>
              <a:rPr sz="1200">
                <a:solidFill>
                  <a:srgbClr val="3D424A"/>
                </a:solidFill>
              </a:rPr>
              <a:t>收敛率；无效候选率 0.2475</a:t>
            </a:r>
          </a:p>
        </p:txBody>
      </p:sp>
      <p:sp>
        <p:nvSpPr>
          <p:cNvPr id="17" name="accept-body">
            <a:extLst xmlns:a="http://schemas.openxmlformats.org/drawingml/2006/main">
              <a:ext uri="{FF2B5EF4-FFF2-40B4-BE49-F238E27FC236}">
                <a16:creationId xmlns:a16="http://schemas.microsoft.com/office/drawing/2014/main" id="{46B7D597-579C-4E19-B43C-23315CEF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连续性检查的意义：如果扩展批次改变了前 10 批的结果，就不能把 20 批结论看成 10 批基线的独立扩展。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当前结论：数据链路通过；无效候选率贴近 0.25 门槛，仍需监控。</a:t>
            </a:r>
          </a:p>
        </p:txBody>
      </p:sp>
    </p:spTree>
    <p:extLst>
      <p:ext uri="{BB962C8B-B14F-4D97-AF65-F5344CB8AC3E}">
        <p14:creationId xmlns:p14="http://schemas.microsoft.com/office/powerpoint/2010/main" val="20049528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ull-eyebrow-31">
            <a:extLst xmlns:a="http://schemas.openxmlformats.org/drawingml/2006/main">
              <a:ext uri="{FF2B5EF4-FFF2-40B4-BE49-F238E27FC236}">
                <a16:creationId xmlns:a16="http://schemas.microsoft.com/office/drawing/2014/main" id="{C22A2224-E58A-4F71-892C-F67964A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E / RESULTS</a:t>
            </a:r>
          </a:p>
        </p:txBody>
      </p:sp>
      <p:sp>
        <p:nvSpPr>
          <p:cNvPr id="2" name="full-title-31">
            <a:extLst xmlns:a="http://schemas.openxmlformats.org/drawingml/2006/main">
              <a:ext uri="{FF2B5EF4-FFF2-40B4-BE49-F238E27FC236}">
                <a16:creationId xmlns:a16="http://schemas.microsoft.com/office/drawing/2014/main" id="{F5563AA9-BD49-4BF5-988A-56A0E4D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20 批结果：PWL 在 12 个标签档的均值都更低</a:t>
            </a:r>
          </a:p>
        </p:txBody>
      </p:sp>
      <p:sp>
        <p:nvSpPr>
          <p:cNvPr id="3" name="full-subtitle-31">
            <a:extLst xmlns:a="http://schemas.openxmlformats.org/drawingml/2006/main">
              <a:ext uri="{FF2B5EF4-FFF2-40B4-BE49-F238E27FC236}">
                <a16:creationId xmlns:a16="http://schemas.microsoft.com/office/drawing/2014/main" id="{9854D01A-97E8-4C7F-8330-3D9ADBDE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图中使用 20 批闭环结果；单位为测试 RMSE（K）。</a:t>
            </a:r>
          </a:p>
        </p:txBody>
      </p:sp>
      <p:sp>
        <p:nvSpPr>
          <p:cNvPr id="4" name="full-page-31">
            <a:extLst xmlns:a="http://schemas.openxmlformats.org/drawingml/2006/main">
              <a:ext uri="{FF2B5EF4-FFF2-40B4-BE49-F238E27FC236}">
                <a16:creationId xmlns:a16="http://schemas.microsoft.com/office/drawing/2014/main" id="{5B69C17C-6938-4CFB-A892-4E42F5F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aba1e84a5404c"/>
          <a:stretch xmlns:a="http://schemas.openxmlformats.org/drawingml/2006/main"/>
        </p:blipFill>
        <p:spPr>
          <a:xfrm xmlns:a="http://schemas.openxmlformats.org/drawingml/2006/main">
            <a:off x="711777" y="1809750"/>
            <a:ext cx="7091795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rmse20-side">
            <a:extLst xmlns:a="http://schemas.openxmlformats.org/drawingml/2006/main">
              <a:ext uri="{FF2B5EF4-FFF2-40B4-BE49-F238E27FC236}">
                <a16:creationId xmlns:a16="http://schemas.microsoft.com/office/drawing/2014/main" id="{86C092C8-F166-4011-984C-96B4AAE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2619375" cy="3286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@10</a:t>
            </a:r>
          </a:p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PWL 7.678</a:t>
            </a:r>
          </a:p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Physics-GP 8.870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@120</a:t>
            </a:r>
          </a:p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PWL 5.351</a:t>
            </a:r>
          </a:p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Physics-GP 5.648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D424A"/>
                </a:solidFill>
              </a:defRPr>
            </a:pPr>
            <a:r>
              <a:rPr sz="1500" b="0">
                <a:solidFill>
                  <a:srgbClr val="3D424A"/>
                </a:solidFill>
              </a:rPr>
              <a:t>12 / 12 标签档均值最优</a:t>
            </a:r>
          </a:p>
        </p:txBody>
      </p:sp>
      <p:sp>
        <p:nvSpPr>
          <p:cNvPr id="7" name="rmse20-note">
            <a:extLst xmlns:a="http://schemas.openxmlformats.org/drawingml/2006/main">
              <a:ext uri="{FF2B5EF4-FFF2-40B4-BE49-F238E27FC236}">
                <a16:creationId xmlns:a16="http://schemas.microsoft.com/office/drawing/2014/main" id="{665EEB82-1AE0-497C-A1DA-37823D3A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读图方式：先看整体下降趋势，再看 PWL 与 Physics-GP 的间距；不要把误差条直接读成显著性检验。</a:t>
            </a:r>
          </a:p>
        </p:txBody>
      </p:sp>
    </p:spTree>
    <p:extLst>
      <p:ext uri="{BB962C8B-B14F-4D97-AF65-F5344CB8AC3E}">
        <p14:creationId xmlns:p14="http://schemas.microsoft.com/office/powerpoint/2010/main" val="2801381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full-eyebrow-32">
            <a:extLst xmlns:a="http://schemas.openxmlformats.org/drawingml/2006/main">
              <a:ext uri="{FF2B5EF4-FFF2-40B4-BE49-F238E27FC236}">
                <a16:creationId xmlns:a16="http://schemas.microsoft.com/office/drawing/2014/main" id="{8B584081-D2D8-436A-AE19-36CDB029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E / RESULTS</a:t>
            </a:r>
          </a:p>
        </p:txBody>
      </p:sp>
      <p:sp>
        <p:nvSpPr>
          <p:cNvPr id="2" name="full-title-32">
            <a:extLst xmlns:a="http://schemas.openxmlformats.org/drawingml/2006/main">
              <a:ext uri="{FF2B5EF4-FFF2-40B4-BE49-F238E27FC236}">
                <a16:creationId xmlns:a16="http://schemas.microsoft.com/office/drawing/2014/main" id="{8920B32F-E88F-4006-A9AF-27888BA0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20 批结果的主结论是“均值优势趋势”，不是“校正后显著”</a:t>
            </a:r>
          </a:p>
        </p:txBody>
      </p:sp>
      <p:sp>
        <p:nvSpPr>
          <p:cNvPr id="3" name="full-subtitle-32">
            <a:extLst xmlns:a="http://schemas.openxmlformats.org/drawingml/2006/main">
              <a:ext uri="{FF2B5EF4-FFF2-40B4-BE49-F238E27FC236}">
                <a16:creationId xmlns:a16="http://schemas.microsoft.com/office/drawing/2014/main" id="{1AF06832-8B3D-4890-AE30-38BD8CB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统计检验的结果和均值排名必须同时展示。</a:t>
            </a:r>
          </a:p>
        </p:txBody>
      </p:sp>
      <p:sp>
        <p:nvSpPr>
          <p:cNvPr id="4" name="full-page-32">
            <a:extLst xmlns:a="http://schemas.openxmlformats.org/drawingml/2006/main">
              <a:ext uri="{FF2B5EF4-FFF2-40B4-BE49-F238E27FC236}">
                <a16:creationId xmlns:a16="http://schemas.microsoft.com/office/drawing/2014/main" id="{4C5F5603-9D3C-448D-AD81-3FCFB38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32</a:t>
            </a:r>
          </a:p>
        </p:txBody>
      </p:sp>
      <p:sp>
        <p:nvSpPr>
          <p:cNvPr id="5" name="b20-table-0-0">
            <a:extLst xmlns:a="http://schemas.openxmlformats.org/drawingml/2006/main">
              <a:ext uri="{FF2B5EF4-FFF2-40B4-BE49-F238E27FC236}">
                <a16:creationId xmlns:a16="http://schemas.microsoft.com/office/drawing/2014/main" id="{0DFB6D66-5887-4485-85AD-D8E59BE8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模型</a:t>
            </a:r>
          </a:p>
        </p:txBody>
      </p:sp>
      <p:sp>
        <p:nvSpPr>
          <p:cNvPr id="6" name="b20-table-0-1">
            <a:extLst xmlns:a="http://schemas.openxmlformats.org/drawingml/2006/main">
              <a:ext uri="{FF2B5EF4-FFF2-40B4-BE49-F238E27FC236}">
                <a16:creationId xmlns:a16="http://schemas.microsoft.com/office/drawing/2014/main" id="{AC82B136-BFC8-4F56-848C-9A7FF3F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526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@10</a:t>
            </a:r>
          </a:p>
        </p:txBody>
      </p:sp>
      <p:sp>
        <p:nvSpPr>
          <p:cNvPr id="7" name="b20-table-0-2">
            <a:extLst xmlns:a="http://schemas.openxmlformats.org/drawingml/2006/main">
              <a:ext uri="{FF2B5EF4-FFF2-40B4-BE49-F238E27FC236}">
                <a16:creationId xmlns:a16="http://schemas.microsoft.com/office/drawing/2014/main" id="{E227C10C-A29F-4745-B96F-1389F766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@60</a:t>
            </a:r>
          </a:p>
        </p:txBody>
      </p:sp>
      <p:sp>
        <p:nvSpPr>
          <p:cNvPr id="8" name="b20-table-0-3">
            <a:extLst xmlns:a="http://schemas.openxmlformats.org/drawingml/2006/main">
              <a:ext uri="{FF2B5EF4-FFF2-40B4-BE49-F238E27FC236}">
                <a16:creationId xmlns:a16="http://schemas.microsoft.com/office/drawing/2014/main" id="{525A5A82-AA1B-4BB3-B10D-9030137E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526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@120</a:t>
            </a:r>
          </a:p>
        </p:txBody>
      </p:sp>
      <p:sp>
        <p:nvSpPr>
          <p:cNvPr id="9" name="b20-table-1-0">
            <a:extLst xmlns:a="http://schemas.openxmlformats.org/drawingml/2006/main">
              <a:ext uri="{FF2B5EF4-FFF2-40B4-BE49-F238E27FC236}">
                <a16:creationId xmlns:a16="http://schemas.microsoft.com/office/drawing/2014/main" id="{B27ED5AA-7DA1-469A-B304-CABE0CC1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PWL</a:t>
            </a:r>
          </a:p>
        </p:txBody>
      </p:sp>
      <p:sp>
        <p:nvSpPr>
          <p:cNvPr id="10" name="b20-table-1-1">
            <a:extLst xmlns:a="http://schemas.openxmlformats.org/drawingml/2006/main">
              <a:ext uri="{FF2B5EF4-FFF2-40B4-BE49-F238E27FC236}">
                <a16:creationId xmlns:a16="http://schemas.microsoft.com/office/drawing/2014/main" id="{D378C6F2-9F6A-4543-A245-16C83CD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7.678</a:t>
            </a:r>
          </a:p>
        </p:txBody>
      </p:sp>
      <p:sp>
        <p:nvSpPr>
          <p:cNvPr id="11" name="b20-table-1-2">
            <a:extLst xmlns:a="http://schemas.openxmlformats.org/drawingml/2006/main">
              <a:ext uri="{FF2B5EF4-FFF2-40B4-BE49-F238E27FC236}">
                <a16:creationId xmlns:a16="http://schemas.microsoft.com/office/drawing/2014/main" id="{65F4EAED-AE82-43AB-B09F-E7677FA0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479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5.825</a:t>
            </a:r>
          </a:p>
        </p:txBody>
      </p:sp>
      <p:sp>
        <p:nvSpPr>
          <p:cNvPr id="12" name="b20-table-1-3">
            <a:extLst xmlns:a="http://schemas.openxmlformats.org/drawingml/2006/main">
              <a:ext uri="{FF2B5EF4-FFF2-40B4-BE49-F238E27FC236}">
                <a16:creationId xmlns:a16="http://schemas.microsoft.com/office/drawing/2014/main" id="{E366DF26-68D1-464E-9F52-50AE2C2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479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5.351</a:t>
            </a:r>
          </a:p>
        </p:txBody>
      </p:sp>
      <p:sp>
        <p:nvSpPr>
          <p:cNvPr id="13" name="b20-table-2-0">
            <a:extLst xmlns:a="http://schemas.openxmlformats.org/drawingml/2006/main">
              <a:ext uri="{FF2B5EF4-FFF2-40B4-BE49-F238E27FC236}">
                <a16:creationId xmlns:a16="http://schemas.microsoft.com/office/drawing/2014/main" id="{F0459F61-D0BE-41B2-8B65-F0C6ED43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Physics（标定+GP）</a:t>
            </a:r>
          </a:p>
        </p:txBody>
      </p:sp>
      <p:sp>
        <p:nvSpPr>
          <p:cNvPr id="14" name="b20-table-2-1">
            <a:extLst xmlns:a="http://schemas.openxmlformats.org/drawingml/2006/main">
              <a:ext uri="{FF2B5EF4-FFF2-40B4-BE49-F238E27FC236}">
                <a16:creationId xmlns:a16="http://schemas.microsoft.com/office/drawing/2014/main" id="{3AA5E01F-72CA-44FD-9AFC-5D0E7314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432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8.870</a:t>
            </a:r>
          </a:p>
        </p:txBody>
      </p:sp>
      <p:sp>
        <p:nvSpPr>
          <p:cNvPr id="15" name="b20-table-2-2">
            <a:extLst xmlns:a="http://schemas.openxmlformats.org/drawingml/2006/main">
              <a:ext uri="{FF2B5EF4-FFF2-40B4-BE49-F238E27FC236}">
                <a16:creationId xmlns:a16="http://schemas.microsoft.com/office/drawing/2014/main" id="{78194BF9-FF49-4AB6-96A0-B704EED8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432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6.540</a:t>
            </a:r>
          </a:p>
        </p:txBody>
      </p:sp>
      <p:sp>
        <p:nvSpPr>
          <p:cNvPr id="16" name="b20-table-2-3">
            <a:extLst xmlns:a="http://schemas.openxmlformats.org/drawingml/2006/main">
              <a:ext uri="{FF2B5EF4-FFF2-40B4-BE49-F238E27FC236}">
                <a16:creationId xmlns:a16="http://schemas.microsoft.com/office/drawing/2014/main" id="{900B8E4D-242C-4015-BBE4-38485BFD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432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5.648</a:t>
            </a:r>
          </a:p>
        </p:txBody>
      </p:sp>
      <p:sp>
        <p:nvSpPr>
          <p:cNvPr id="17" name="b20-table-3-0">
            <a:extLst xmlns:a="http://schemas.openxmlformats.org/drawingml/2006/main">
              <a:ext uri="{FF2B5EF4-FFF2-40B4-BE49-F238E27FC236}">
                <a16:creationId xmlns:a16="http://schemas.microsoft.com/office/drawing/2014/main" id="{3EE996B8-80F9-4821-9E8E-3491A4BD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GP</a:t>
            </a:r>
          </a:p>
        </p:txBody>
      </p:sp>
      <p:sp>
        <p:nvSpPr>
          <p:cNvPr id="18" name="b20-table-3-1">
            <a:extLst xmlns:a="http://schemas.openxmlformats.org/drawingml/2006/main">
              <a:ext uri="{FF2B5EF4-FFF2-40B4-BE49-F238E27FC236}">
                <a16:creationId xmlns:a16="http://schemas.microsoft.com/office/drawing/2014/main" id="{A52B8609-F7D8-42E4-9A65-73D0191A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385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10.759</a:t>
            </a:r>
          </a:p>
        </p:txBody>
      </p:sp>
      <p:sp>
        <p:nvSpPr>
          <p:cNvPr id="19" name="b20-table-3-2">
            <a:extLst xmlns:a="http://schemas.openxmlformats.org/drawingml/2006/main">
              <a:ext uri="{FF2B5EF4-FFF2-40B4-BE49-F238E27FC236}">
                <a16:creationId xmlns:a16="http://schemas.microsoft.com/office/drawing/2014/main" id="{8F8EEA84-B091-4EFF-88DD-FC5CCBC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385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6.146</a:t>
            </a:r>
          </a:p>
        </p:txBody>
      </p:sp>
      <p:sp>
        <p:nvSpPr>
          <p:cNvPr id="20" name="b20-table-3-3">
            <a:extLst xmlns:a="http://schemas.openxmlformats.org/drawingml/2006/main">
              <a:ext uri="{FF2B5EF4-FFF2-40B4-BE49-F238E27FC236}">
                <a16:creationId xmlns:a16="http://schemas.microsoft.com/office/drawing/2014/main" id="{DFE8F09D-114E-4B38-A859-AA0942A4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385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5.680</a:t>
            </a:r>
          </a:p>
        </p:txBody>
      </p:sp>
      <p:sp>
        <p:nvSpPr>
          <p:cNvPr id="21" name="b20-table-4-0">
            <a:extLst xmlns:a="http://schemas.openxmlformats.org/drawingml/2006/main">
              <a:ext uri="{FF2B5EF4-FFF2-40B4-BE49-F238E27FC236}">
                <a16:creationId xmlns:a16="http://schemas.microsoft.com/office/drawing/2014/main" id="{EFA830A2-67B6-4B85-AC71-2255334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Ridge</a:t>
            </a:r>
          </a:p>
        </p:txBody>
      </p:sp>
      <p:sp>
        <p:nvSpPr>
          <p:cNvPr id="22" name="b20-table-4-1">
            <a:extLst xmlns:a="http://schemas.openxmlformats.org/drawingml/2006/main">
              <a:ext uri="{FF2B5EF4-FFF2-40B4-BE49-F238E27FC236}">
                <a16:creationId xmlns:a16="http://schemas.microsoft.com/office/drawing/2014/main" id="{C59304BD-E0D1-4BDA-913B-9F5F7FD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338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9.909</a:t>
            </a:r>
          </a:p>
        </p:txBody>
      </p:sp>
      <p:sp>
        <p:nvSpPr>
          <p:cNvPr id="23" name="b20-table-4-2">
            <a:extLst xmlns:a="http://schemas.openxmlformats.org/drawingml/2006/main">
              <a:ext uri="{FF2B5EF4-FFF2-40B4-BE49-F238E27FC236}">
                <a16:creationId xmlns:a16="http://schemas.microsoft.com/office/drawing/2014/main" id="{40734AA3-C504-4DCF-B5E7-62E6A1D8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338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6.728</a:t>
            </a:r>
          </a:p>
        </p:txBody>
      </p:sp>
      <p:sp>
        <p:nvSpPr>
          <p:cNvPr id="24" name="b20-table-4-3">
            <a:extLst xmlns:a="http://schemas.openxmlformats.org/drawingml/2006/main">
              <a:ext uri="{FF2B5EF4-FFF2-40B4-BE49-F238E27FC236}">
                <a16:creationId xmlns:a16="http://schemas.microsoft.com/office/drawing/2014/main" id="{0B004896-A668-4377-9FD8-F9F9F3C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338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6.473</a:t>
            </a:r>
          </a:p>
        </p:txBody>
      </p:sp>
      <p:sp>
        <p:nvSpPr>
          <p:cNvPr id="25" name="b20-table-5-0">
            <a:extLst xmlns:a="http://schemas.openxmlformats.org/drawingml/2006/main">
              <a:ext uri="{FF2B5EF4-FFF2-40B4-BE49-F238E27FC236}">
                <a16:creationId xmlns:a16="http://schemas.microsoft.com/office/drawing/2014/main" id="{B7733C44-B258-4104-AF45-35B3746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GBDT</a:t>
            </a:r>
          </a:p>
        </p:txBody>
      </p:sp>
      <p:sp>
        <p:nvSpPr>
          <p:cNvPr id="26" name="b20-table-5-1">
            <a:extLst xmlns:a="http://schemas.openxmlformats.org/drawingml/2006/main">
              <a:ext uri="{FF2B5EF4-FFF2-40B4-BE49-F238E27FC236}">
                <a16:creationId xmlns:a16="http://schemas.microsoft.com/office/drawing/2014/main" id="{2F48255B-7FF3-4316-98D1-6E02024B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291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10.908</a:t>
            </a:r>
          </a:p>
        </p:txBody>
      </p:sp>
      <p:sp>
        <p:nvSpPr>
          <p:cNvPr id="27" name="b20-table-5-2">
            <a:extLst xmlns:a="http://schemas.openxmlformats.org/drawingml/2006/main">
              <a:ext uri="{FF2B5EF4-FFF2-40B4-BE49-F238E27FC236}">
                <a16:creationId xmlns:a16="http://schemas.microsoft.com/office/drawing/2014/main" id="{EF6B7AFE-6FCA-4AA9-BE7A-7D34B579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291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6.938</a:t>
            </a:r>
          </a:p>
        </p:txBody>
      </p:sp>
      <p:sp>
        <p:nvSpPr>
          <p:cNvPr id="28" name="b20-table-5-3">
            <a:extLst xmlns:a="http://schemas.openxmlformats.org/drawingml/2006/main">
              <a:ext uri="{FF2B5EF4-FFF2-40B4-BE49-F238E27FC236}">
                <a16:creationId xmlns:a16="http://schemas.microsoft.com/office/drawing/2014/main" id="{026076FD-1C2C-47D6-8939-A4717A63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291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6.338</a:t>
            </a:r>
          </a:p>
        </p:txBody>
      </p:sp>
      <p:sp>
        <p:nvSpPr>
          <p:cNvPr id="29" name="b20-table-6-0">
            <a:extLst xmlns:a="http://schemas.openxmlformats.org/drawingml/2006/main">
              <a:ext uri="{FF2B5EF4-FFF2-40B4-BE49-F238E27FC236}">
                <a16:creationId xmlns:a16="http://schemas.microsoft.com/office/drawing/2014/main" id="{CE144023-657D-4C71-A88B-3A0174F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PhysicsDirect</a:t>
            </a:r>
          </a:p>
        </p:txBody>
      </p:sp>
      <p:sp>
        <p:nvSpPr>
          <p:cNvPr id="30" name="b20-table-6-1">
            <a:extLst xmlns:a="http://schemas.openxmlformats.org/drawingml/2006/main">
              <a:ext uri="{FF2B5EF4-FFF2-40B4-BE49-F238E27FC236}">
                <a16:creationId xmlns:a16="http://schemas.microsoft.com/office/drawing/2014/main" id="{DEDDB6E9-5397-40C4-BFCC-6A379EFC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244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15.275</a:t>
            </a:r>
          </a:p>
        </p:txBody>
      </p:sp>
      <p:sp>
        <p:nvSpPr>
          <p:cNvPr id="31" name="b20-table-6-2">
            <a:extLst xmlns:a="http://schemas.openxmlformats.org/drawingml/2006/main">
              <a:ext uri="{FF2B5EF4-FFF2-40B4-BE49-F238E27FC236}">
                <a16:creationId xmlns:a16="http://schemas.microsoft.com/office/drawing/2014/main" id="{746BFB27-0530-433B-890F-C3E41065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24425"/>
            <a:ext cx="9810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15.275</a:t>
            </a:r>
          </a:p>
        </p:txBody>
      </p:sp>
      <p:sp>
        <p:nvSpPr>
          <p:cNvPr id="32" name="b20-table-6-3">
            <a:extLst xmlns:a="http://schemas.openxmlformats.org/drawingml/2006/main">
              <a:ext uri="{FF2B5EF4-FFF2-40B4-BE49-F238E27FC236}">
                <a16:creationId xmlns:a16="http://schemas.microsoft.com/office/drawing/2014/main" id="{13587F8A-ACCB-4BFB-9096-DFA5E807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4425"/>
            <a:ext cx="990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15.275</a:t>
            </a:r>
          </a:p>
        </p:txBody>
      </p:sp>
      <p:sp>
        <p:nvSpPr>
          <p:cNvPr id="33" name="stat-box">
            <a:extLst xmlns:a="http://schemas.openxmlformats.org/drawingml/2006/main">
              <a:ext uri="{FF2B5EF4-FFF2-40B4-BE49-F238E27FC236}">
                <a16:creationId xmlns:a16="http://schemas.microsoft.com/office/drawing/2014/main" id="{37D61B09-2B46-4625-AD6F-2A485B3E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5720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配对终点：@120 RMSE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均值差 PWL − Physics = −0.297 K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95% CI [−0.624, 0.030]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Cohen dz = −0.425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原始单侧 p = 0.0363</a:t>
            </a:r>
          </a:p>
          <a:p xmlns:a="http://schemas.openxmlformats.org/drawingml/2006/main">
            <a:pPr algn="l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Holm 校正 p = 0.0708</a:t>
            </a:r>
          </a:p>
        </p:txBody>
      </p:sp>
      <p:sp>
        <p:nvSpPr>
          <p:cNvPr id="34" name="stat-note">
            <a:extLst xmlns:a="http://schemas.openxmlformats.org/drawingml/2006/main">
              <a:ext uri="{FF2B5EF4-FFF2-40B4-BE49-F238E27FC236}">
                <a16:creationId xmlns:a16="http://schemas.microsoft.com/office/drawing/2014/main" id="{C039A93A-FB77-469E-A1CE-A29C44B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4A43"/>
                </a:solidFill>
              </a:defRPr>
            </a:pPr>
            <a:r>
              <a:rPr sz="1650" b="1">
                <a:solidFill>
                  <a:srgbClr val="B64A43"/>
                </a:solidFill>
              </a:rPr>
              <a:t>推荐表述：PWL 保持均值优势趋势，但尚无充分显著性证据。</a:t>
            </a:r>
          </a:p>
        </p:txBody>
      </p:sp>
    </p:spTree>
    <p:extLst>
      <p:ext uri="{BB962C8B-B14F-4D97-AF65-F5344CB8AC3E}">
        <p14:creationId xmlns:p14="http://schemas.microsoft.com/office/powerpoint/2010/main" val="16425341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ull-eyebrow-33">
            <a:extLst xmlns:a="http://schemas.openxmlformats.org/drawingml/2006/main">
              <a:ext uri="{FF2B5EF4-FFF2-40B4-BE49-F238E27FC236}">
                <a16:creationId xmlns:a16="http://schemas.microsoft.com/office/drawing/2014/main" id="{44BFB1F9-4AD8-40A5-B024-7E1E0FF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E / RESULTS</a:t>
            </a:r>
          </a:p>
        </p:txBody>
      </p:sp>
      <p:sp>
        <p:nvSpPr>
          <p:cNvPr id="2" name="full-title-33">
            <a:extLst xmlns:a="http://schemas.openxmlformats.org/drawingml/2006/main">
              <a:ext uri="{FF2B5EF4-FFF2-40B4-BE49-F238E27FC236}">
                <a16:creationId xmlns:a16="http://schemas.microsoft.com/office/drawing/2014/main" id="{35202CB4-63BA-4CA2-AFF7-631C4A02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箱线图显示：@120 的均值优势并非每个批次都普遍存在</a:t>
            </a:r>
          </a:p>
        </p:txBody>
      </p:sp>
      <p:sp>
        <p:nvSpPr>
          <p:cNvPr id="3" name="full-subtitle-33">
            <a:extLst xmlns:a="http://schemas.openxmlformats.org/drawingml/2006/main">
              <a:ext uri="{FF2B5EF4-FFF2-40B4-BE49-F238E27FC236}">
                <a16:creationId xmlns:a16="http://schemas.microsoft.com/office/drawing/2014/main" id="{57B65442-0D6D-4A69-B410-F997FD4B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20 批中 @120 只有 10/20 批次 PWL 优于 Physics，优势由部分批次拉开。</a:t>
            </a:r>
          </a:p>
        </p:txBody>
      </p:sp>
      <p:sp>
        <p:nvSpPr>
          <p:cNvPr id="4" name="full-page-33">
            <a:extLst xmlns:a="http://schemas.openxmlformats.org/drawingml/2006/main">
              <a:ext uri="{FF2B5EF4-FFF2-40B4-BE49-F238E27FC236}">
                <a16:creationId xmlns:a16="http://schemas.microsoft.com/office/drawing/2014/main" id="{7A1C1124-7C4E-4962-89AF-BA6D18E2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83df098fe454b"/>
          <a:stretch xmlns:a="http://schemas.openxmlformats.org/drawingml/2006/main"/>
        </p:blipFill>
        <p:spPr>
          <a:xfrm xmlns:a="http://schemas.openxmlformats.org/drawingml/2006/main">
            <a:off x="1162050" y="1809750"/>
            <a:ext cx="6191250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box20-side">
            <a:extLst xmlns:a="http://schemas.openxmlformats.org/drawingml/2006/main">
              <a:ext uri="{FF2B5EF4-FFF2-40B4-BE49-F238E27FC236}">
                <a16:creationId xmlns:a16="http://schemas.microsoft.com/office/drawing/2014/main" id="{3DB657B5-C391-47F2-A541-145647ED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2619375" cy="3714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批次方向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@120：10 / 20 批优于 Physics</a:t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@10：15 / 20 批优于 Physics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新增批次 11–20 的均值差 −0.431 K，大于首批 1–10 的 −0.163 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解释：方向可复现，但批间异质性仍然存在。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16869404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full-eyebrow-34">
            <a:extLst xmlns:a="http://schemas.openxmlformats.org/drawingml/2006/main">
              <a:ext uri="{FF2B5EF4-FFF2-40B4-BE49-F238E27FC236}">
                <a16:creationId xmlns:a16="http://schemas.microsoft.com/office/drawing/2014/main" id="{D0B36545-5CF2-45BF-AE69-FA17BF50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E / ABLATION</a:t>
            </a:r>
          </a:p>
        </p:txBody>
      </p:sp>
      <p:sp>
        <p:nvSpPr>
          <p:cNvPr id="2" name="full-title-34">
            <a:extLst xmlns:a="http://schemas.openxmlformats.org/drawingml/2006/main">
              <a:ext uri="{FF2B5EF4-FFF2-40B4-BE49-F238E27FC236}">
                <a16:creationId xmlns:a16="http://schemas.microsoft.com/office/drawing/2014/main" id="{F4D12F4B-DF17-4213-AC2D-3AE3706D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消融结果把“谁负责什么”拆开了</a:t>
            </a:r>
          </a:p>
        </p:txBody>
      </p:sp>
      <p:sp>
        <p:nvSpPr>
          <p:cNvPr id="3" name="full-subtitle-34">
            <a:extLst xmlns:a="http://schemas.openxmlformats.org/drawingml/2006/main">
              <a:ext uri="{FF2B5EF4-FFF2-40B4-BE49-F238E27FC236}">
                <a16:creationId xmlns:a16="http://schemas.microsoft.com/office/drawing/2014/main" id="{F0A59CAB-59EF-4973-AB0D-4DBE5F9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所有消融臂只改变一项语义配置，比较 10 批均值测试 RMSE（K）。</a:t>
            </a:r>
          </a:p>
        </p:txBody>
      </p:sp>
      <p:sp>
        <p:nvSpPr>
          <p:cNvPr id="4" name="full-page-34">
            <a:extLst xmlns:a="http://schemas.openxmlformats.org/drawingml/2006/main">
              <a:ext uri="{FF2B5EF4-FFF2-40B4-BE49-F238E27FC236}">
                <a16:creationId xmlns:a16="http://schemas.microsoft.com/office/drawing/2014/main" id="{8A4C9531-9602-4750-977C-E0D021F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34</a:t>
            </a:r>
          </a:p>
        </p:txBody>
      </p:sp>
      <p:sp>
        <p:nvSpPr>
          <p:cNvPr id="5" name="ablation-0-0">
            <a:extLst xmlns:a="http://schemas.openxmlformats.org/drawingml/2006/main">
              <a:ext uri="{FF2B5EF4-FFF2-40B4-BE49-F238E27FC236}">
                <a16:creationId xmlns:a16="http://schemas.microsoft.com/office/drawing/2014/main" id="{332BB04C-6900-4145-9E1C-D4086919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实验臂</a:t>
            </a:r>
          </a:p>
        </p:txBody>
      </p:sp>
      <p:sp>
        <p:nvSpPr>
          <p:cNvPr id="6" name="ablation-0-1">
            <a:extLst xmlns:a="http://schemas.openxmlformats.org/drawingml/2006/main">
              <a:ext uri="{FF2B5EF4-FFF2-40B4-BE49-F238E27FC236}">
                <a16:creationId xmlns:a16="http://schemas.microsoft.com/office/drawing/2014/main" id="{DEF1CC69-ADB8-472A-9B14-838BAC7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526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唯一改动</a:t>
            </a:r>
          </a:p>
        </p:txBody>
      </p:sp>
      <p:sp>
        <p:nvSpPr>
          <p:cNvPr id="7" name="ablation-0-2">
            <a:extLst xmlns:a="http://schemas.openxmlformats.org/drawingml/2006/main">
              <a:ext uri="{FF2B5EF4-FFF2-40B4-BE49-F238E27FC236}">
                <a16:creationId xmlns:a16="http://schemas.microsoft.com/office/drawing/2014/main" id="{BBE2AC7C-AF96-4F7F-B57E-A1694919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@10</a:t>
            </a:r>
          </a:p>
        </p:txBody>
      </p:sp>
      <p:sp>
        <p:nvSpPr>
          <p:cNvPr id="8" name="ablation-0-3">
            <a:extLst xmlns:a="http://schemas.openxmlformats.org/drawingml/2006/main">
              <a:ext uri="{FF2B5EF4-FFF2-40B4-BE49-F238E27FC236}">
                <a16:creationId xmlns:a16="http://schemas.microsoft.com/office/drawing/2014/main" id="{7AFD87D0-67BE-4FAF-AA3A-59F4BA38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26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@120</a:t>
            </a:r>
          </a:p>
        </p:txBody>
      </p:sp>
      <p:sp>
        <p:nvSpPr>
          <p:cNvPr id="9" name="ablation-0-4">
            <a:extLst xmlns:a="http://schemas.openxmlformats.org/drawingml/2006/main">
              <a:ext uri="{FF2B5EF4-FFF2-40B4-BE49-F238E27FC236}">
                <a16:creationId xmlns:a16="http://schemas.microsoft.com/office/drawing/2014/main" id="{00526C42-6C45-4880-B073-3FAE08D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读法</a:t>
            </a:r>
          </a:p>
        </p:txBody>
      </p:sp>
      <p:sp>
        <p:nvSpPr>
          <p:cNvPr id="10" name="ablation-1-0">
            <a:extLst xmlns:a="http://schemas.openxmlformats.org/drawingml/2006/main">
              <a:ext uri="{FF2B5EF4-FFF2-40B4-BE49-F238E27FC236}">
                <a16:creationId xmlns:a16="http://schemas.microsoft.com/office/drawing/2014/main" id="{E52FD1A2-B71C-400A-983D-071A0F39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A0 基线</a:t>
            </a:r>
          </a:p>
        </p:txBody>
      </p:sp>
      <p:sp>
        <p:nvSpPr>
          <p:cNvPr id="11" name="ablation-1-1">
            <a:extLst xmlns:a="http://schemas.openxmlformats.org/drawingml/2006/main">
              <a:ext uri="{FF2B5EF4-FFF2-40B4-BE49-F238E27FC236}">
                <a16:creationId xmlns:a16="http://schemas.microsoft.com/office/drawing/2014/main" id="{3B5A5813-4B47-45F5-920F-80B3FEE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479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完整 v3</a:t>
            </a:r>
          </a:p>
        </p:txBody>
      </p:sp>
      <p:sp>
        <p:nvSpPr>
          <p:cNvPr id="12" name="ablation-1-2">
            <a:extLst xmlns:a="http://schemas.openxmlformats.org/drawingml/2006/main">
              <a:ext uri="{FF2B5EF4-FFF2-40B4-BE49-F238E27FC236}">
                <a16:creationId xmlns:a16="http://schemas.microsoft.com/office/drawing/2014/main" id="{59C69759-05D7-4682-9A3A-959AB52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8.055</a:t>
            </a:r>
          </a:p>
        </p:txBody>
      </p:sp>
      <p:sp>
        <p:nvSpPr>
          <p:cNvPr id="13" name="ablation-1-3">
            <a:extLst xmlns:a="http://schemas.openxmlformats.org/drawingml/2006/main">
              <a:ext uri="{FF2B5EF4-FFF2-40B4-BE49-F238E27FC236}">
                <a16:creationId xmlns:a16="http://schemas.microsoft.com/office/drawing/2014/main" id="{58F8F466-0FF6-48CA-A767-46E78D0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479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5.366</a:t>
            </a:r>
          </a:p>
        </p:txBody>
      </p:sp>
      <p:sp>
        <p:nvSpPr>
          <p:cNvPr id="14" name="ablation-1-4">
            <a:extLst xmlns:a="http://schemas.openxmlformats.org/drawingml/2006/main">
              <a:ext uri="{FF2B5EF4-FFF2-40B4-BE49-F238E27FC236}">
                <a16:creationId xmlns:a16="http://schemas.microsoft.com/office/drawing/2014/main" id="{F0787868-961D-4F5F-A6D0-75C917B2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479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基线</a:t>
            </a:r>
          </a:p>
        </p:txBody>
      </p:sp>
      <p:sp>
        <p:nvSpPr>
          <p:cNvPr id="15" name="ablation-2-0">
            <a:extLst xmlns:a="http://schemas.openxmlformats.org/drawingml/2006/main">
              <a:ext uri="{FF2B5EF4-FFF2-40B4-BE49-F238E27FC236}">
                <a16:creationId xmlns:a16="http://schemas.microsoft.com/office/drawing/2014/main" id="{6401FAC3-657E-4097-81CF-C04ABDB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A1 无 B</a:t>
            </a:r>
          </a:p>
        </p:txBody>
      </p:sp>
      <p:sp>
        <p:nvSpPr>
          <p:cNvPr id="16" name="ablation-2-1">
            <a:extLst xmlns:a="http://schemas.openxmlformats.org/drawingml/2006/main">
              <a:ext uri="{FF2B5EF4-FFF2-40B4-BE49-F238E27FC236}">
                <a16:creationId xmlns:a16="http://schemas.microsoft.com/office/drawing/2014/main" id="{61C2E404-22E0-499F-ABD7-065599C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432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B 降为截距</a:t>
            </a:r>
          </a:p>
        </p:txBody>
      </p:sp>
      <p:sp>
        <p:nvSpPr>
          <p:cNvPr id="17" name="ablation-2-2">
            <a:extLst xmlns:a="http://schemas.openxmlformats.org/drawingml/2006/main">
              <a:ext uri="{FF2B5EF4-FFF2-40B4-BE49-F238E27FC236}">
                <a16:creationId xmlns:a16="http://schemas.microsoft.com/office/drawing/2014/main" id="{A1F7C327-8798-4247-87C5-815A9543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432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9.864</a:t>
            </a:r>
          </a:p>
        </p:txBody>
      </p:sp>
      <p:sp>
        <p:nvSpPr>
          <p:cNvPr id="18" name="ablation-2-3">
            <a:extLst xmlns:a="http://schemas.openxmlformats.org/drawingml/2006/main">
              <a:ext uri="{FF2B5EF4-FFF2-40B4-BE49-F238E27FC236}">
                <a16:creationId xmlns:a16="http://schemas.microsoft.com/office/drawing/2014/main" id="{FC801B2E-D5F1-4EB5-870A-9853FDC2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432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8.047</a:t>
            </a:r>
          </a:p>
        </p:txBody>
      </p:sp>
      <p:sp>
        <p:nvSpPr>
          <p:cNvPr id="19" name="ablation-2-4">
            <a:extLst xmlns:a="http://schemas.openxmlformats.org/drawingml/2006/main">
              <a:ext uri="{FF2B5EF4-FFF2-40B4-BE49-F238E27FC236}">
                <a16:creationId xmlns:a16="http://schemas.microsoft.com/office/drawing/2014/main" id="{D97850EA-F576-4134-B31F-0BF69B6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大样本结构偏差无处安放</a:t>
            </a:r>
          </a:p>
        </p:txBody>
      </p:sp>
      <p:sp>
        <p:nvSpPr>
          <p:cNvPr id="20" name="ablation-3-0">
            <a:extLst xmlns:a="http://schemas.openxmlformats.org/drawingml/2006/main">
              <a:ext uri="{FF2B5EF4-FFF2-40B4-BE49-F238E27FC236}">
                <a16:creationId xmlns:a16="http://schemas.microsoft.com/office/drawing/2014/main" id="{1E85EE5D-7525-4482-BAE9-6679D62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A2 无弱标签</a:t>
            </a:r>
          </a:p>
        </p:txBody>
      </p:sp>
      <p:sp>
        <p:nvSpPr>
          <p:cNvPr id="21" name="ablation-3-1">
            <a:extLst xmlns:a="http://schemas.openxmlformats.org/drawingml/2006/main">
              <a:ext uri="{FF2B5EF4-FFF2-40B4-BE49-F238E27FC236}">
                <a16:creationId xmlns:a16="http://schemas.microsoft.com/office/drawing/2014/main" id="{0C8AA4FC-E626-49B4-B18F-1B664087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λ_physics=0</a:t>
            </a:r>
          </a:p>
        </p:txBody>
      </p:sp>
      <p:sp>
        <p:nvSpPr>
          <p:cNvPr id="22" name="ablation-3-2">
            <a:extLst xmlns:a="http://schemas.openxmlformats.org/drawingml/2006/main">
              <a:ext uri="{FF2B5EF4-FFF2-40B4-BE49-F238E27FC236}">
                <a16:creationId xmlns:a16="http://schemas.microsoft.com/office/drawing/2014/main" id="{03C069E4-9438-4141-8D4F-D1A45B8D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385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10.355</a:t>
            </a:r>
          </a:p>
        </p:txBody>
      </p:sp>
      <p:sp>
        <p:nvSpPr>
          <p:cNvPr id="23" name="ablation-3-3">
            <a:extLst xmlns:a="http://schemas.openxmlformats.org/drawingml/2006/main">
              <a:ext uri="{FF2B5EF4-FFF2-40B4-BE49-F238E27FC236}">
                <a16:creationId xmlns:a16="http://schemas.microsoft.com/office/drawing/2014/main" id="{35495A4F-81BA-4837-9C8B-EB0C1E4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5.418</a:t>
            </a:r>
          </a:p>
        </p:txBody>
      </p:sp>
      <p:sp>
        <p:nvSpPr>
          <p:cNvPr id="24" name="ablation-3-4">
            <a:extLst xmlns:a="http://schemas.openxmlformats.org/drawingml/2006/main">
              <a:ext uri="{FF2B5EF4-FFF2-40B4-BE49-F238E27FC236}">
                <a16:creationId xmlns:a16="http://schemas.microsoft.com/office/drawing/2014/main" id="{62823340-C9E0-4A36-80DC-A9880C4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385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小样本优势明显损失</a:t>
            </a:r>
          </a:p>
        </p:txBody>
      </p:sp>
      <p:sp>
        <p:nvSpPr>
          <p:cNvPr id="25" name="ablation-4-0">
            <a:extLst xmlns:a="http://schemas.openxmlformats.org/drawingml/2006/main">
              <a:ext uri="{FF2B5EF4-FFF2-40B4-BE49-F238E27FC236}">
                <a16:creationId xmlns:a16="http://schemas.microsoft.com/office/drawing/2014/main" id="{DD80CD7D-839E-4C2D-9729-C5D84C2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A3 去 q_int</a:t>
            </a:r>
          </a:p>
        </p:txBody>
      </p:sp>
      <p:sp>
        <p:nvSpPr>
          <p:cNvPr id="26" name="ablation-4-1">
            <a:extLst xmlns:a="http://schemas.openxmlformats.org/drawingml/2006/main">
              <a:ext uri="{FF2B5EF4-FFF2-40B4-BE49-F238E27FC236}">
                <a16:creationId xmlns:a16="http://schemas.microsoft.com/office/drawing/2014/main" id="{9025BB83-D301-416E-A6F5-3B177ECA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338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移除两列机理列</a:t>
            </a:r>
          </a:p>
        </p:txBody>
      </p:sp>
      <p:sp>
        <p:nvSpPr>
          <p:cNvPr id="27" name="ablation-4-2">
            <a:extLst xmlns:a="http://schemas.openxmlformats.org/drawingml/2006/main">
              <a:ext uri="{FF2B5EF4-FFF2-40B4-BE49-F238E27FC236}">
                <a16:creationId xmlns:a16="http://schemas.microsoft.com/office/drawing/2014/main" id="{230DB8C8-9E4A-457C-BD97-247046A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338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8.170</a:t>
            </a:r>
          </a:p>
        </p:txBody>
      </p:sp>
      <p:sp>
        <p:nvSpPr>
          <p:cNvPr id="28" name="ablation-4-3">
            <a:extLst xmlns:a="http://schemas.openxmlformats.org/drawingml/2006/main">
              <a:ext uri="{FF2B5EF4-FFF2-40B4-BE49-F238E27FC236}">
                <a16:creationId xmlns:a16="http://schemas.microsoft.com/office/drawing/2014/main" id="{BB404411-6A18-45CB-8C7A-C778C0EA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5.548</a:t>
            </a:r>
          </a:p>
        </p:txBody>
      </p:sp>
      <p:sp>
        <p:nvSpPr>
          <p:cNvPr id="29" name="ablation-4-4">
            <a:extLst xmlns:a="http://schemas.openxmlformats.org/drawingml/2006/main">
              <a:ext uri="{FF2B5EF4-FFF2-40B4-BE49-F238E27FC236}">
                <a16:creationId xmlns:a16="http://schemas.microsoft.com/office/drawing/2014/main" id="{A2A934D3-4FF7-4510-BF08-92300CA2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大样本反超消失</a:t>
            </a:r>
          </a:p>
        </p:txBody>
      </p:sp>
      <p:sp>
        <p:nvSpPr>
          <p:cNvPr id="30" name="ablation-5-0">
            <a:extLst xmlns:a="http://schemas.openxmlformats.org/drawingml/2006/main">
              <a:ext uri="{FF2B5EF4-FFF2-40B4-BE49-F238E27FC236}">
                <a16:creationId xmlns:a16="http://schemas.microsoft.com/office/drawing/2014/main" id="{982D9774-9D19-48C4-B2B1-BB7A9C6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A4 n_weak=100</a:t>
            </a:r>
          </a:p>
        </p:txBody>
      </p:sp>
      <p:sp>
        <p:nvSpPr>
          <p:cNvPr id="31" name="ablation-5-1">
            <a:extLst xmlns:a="http://schemas.openxmlformats.org/drawingml/2006/main">
              <a:ext uri="{FF2B5EF4-FFF2-40B4-BE49-F238E27FC236}">
                <a16:creationId xmlns:a16="http://schemas.microsoft.com/office/drawing/2014/main" id="{D40C609C-3CB1-4F78-9A88-63194EF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291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弱标签子采样</a:t>
            </a:r>
          </a:p>
        </p:txBody>
      </p:sp>
      <p:sp>
        <p:nvSpPr>
          <p:cNvPr id="32" name="ablation-5-2">
            <a:extLst xmlns:a="http://schemas.openxmlformats.org/drawingml/2006/main">
              <a:ext uri="{FF2B5EF4-FFF2-40B4-BE49-F238E27FC236}">
                <a16:creationId xmlns:a16="http://schemas.microsoft.com/office/drawing/2014/main" id="{1D60D489-7B86-40BF-9053-D6AC4FF3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8.118</a:t>
            </a:r>
          </a:p>
        </p:txBody>
      </p:sp>
      <p:sp>
        <p:nvSpPr>
          <p:cNvPr id="33" name="ablation-5-3">
            <a:extLst xmlns:a="http://schemas.openxmlformats.org/drawingml/2006/main">
              <a:ext uri="{FF2B5EF4-FFF2-40B4-BE49-F238E27FC236}">
                <a16:creationId xmlns:a16="http://schemas.microsoft.com/office/drawing/2014/main" id="{A1F388B4-F332-41D1-8AFB-E0EDE21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29125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5.354</a:t>
            </a:r>
          </a:p>
        </p:txBody>
      </p:sp>
      <p:sp>
        <p:nvSpPr>
          <p:cNvPr id="34" name="ablation-5-4">
            <a:extLst xmlns:a="http://schemas.openxmlformats.org/drawingml/2006/main">
              <a:ext uri="{FF2B5EF4-FFF2-40B4-BE49-F238E27FC236}">
                <a16:creationId xmlns:a16="http://schemas.microsoft.com/office/drawing/2014/main" id="{A5782CF1-AFCD-4C79-A7FD-3724C3E2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291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约 100 个后接近饱和</a:t>
            </a:r>
          </a:p>
        </p:txBody>
      </p:sp>
      <p:sp>
        <p:nvSpPr>
          <p:cNvPr id="35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3A4C83E2-ECA2-4E9C-804E-8B7317D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机制分工：弱标签管小样本，B 管大样本，q_int 机理列管相对 Physics-GP 的大样本反超。</a:t>
            </a:r>
          </a:p>
        </p:txBody>
      </p:sp>
    </p:spTree>
    <p:extLst>
      <p:ext uri="{BB962C8B-B14F-4D97-AF65-F5344CB8AC3E}">
        <p14:creationId xmlns:p14="http://schemas.microsoft.com/office/powerpoint/2010/main" val="15048493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full-eyebrow-35">
            <a:extLst xmlns:a="http://schemas.openxmlformats.org/drawingml/2006/main">
              <a:ext uri="{FF2B5EF4-FFF2-40B4-BE49-F238E27FC236}">
                <a16:creationId xmlns:a16="http://schemas.microsoft.com/office/drawing/2014/main" id="{77B0920C-4B69-4C9B-9D22-E37C4BBF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E / ABLATION</a:t>
            </a:r>
          </a:p>
        </p:txBody>
      </p:sp>
      <p:sp>
        <p:nvSpPr>
          <p:cNvPr id="2" name="full-title-35">
            <a:extLst xmlns:a="http://schemas.openxmlformats.org/drawingml/2006/main">
              <a:ext uri="{FF2B5EF4-FFF2-40B4-BE49-F238E27FC236}">
                <a16:creationId xmlns:a16="http://schemas.microsoft.com/office/drawing/2014/main" id="{FF743813-05DA-4427-9818-EAFD77B1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弱标签收益在 n_weak≈100 后基本饱和</a:t>
            </a:r>
          </a:p>
        </p:txBody>
      </p:sp>
      <p:sp>
        <p:nvSpPr>
          <p:cNvPr id="3" name="full-subtitle-35">
            <a:extLst xmlns:a="http://schemas.openxmlformats.org/drawingml/2006/main">
              <a:ext uri="{FF2B5EF4-FFF2-40B4-BE49-F238E27FC236}">
                <a16:creationId xmlns:a16="http://schemas.microsoft.com/office/drawing/2014/main" id="{0B13F356-E1F6-46D1-A086-43C6A0B0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增加弱标签主要改善 @10，小样本端的拐点比 @120 更明显。</a:t>
            </a:r>
          </a:p>
        </p:txBody>
      </p:sp>
      <p:sp>
        <p:nvSpPr>
          <p:cNvPr id="4" name="full-page-35">
            <a:extLst xmlns:a="http://schemas.openxmlformats.org/drawingml/2006/main">
              <a:ext uri="{FF2B5EF4-FFF2-40B4-BE49-F238E27FC236}">
                <a16:creationId xmlns:a16="http://schemas.microsoft.com/office/drawing/2014/main" id="{420A0CF4-F514-4C5E-AC00-7197EA30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35</a:t>
            </a:r>
          </a:p>
        </p:txBody>
      </p:sp>
      <p:sp>
        <p:nvSpPr>
          <p:cNvPr id="5" name="weak-count-0-0">
            <a:extLst xmlns:a="http://schemas.openxmlformats.org/drawingml/2006/main">
              <a:ext uri="{FF2B5EF4-FFF2-40B4-BE49-F238E27FC236}">
                <a16:creationId xmlns:a16="http://schemas.microsoft.com/office/drawing/2014/main" id="{C62D52F3-7151-4108-AC28-44736186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n_weak</a:t>
            </a:r>
          </a:p>
        </p:txBody>
      </p:sp>
      <p:sp>
        <p:nvSpPr>
          <p:cNvPr id="6" name="weak-count-0-1">
            <a:extLst xmlns:a="http://schemas.openxmlformats.org/drawingml/2006/main">
              <a:ext uri="{FF2B5EF4-FFF2-40B4-BE49-F238E27FC236}">
                <a16:creationId xmlns:a16="http://schemas.microsoft.com/office/drawing/2014/main" id="{A3E54477-9C8B-4EEF-8933-57DF444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907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@10</a:t>
            </a:r>
          </a:p>
        </p:txBody>
      </p:sp>
      <p:sp>
        <p:nvSpPr>
          <p:cNvPr id="7" name="weak-count-0-2">
            <a:extLst xmlns:a="http://schemas.openxmlformats.org/drawingml/2006/main">
              <a:ext uri="{FF2B5EF4-FFF2-40B4-BE49-F238E27FC236}">
                <a16:creationId xmlns:a16="http://schemas.microsoft.com/office/drawing/2014/main" id="{B74C0963-311E-4451-9DF3-32E6EF74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907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@30</a:t>
            </a:r>
          </a:p>
        </p:txBody>
      </p:sp>
      <p:sp>
        <p:nvSpPr>
          <p:cNvPr id="8" name="weak-count-0-3">
            <a:extLst xmlns:a="http://schemas.openxmlformats.org/drawingml/2006/main">
              <a:ext uri="{FF2B5EF4-FFF2-40B4-BE49-F238E27FC236}">
                <a16:creationId xmlns:a16="http://schemas.microsoft.com/office/drawing/2014/main" id="{0C7B8488-BCC5-49F7-BDAE-B0BC39B0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907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@60</a:t>
            </a:r>
          </a:p>
        </p:txBody>
      </p:sp>
      <p:sp>
        <p:nvSpPr>
          <p:cNvPr id="9" name="weak-count-0-4">
            <a:extLst xmlns:a="http://schemas.openxmlformats.org/drawingml/2006/main">
              <a:ext uri="{FF2B5EF4-FFF2-40B4-BE49-F238E27FC236}">
                <a16:creationId xmlns:a16="http://schemas.microsoft.com/office/drawing/2014/main" id="{A1A91B36-9557-46E4-A7A1-122FC584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907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@120</a:t>
            </a:r>
          </a:p>
        </p:txBody>
      </p:sp>
      <p:sp>
        <p:nvSpPr>
          <p:cNvPr id="10" name="weak-count-0-5">
            <a:extLst xmlns:a="http://schemas.openxmlformats.org/drawingml/2006/main">
              <a:ext uri="{FF2B5EF4-FFF2-40B4-BE49-F238E27FC236}">
                <a16:creationId xmlns:a16="http://schemas.microsoft.com/office/drawing/2014/main" id="{0FE36EEF-F4D2-4CEB-A0BA-46C751D3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λ_physics @120</a:t>
            </a:r>
          </a:p>
        </p:txBody>
      </p:sp>
      <p:sp>
        <p:nvSpPr>
          <p:cNvPr id="11" name="weak-count-1-0">
            <a:extLst xmlns:a="http://schemas.openxmlformats.org/drawingml/2006/main">
              <a:ext uri="{FF2B5EF4-FFF2-40B4-BE49-F238E27FC236}">
                <a16:creationId xmlns:a16="http://schemas.microsoft.com/office/drawing/2014/main" id="{2EA40CAA-8A65-454A-AEE8-8FE14388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50</a:t>
            </a:r>
          </a:p>
        </p:txBody>
      </p:sp>
      <p:sp>
        <p:nvSpPr>
          <p:cNvPr id="12" name="weak-count-1-1">
            <a:extLst xmlns:a="http://schemas.openxmlformats.org/drawingml/2006/main">
              <a:ext uri="{FF2B5EF4-FFF2-40B4-BE49-F238E27FC236}">
                <a16:creationId xmlns:a16="http://schemas.microsoft.com/office/drawing/2014/main" id="{176B7843-2E3A-46E1-8A5B-8347A1B5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860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8.571</a:t>
            </a:r>
          </a:p>
        </p:txBody>
      </p:sp>
      <p:sp>
        <p:nvSpPr>
          <p:cNvPr id="13" name="weak-count-1-2">
            <a:extLst xmlns:a="http://schemas.openxmlformats.org/drawingml/2006/main">
              <a:ext uri="{FF2B5EF4-FFF2-40B4-BE49-F238E27FC236}">
                <a16:creationId xmlns:a16="http://schemas.microsoft.com/office/drawing/2014/main" id="{D6B60812-EFBB-4B71-AC04-CB3CFBE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860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6.438</a:t>
            </a:r>
          </a:p>
        </p:txBody>
      </p:sp>
      <p:sp>
        <p:nvSpPr>
          <p:cNvPr id="14" name="weak-count-1-3">
            <a:extLst xmlns:a="http://schemas.openxmlformats.org/drawingml/2006/main">
              <a:ext uri="{FF2B5EF4-FFF2-40B4-BE49-F238E27FC236}">
                <a16:creationId xmlns:a16="http://schemas.microsoft.com/office/drawing/2014/main" id="{1B092208-FBA9-46E2-B512-61182DC7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5.769</a:t>
            </a:r>
          </a:p>
        </p:txBody>
      </p:sp>
      <p:sp>
        <p:nvSpPr>
          <p:cNvPr id="15" name="weak-count-1-4">
            <a:extLst xmlns:a="http://schemas.openxmlformats.org/drawingml/2006/main">
              <a:ext uri="{FF2B5EF4-FFF2-40B4-BE49-F238E27FC236}">
                <a16:creationId xmlns:a16="http://schemas.microsoft.com/office/drawing/2014/main" id="{72CCC232-385F-4D7D-85C9-8BAF599C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860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5.390</a:t>
            </a:r>
          </a:p>
        </p:txBody>
      </p:sp>
      <p:sp>
        <p:nvSpPr>
          <p:cNvPr id="16" name="weak-count-1-5">
            <a:extLst xmlns:a="http://schemas.openxmlformats.org/drawingml/2006/main">
              <a:ext uri="{FF2B5EF4-FFF2-40B4-BE49-F238E27FC236}">
                <a16:creationId xmlns:a16="http://schemas.microsoft.com/office/drawing/2014/main" id="{0E6ECF73-A57C-43E3-B6EE-545DD5A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2.305</a:t>
            </a:r>
          </a:p>
        </p:txBody>
      </p:sp>
      <p:sp>
        <p:nvSpPr>
          <p:cNvPr id="17" name="weak-count-2-0">
            <a:extLst xmlns:a="http://schemas.openxmlformats.org/drawingml/2006/main">
              <a:ext uri="{FF2B5EF4-FFF2-40B4-BE49-F238E27FC236}">
                <a16:creationId xmlns:a16="http://schemas.microsoft.com/office/drawing/2014/main" id="{8538B14D-5DF6-4D6E-A3EC-8017D267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100</a:t>
            </a:r>
          </a:p>
        </p:txBody>
      </p:sp>
      <p:sp>
        <p:nvSpPr>
          <p:cNvPr id="18" name="weak-count-2-1">
            <a:extLst xmlns:a="http://schemas.openxmlformats.org/drawingml/2006/main">
              <a:ext uri="{FF2B5EF4-FFF2-40B4-BE49-F238E27FC236}">
                <a16:creationId xmlns:a16="http://schemas.microsoft.com/office/drawing/2014/main" id="{09939EE3-EC63-4363-9300-D3A970C2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813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8.118</a:t>
            </a:r>
          </a:p>
        </p:txBody>
      </p:sp>
      <p:sp>
        <p:nvSpPr>
          <p:cNvPr id="19" name="weak-count-2-2">
            <a:extLst xmlns:a="http://schemas.openxmlformats.org/drawingml/2006/main">
              <a:ext uri="{FF2B5EF4-FFF2-40B4-BE49-F238E27FC236}">
                <a16:creationId xmlns:a16="http://schemas.microsoft.com/office/drawing/2014/main" id="{4C007624-11B1-4B82-8323-97540908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813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6.254</a:t>
            </a:r>
          </a:p>
        </p:txBody>
      </p:sp>
      <p:sp>
        <p:nvSpPr>
          <p:cNvPr id="20" name="weak-count-2-3">
            <a:extLst xmlns:a="http://schemas.openxmlformats.org/drawingml/2006/main">
              <a:ext uri="{FF2B5EF4-FFF2-40B4-BE49-F238E27FC236}">
                <a16:creationId xmlns:a16="http://schemas.microsoft.com/office/drawing/2014/main" id="{62B9A2EC-312B-4D76-8DA4-3D89CCB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5.842</a:t>
            </a:r>
          </a:p>
        </p:txBody>
      </p:sp>
      <p:sp>
        <p:nvSpPr>
          <p:cNvPr id="21" name="weak-count-2-4">
            <a:extLst xmlns:a="http://schemas.openxmlformats.org/drawingml/2006/main">
              <a:ext uri="{FF2B5EF4-FFF2-40B4-BE49-F238E27FC236}">
                <a16:creationId xmlns:a16="http://schemas.microsoft.com/office/drawing/2014/main" id="{397E5304-0E24-4446-A7F7-015360E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813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5.354</a:t>
            </a:r>
          </a:p>
        </p:txBody>
      </p:sp>
      <p:sp>
        <p:nvSpPr>
          <p:cNvPr id="22" name="weak-count-2-5">
            <a:extLst xmlns:a="http://schemas.openxmlformats.org/drawingml/2006/main">
              <a:ext uri="{FF2B5EF4-FFF2-40B4-BE49-F238E27FC236}">
                <a16:creationId xmlns:a16="http://schemas.microsoft.com/office/drawing/2014/main" id="{92B7D20A-ED01-49BE-9D31-B9A7C6FE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1.225</a:t>
            </a:r>
          </a:p>
        </p:txBody>
      </p:sp>
      <p:sp>
        <p:nvSpPr>
          <p:cNvPr id="23" name="weak-count-3-0">
            <a:extLst xmlns:a="http://schemas.openxmlformats.org/drawingml/2006/main">
              <a:ext uri="{FF2B5EF4-FFF2-40B4-BE49-F238E27FC236}">
                <a16:creationId xmlns:a16="http://schemas.microsoft.com/office/drawing/2014/main" id="{8D6F8A42-0D69-4376-B812-E427105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200 (=A0)</a:t>
            </a:r>
          </a:p>
        </p:txBody>
      </p:sp>
      <p:sp>
        <p:nvSpPr>
          <p:cNvPr id="24" name="weak-count-3-1">
            <a:extLst xmlns:a="http://schemas.openxmlformats.org/drawingml/2006/main">
              <a:ext uri="{FF2B5EF4-FFF2-40B4-BE49-F238E27FC236}">
                <a16:creationId xmlns:a16="http://schemas.microsoft.com/office/drawing/2014/main" id="{FF376F20-F211-42E0-B350-62BC79A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766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8.055</a:t>
            </a:r>
          </a:p>
        </p:txBody>
      </p:sp>
      <p:sp>
        <p:nvSpPr>
          <p:cNvPr id="25" name="weak-count-3-2">
            <a:extLst xmlns:a="http://schemas.openxmlformats.org/drawingml/2006/main">
              <a:ext uri="{FF2B5EF4-FFF2-40B4-BE49-F238E27FC236}">
                <a16:creationId xmlns:a16="http://schemas.microsoft.com/office/drawing/2014/main" id="{3120C403-21F8-430F-B016-FB14B7DD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766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6.301</a:t>
            </a:r>
          </a:p>
        </p:txBody>
      </p:sp>
      <p:sp>
        <p:nvSpPr>
          <p:cNvPr id="26" name="weak-count-3-3">
            <a:extLst xmlns:a="http://schemas.openxmlformats.org/drawingml/2006/main">
              <a:ext uri="{FF2B5EF4-FFF2-40B4-BE49-F238E27FC236}">
                <a16:creationId xmlns:a16="http://schemas.microsoft.com/office/drawing/2014/main" id="{BD9493FD-435F-4F1B-9706-69F3E6E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5.822</a:t>
            </a:r>
          </a:p>
        </p:txBody>
      </p:sp>
      <p:sp>
        <p:nvSpPr>
          <p:cNvPr id="27" name="weak-count-3-4">
            <a:extLst xmlns:a="http://schemas.openxmlformats.org/drawingml/2006/main">
              <a:ext uri="{FF2B5EF4-FFF2-40B4-BE49-F238E27FC236}">
                <a16:creationId xmlns:a16="http://schemas.microsoft.com/office/drawing/2014/main" id="{7CF6A0D2-1210-4E54-83CC-AA6DA8C2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7665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5.366</a:t>
            </a:r>
          </a:p>
        </p:txBody>
      </p:sp>
      <p:sp>
        <p:nvSpPr>
          <p:cNvPr id="28" name="weak-count-3-5">
            <a:extLst xmlns:a="http://schemas.openxmlformats.org/drawingml/2006/main">
              <a:ext uri="{FF2B5EF4-FFF2-40B4-BE49-F238E27FC236}">
                <a16:creationId xmlns:a16="http://schemas.microsoft.com/office/drawing/2014/main" id="{9D699FCB-0C16-4042-82F3-EE8BC60F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0.217</a:t>
            </a:r>
          </a:p>
        </p:txBody>
      </p:sp>
      <p:sp>
        <p:nvSpPr>
          <p:cNvPr id="29" name="weak-count-side">
            <a:extLst xmlns:a="http://schemas.openxmlformats.org/drawingml/2006/main">
              <a:ext uri="{FF2B5EF4-FFF2-40B4-BE49-F238E27FC236}">
                <a16:creationId xmlns:a16="http://schemas.microsoft.com/office/drawing/2014/main" id="{AA6CBA32-C3AE-4E87-832E-40D12D89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50 → 100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@10 改善 0.45 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100 → 200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@10 仅改善 0.06 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@120 全程基本平坦</a:t>
            </a:r>
          </a:p>
        </p:txBody>
      </p:sp>
      <p:sp>
        <p:nvSpPr>
          <p:cNvPr id="30" name="weak-count-note">
            <a:extLst xmlns:a="http://schemas.openxmlformats.org/drawingml/2006/main">
              <a:ext uri="{FF2B5EF4-FFF2-40B4-BE49-F238E27FC236}">
                <a16:creationId xmlns:a16="http://schemas.microsoft.com/office/drawing/2014/main" id="{793B518C-162F-4FD4-9CA0-5AA428BC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解释：在标签极少时，物理弱标签像一个方向性锚点；当监督标签已经足够多，物理信息的边际贡献下降。</a:t>
            </a:r>
          </a:p>
        </p:txBody>
      </p:sp>
    </p:spTree>
    <p:extLst>
      <p:ext uri="{BB962C8B-B14F-4D97-AF65-F5344CB8AC3E}">
        <p14:creationId xmlns:p14="http://schemas.microsoft.com/office/powerpoint/2010/main" val="4128187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36">
            <a:extLst xmlns:a="http://schemas.openxmlformats.org/drawingml/2006/main">
              <a:ext uri="{FF2B5EF4-FFF2-40B4-BE49-F238E27FC236}">
                <a16:creationId xmlns:a16="http://schemas.microsoft.com/office/drawing/2014/main" id="{3A8C1EF9-06C5-4382-B230-F2FBF29D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F / LIMITATIONS</a:t>
            </a:r>
          </a:p>
        </p:txBody>
      </p:sp>
      <p:sp>
        <p:nvSpPr>
          <p:cNvPr id="2" name="full-title-36">
            <a:extLst xmlns:a="http://schemas.openxmlformats.org/drawingml/2006/main">
              <a:ext uri="{FF2B5EF4-FFF2-40B4-BE49-F238E27FC236}">
                <a16:creationId xmlns:a16="http://schemas.microsoft.com/office/drawing/2014/main" id="{CA7C234C-31D5-4C9D-BC9C-7030798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θ 的预测作用已经验证，但不能直接说它恢复了材料参数</a:t>
            </a:r>
          </a:p>
        </p:txBody>
      </p:sp>
      <p:sp>
        <p:nvSpPr>
          <p:cNvPr id="3" name="full-subtitle-36">
            <a:extLst xmlns:a="http://schemas.openxmlformats.org/drawingml/2006/main">
              <a:ext uri="{FF2B5EF4-FFF2-40B4-BE49-F238E27FC236}">
                <a16:creationId xmlns:a16="http://schemas.microsoft.com/office/drawing/2014/main" id="{A7AC54E0-420A-48F8-9822-C63400DE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当前数据更稳定地约束总热阻/预测效果，而不是唯一的材料热导率。</a:t>
            </a:r>
          </a:p>
        </p:txBody>
      </p:sp>
      <p:sp>
        <p:nvSpPr>
          <p:cNvPr id="4" name="full-page-36">
            <a:extLst xmlns:a="http://schemas.openxmlformats.org/drawingml/2006/main">
              <a:ext uri="{FF2B5EF4-FFF2-40B4-BE49-F238E27FC236}">
                <a16:creationId xmlns:a16="http://schemas.microsoft.com/office/drawing/2014/main" id="{33A65F79-97A6-4E24-BB3D-0F98F0F9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36</a:t>
            </a:r>
          </a:p>
        </p:txBody>
      </p:sp>
      <p:sp>
        <p:nvSpPr>
          <p:cNvPr id="5" name="theta-claim">
            <a:extLst xmlns:a="http://schemas.openxmlformats.org/drawingml/2006/main">
              <a:ext uri="{FF2B5EF4-FFF2-40B4-BE49-F238E27FC236}">
                <a16:creationId xmlns:a16="http://schemas.microsoft.com/office/drawing/2014/main" id="{067B00BC-796D-44D2-A1D8-2B366A52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可以说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θ 是用于校准物理分支的模型参数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它会影响弱标签与预测</a:t>
            </a:r>
          </a:p>
        </p:txBody>
      </p:sp>
      <p:sp>
        <p:nvSpPr>
          <p:cNvPr id="6" name="theta-cannot">
            <a:extLst xmlns:a="http://schemas.openxmlformats.org/drawingml/2006/main">
              <a:ext uri="{FF2B5EF4-FFF2-40B4-BE49-F238E27FC236}">
                <a16:creationId xmlns:a16="http://schemas.microsoft.com/office/drawing/2014/main" id="{E92AF7F1-F88E-4C1B-8432-530E6CD9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不能直接说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θ = 真实材料热导率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因为材料参数、接触热阻、边界条件可能串联进入同一观测方向</a:t>
            </a:r>
          </a:p>
        </p:txBody>
      </p:sp>
      <p:sp>
        <p:nvSpPr>
          <p:cNvPr id="7" name="theta-check">
            <a:extLst xmlns:a="http://schemas.openxmlformats.org/drawingml/2006/main">
              <a:ext uri="{FF2B5EF4-FFF2-40B4-BE49-F238E27FC236}">
                <a16:creationId xmlns:a16="http://schemas.microsoft.com/office/drawing/2014/main" id="{7F068848-142F-472E-A006-96AB578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继续验证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边界命中率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批间散布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预测敏感度</a:t>
            </a:r>
          </a:p>
          <a:p xmlns:a="http://schemas.openxmlformats.org/drawingml/2006/main">
            <a:pPr algn="ctr">
              <a:defRPr sz="1725">
                <a:solidFill>
                  <a:srgbClr val="3D424A"/>
                </a:solidFill>
              </a:defRPr>
            </a:pPr>
            <a:r>
              <a:rPr sz="1725">
                <a:solidFill>
                  <a:srgbClr val="3D424A"/>
                </a:solidFill>
              </a:rPr>
              <a:t>有效秩与独立观测</a:t>
            </a:r>
          </a:p>
        </p:txBody>
      </p:sp>
      <p:sp>
        <p:nvSpPr>
          <p:cNvPr id="8" name="theta-note">
            <a:extLst xmlns:a="http://schemas.openxmlformats.org/drawingml/2006/main">
              <a:ext uri="{FF2B5EF4-FFF2-40B4-BE49-F238E27FC236}">
                <a16:creationId xmlns:a16="http://schemas.microsoft.com/office/drawing/2014/main" id="{84F0F5B0-1A59-4315-BA7D-A80FC0F5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A43"/>
                </a:solidFill>
              </a:defRPr>
            </a:pPr>
            <a:r>
              <a:rPr sz="1575" b="1">
                <a:solidFill>
                  <a:srgbClr val="B64A43"/>
                </a:solidFill>
              </a:rPr>
              <a:t>本项目把 θ 按 M2 口径作为 info 级指标报告，不把它当作已经识别的真实材料常数。</a:t>
            </a:r>
          </a:p>
        </p:txBody>
      </p:sp>
    </p:spTree>
    <p:extLst>
      <p:ext uri="{BB962C8B-B14F-4D97-AF65-F5344CB8AC3E}">
        <p14:creationId xmlns:p14="http://schemas.microsoft.com/office/powerpoint/2010/main" val="5192334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full-eyebrow-37">
            <a:extLst xmlns:a="http://schemas.openxmlformats.org/drawingml/2006/main">
              <a:ext uri="{FF2B5EF4-FFF2-40B4-BE49-F238E27FC236}">
                <a16:creationId xmlns:a16="http://schemas.microsoft.com/office/drawing/2014/main" id="{BBD0AF5A-028E-43FC-8C33-26BB14C1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F / LIMITATIONS</a:t>
            </a:r>
          </a:p>
        </p:txBody>
      </p:sp>
      <p:sp>
        <p:nvSpPr>
          <p:cNvPr id="2" name="full-title-37">
            <a:extLst xmlns:a="http://schemas.openxmlformats.org/drawingml/2006/main">
              <a:ext uri="{FF2B5EF4-FFF2-40B4-BE49-F238E27FC236}">
                <a16:creationId xmlns:a16="http://schemas.microsoft.com/office/drawing/2014/main" id="{21682815-16C7-406B-A016-3127A725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当前框架的局限性，主要来自场景设计与证据边界</a:t>
            </a:r>
          </a:p>
        </p:txBody>
      </p:sp>
      <p:sp>
        <p:nvSpPr>
          <p:cNvPr id="3" name="full-subtitle-37">
            <a:extLst xmlns:a="http://schemas.openxmlformats.org/drawingml/2006/main">
              <a:ext uri="{FF2B5EF4-FFF2-40B4-BE49-F238E27FC236}">
                <a16:creationId xmlns:a16="http://schemas.microsoft.com/office/drawing/2014/main" id="{E0F739F3-618B-4547-8A4C-5B3BAAE4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这些限制不是 PPT 的附带免责声明，而是下一轮实验要解决的问题。</a:t>
            </a:r>
          </a:p>
        </p:txBody>
      </p:sp>
      <p:sp>
        <p:nvSpPr>
          <p:cNvPr id="4" name="full-page-37">
            <a:extLst xmlns:a="http://schemas.openxmlformats.org/drawingml/2006/main">
              <a:ext uri="{FF2B5EF4-FFF2-40B4-BE49-F238E27FC236}">
                <a16:creationId xmlns:a16="http://schemas.microsoft.com/office/drawing/2014/main" id="{F5FC6D9A-17D8-47EF-AA11-AA78F2A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37</a:t>
            </a:r>
          </a:p>
        </p:txBody>
      </p:sp>
      <p:sp>
        <p:nvSpPr>
          <p:cNvPr id="5" name="limits-0-0">
            <a:extLst xmlns:a="http://schemas.openxmlformats.org/drawingml/2006/main">
              <a:ext uri="{FF2B5EF4-FFF2-40B4-BE49-F238E27FC236}">
                <a16:creationId xmlns:a16="http://schemas.microsoft.com/office/drawing/2014/main" id="{175E76F8-2A68-42D6-90F0-08CBCE62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限制</a:t>
            </a:r>
          </a:p>
        </p:txBody>
      </p:sp>
      <p:sp>
        <p:nvSpPr>
          <p:cNvPr id="6" name="limits-0-1">
            <a:extLst xmlns:a="http://schemas.openxmlformats.org/drawingml/2006/main">
              <a:ext uri="{FF2B5EF4-FFF2-40B4-BE49-F238E27FC236}">
                <a16:creationId xmlns:a16="http://schemas.microsoft.com/office/drawing/2014/main" id="{C052BB75-228E-4201-B684-AD0DAD84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52625"/>
            <a:ext cx="4333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具体表现</a:t>
            </a:r>
          </a:p>
        </p:txBody>
      </p:sp>
      <p:sp>
        <p:nvSpPr>
          <p:cNvPr id="7" name="limits-0-2">
            <a:extLst xmlns:a="http://schemas.openxmlformats.org/drawingml/2006/main">
              <a:ext uri="{FF2B5EF4-FFF2-40B4-BE49-F238E27FC236}">
                <a16:creationId xmlns:a16="http://schemas.microsoft.com/office/drawing/2014/main" id="{8B41F2E9-A85E-4121-8878-6031008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52625"/>
            <a:ext cx="4143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需要怎样补</a:t>
            </a:r>
          </a:p>
        </p:txBody>
      </p:sp>
      <p:sp>
        <p:nvSpPr>
          <p:cNvPr id="8" name="limits-1-0">
            <a:extLst xmlns:a="http://schemas.openxmlformats.org/drawingml/2006/main">
              <a:ext uri="{FF2B5EF4-FFF2-40B4-BE49-F238E27FC236}">
                <a16:creationId xmlns:a16="http://schemas.microsoft.com/office/drawing/2014/main" id="{C0A5FBAD-EAE3-4B4F-A516-EAB72081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H/B 依赖场景</a:t>
            </a:r>
          </a:p>
        </p:txBody>
      </p:sp>
      <p:sp>
        <p:nvSpPr>
          <p:cNvPr id="9" name="limits-1-1">
            <a:extLst xmlns:a="http://schemas.openxmlformats.org/drawingml/2006/main">
              <a:ext uri="{FF2B5EF4-FFF2-40B4-BE49-F238E27FC236}">
                <a16:creationId xmlns:a16="http://schemas.microsoft.com/office/drawing/2014/main" id="{B2A9B3D5-6BA7-4296-BD6E-1A82581E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47925"/>
            <a:ext cx="4333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换物理问题后不能直接复用同一基函数库</a:t>
            </a:r>
          </a:p>
        </p:txBody>
      </p:sp>
      <p:sp>
        <p:nvSpPr>
          <p:cNvPr id="10" name="limits-1-2">
            <a:extLst xmlns:a="http://schemas.openxmlformats.org/drawingml/2006/main">
              <a:ext uri="{FF2B5EF4-FFF2-40B4-BE49-F238E27FC236}">
                <a16:creationId xmlns:a16="http://schemas.microsoft.com/office/drawing/2014/main" id="{F5135797-DA59-4E3C-8C32-9E146F4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47925"/>
            <a:ext cx="4143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重新做变量划分与机制消融</a:t>
            </a:r>
          </a:p>
        </p:txBody>
      </p:sp>
      <p:sp>
        <p:nvSpPr>
          <p:cNvPr id="11" name="limits-2-0">
            <a:extLst xmlns:a="http://schemas.openxmlformats.org/drawingml/2006/main">
              <a:ext uri="{FF2B5EF4-FFF2-40B4-BE49-F238E27FC236}">
                <a16:creationId xmlns:a16="http://schemas.microsoft.com/office/drawing/2014/main" id="{71C60E44-532E-4151-8DC7-98BD119F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可识别性</a:t>
            </a:r>
          </a:p>
        </p:txBody>
      </p:sp>
      <p:sp>
        <p:nvSpPr>
          <p:cNvPr id="12" name="limits-2-1">
            <a:extLst xmlns:a="http://schemas.openxmlformats.org/drawingml/2006/main">
              <a:ext uri="{FF2B5EF4-FFF2-40B4-BE49-F238E27FC236}">
                <a16:creationId xmlns:a16="http://schemas.microsoft.com/office/drawing/2014/main" id="{AB0803C1-20C1-4710-ABFB-FF84E62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43225"/>
            <a:ext cx="4333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H 有效秩低，θ 与热阻方向耦合</a:t>
            </a:r>
          </a:p>
        </p:txBody>
      </p:sp>
      <p:sp>
        <p:nvSpPr>
          <p:cNvPr id="13" name="limits-2-2">
            <a:extLst xmlns:a="http://schemas.openxmlformats.org/drawingml/2006/main">
              <a:ext uri="{FF2B5EF4-FFF2-40B4-BE49-F238E27FC236}">
                <a16:creationId xmlns:a16="http://schemas.microsoft.com/office/drawing/2014/main" id="{A4488727-54E4-4137-97E9-F2E4DA7A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43225"/>
            <a:ext cx="4143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增加独立观测或重参数化</a:t>
            </a:r>
          </a:p>
        </p:txBody>
      </p:sp>
      <p:sp>
        <p:nvSpPr>
          <p:cNvPr id="14" name="limits-3-0">
            <a:extLst xmlns:a="http://schemas.openxmlformats.org/drawingml/2006/main">
              <a:ext uri="{FF2B5EF4-FFF2-40B4-BE49-F238E27FC236}">
                <a16:creationId xmlns:a16="http://schemas.microsoft.com/office/drawing/2014/main" id="{582E56CC-5005-4917-9595-8BB99281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统计证据</a:t>
            </a:r>
          </a:p>
        </p:txBody>
      </p:sp>
      <p:sp>
        <p:nvSpPr>
          <p:cNvPr id="15" name="limits-3-1">
            <a:extLst xmlns:a="http://schemas.openxmlformats.org/drawingml/2006/main">
              <a:ext uri="{FF2B5EF4-FFF2-40B4-BE49-F238E27FC236}">
                <a16:creationId xmlns:a16="http://schemas.microsoft.com/office/drawing/2014/main" id="{59E8BFFB-3E36-46F9-9F19-028021B3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38525"/>
            <a:ext cx="4333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Holm p=0.0708；@120 仅 10/20 批方向一致</a:t>
            </a:r>
          </a:p>
        </p:txBody>
      </p:sp>
      <p:sp>
        <p:nvSpPr>
          <p:cNvPr id="16" name="limits-3-2">
            <a:extLst xmlns:a="http://schemas.openxmlformats.org/drawingml/2006/main">
              <a:ext uri="{FF2B5EF4-FFF2-40B4-BE49-F238E27FC236}">
                <a16:creationId xmlns:a16="http://schemas.microsoft.com/office/drawing/2014/main" id="{5209250A-1105-47A2-946A-A5697F2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38525"/>
            <a:ext cx="4143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增加批次并解释异质性来源</a:t>
            </a:r>
          </a:p>
        </p:txBody>
      </p:sp>
      <p:sp>
        <p:nvSpPr>
          <p:cNvPr id="17" name="limits-4-0">
            <a:extLst xmlns:a="http://schemas.openxmlformats.org/drawingml/2006/main">
              <a:ext uri="{FF2B5EF4-FFF2-40B4-BE49-F238E27FC236}">
                <a16:creationId xmlns:a16="http://schemas.microsoft.com/office/drawing/2014/main" id="{7297F1F4-ADB6-415A-9891-6799044A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迁移证据</a:t>
            </a:r>
          </a:p>
        </p:txBody>
      </p:sp>
      <p:sp>
        <p:nvSpPr>
          <p:cNvPr id="18" name="limits-4-1">
            <a:extLst xmlns:a="http://schemas.openxmlformats.org/drawingml/2006/main">
              <a:ext uri="{FF2B5EF4-FFF2-40B4-BE49-F238E27FC236}">
                <a16:creationId xmlns:a16="http://schemas.microsoft.com/office/drawing/2014/main" id="{9D0A60BE-22EB-435B-A14D-7DAB803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33825"/>
            <a:ext cx="4333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当前为 COMSOL 仿真迁移，真实实验数据仍需验证</a:t>
            </a:r>
          </a:p>
        </p:txBody>
      </p:sp>
      <p:sp>
        <p:nvSpPr>
          <p:cNvPr id="19" name="limits-4-2">
            <a:extLst xmlns:a="http://schemas.openxmlformats.org/drawingml/2006/main">
              <a:ext uri="{FF2B5EF4-FFF2-40B4-BE49-F238E27FC236}">
                <a16:creationId xmlns:a16="http://schemas.microsoft.com/office/drawing/2014/main" id="{13102DE4-A3C3-46BD-B17B-92C739F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33825"/>
            <a:ext cx="4143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建立实验测温数据闭环</a:t>
            </a:r>
          </a:p>
        </p:txBody>
      </p:sp>
      <p:sp>
        <p:nvSpPr>
          <p:cNvPr id="20" name="limits-5-0">
            <a:extLst xmlns:a="http://schemas.openxmlformats.org/drawingml/2006/main">
              <a:ext uri="{FF2B5EF4-FFF2-40B4-BE49-F238E27FC236}">
                <a16:creationId xmlns:a16="http://schemas.microsoft.com/office/drawing/2014/main" id="{A9A16DC1-4C49-4C16-B52A-985D401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基函数规模</a:t>
            </a:r>
          </a:p>
        </p:txBody>
      </p:sp>
      <p:sp>
        <p:nvSpPr>
          <p:cNvPr id="21" name="limits-5-1">
            <a:extLst xmlns:a="http://schemas.openxmlformats.org/drawingml/2006/main">
              <a:ext uri="{FF2B5EF4-FFF2-40B4-BE49-F238E27FC236}">
                <a16:creationId xmlns:a16="http://schemas.microsoft.com/office/drawing/2014/main" id="{B830F54D-64B3-46D6-963F-F3F3070A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29125"/>
            <a:ext cx="4333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项过多会带来共线性与过拟合</a:t>
            </a:r>
          </a:p>
        </p:txBody>
      </p:sp>
      <p:sp>
        <p:nvSpPr>
          <p:cNvPr id="22" name="limits-5-2">
            <a:extLst xmlns:a="http://schemas.openxmlformats.org/drawingml/2006/main">
              <a:ext uri="{FF2B5EF4-FFF2-40B4-BE49-F238E27FC236}">
                <a16:creationId xmlns:a16="http://schemas.microsoft.com/office/drawing/2014/main" id="{F48A4C13-3BCD-4746-9F17-F9D43A1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29125"/>
            <a:ext cx="4143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有效秩、正则路径、跨批稳定性</a:t>
            </a:r>
          </a:p>
        </p:txBody>
      </p:sp>
      <p:sp>
        <p:nvSpPr>
          <p:cNvPr id="23" name="limits-note">
            <a:extLst xmlns:a="http://schemas.openxmlformats.org/drawingml/2006/main">
              <a:ext uri="{FF2B5EF4-FFF2-40B4-BE49-F238E27FC236}">
                <a16:creationId xmlns:a16="http://schemas.microsoft.com/office/drawing/2014/main" id="{1A711A75-92DE-4627-BB79-FB529923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因此当前成果更准确的定位是：一套可复用的 PWL 场景建模与验证框架，而不是跨场景即插即用的固定模型。</a:t>
            </a:r>
          </a:p>
        </p:txBody>
      </p:sp>
    </p:spTree>
    <p:extLst>
      <p:ext uri="{BB962C8B-B14F-4D97-AF65-F5344CB8AC3E}">
        <p14:creationId xmlns:p14="http://schemas.microsoft.com/office/powerpoint/2010/main" val="7653952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38">
            <a:extLst xmlns:a="http://schemas.openxmlformats.org/drawingml/2006/main">
              <a:ext uri="{FF2B5EF4-FFF2-40B4-BE49-F238E27FC236}">
                <a16:creationId xmlns:a16="http://schemas.microsoft.com/office/drawing/2014/main" id="{32678258-C468-447E-88DE-9A08C54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F / PROJECT STATUS</a:t>
            </a:r>
          </a:p>
        </p:txBody>
      </p:sp>
      <p:sp>
        <p:nvSpPr>
          <p:cNvPr id="2" name="full-title-38">
            <a:extLst xmlns:a="http://schemas.openxmlformats.org/drawingml/2006/main">
              <a:ext uri="{FF2B5EF4-FFF2-40B4-BE49-F238E27FC236}">
                <a16:creationId xmlns:a16="http://schemas.microsoft.com/office/drawing/2014/main" id="{6BA9A97B-CD28-4824-A837-7243871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项目实际路线：论文复现后转向 COMSOL 热传导迁移</a:t>
            </a:r>
          </a:p>
        </p:txBody>
      </p:sp>
      <p:sp>
        <p:nvSpPr>
          <p:cNvPr id="3" name="full-subtitle-38">
            <a:extLst xmlns:a="http://schemas.openxmlformats.org/drawingml/2006/main">
              <a:ext uri="{FF2B5EF4-FFF2-40B4-BE49-F238E27FC236}">
                <a16:creationId xmlns:a16="http://schemas.microsoft.com/office/drawing/2014/main" id="{91C7B9A9-4F0B-463F-B96E-96D56F10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本次汇报只保留已经有代码、数据或报告支撑的路线。</a:t>
            </a:r>
          </a:p>
        </p:txBody>
      </p:sp>
      <p:sp>
        <p:nvSpPr>
          <p:cNvPr id="4" name="full-page-38">
            <a:extLst xmlns:a="http://schemas.openxmlformats.org/drawingml/2006/main">
              <a:ext uri="{FF2B5EF4-FFF2-40B4-BE49-F238E27FC236}">
                <a16:creationId xmlns:a16="http://schemas.microsoft.com/office/drawing/2014/main" id="{5BD37137-F633-4251-9F2E-80A49734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38</a:t>
            </a:r>
          </a:p>
        </p:txBody>
      </p:sp>
      <p:sp>
        <p:nvSpPr>
          <p:cNvPr id="5" name="route-paper">
            <a:extLst xmlns:a="http://schemas.openxmlformats.org/drawingml/2006/main">
              <a:ext uri="{FF2B5EF4-FFF2-40B4-BE49-F238E27FC236}">
                <a16:creationId xmlns:a16="http://schemas.microsoft.com/office/drawing/2014/main" id="{6433D7AC-F0E2-4DA4-9FB0-587C360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阶段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论文方法结构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Section IV 协议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复现补全与审计</a:t>
            </a:r>
          </a:p>
        </p:txBody>
      </p:sp>
      <p:sp>
        <p:nvSpPr>
          <p:cNvPr id="6" name="route-comsol">
            <a:extLst xmlns:a="http://schemas.openxmlformats.org/drawingml/2006/main">
              <a:ext uri="{FF2B5EF4-FFF2-40B4-BE49-F238E27FC236}">
                <a16:creationId xmlns:a16="http://schemas.microsoft.com/office/drawing/2014/main" id="{7D437D90-1AE2-478A-AE5F-BFC5CD19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阶段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COMSOL 热传导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双保真输入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H/B/θ 重新实例化</a:t>
            </a:r>
          </a:p>
        </p:txBody>
      </p:sp>
      <p:sp>
        <p:nvSpPr>
          <p:cNvPr id="7" name="route-evidence">
            <a:extLst xmlns:a="http://schemas.openxmlformats.org/drawingml/2006/main">
              <a:ext uri="{FF2B5EF4-FFF2-40B4-BE49-F238E27FC236}">
                <a16:creationId xmlns:a16="http://schemas.microsoft.com/office/drawing/2014/main" id="{BA24CDC5-547D-4CA1-975B-B5110BF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阶段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10→20 批扩展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消融与统计闭环</a:t>
            </a:r>
          </a:p>
          <a:p xmlns:a="http://schemas.openxmlformats.org/drawingml/2006/main">
            <a:pPr algn="ctr">
              <a:defRPr sz="1800">
                <a:solidFill>
                  <a:srgbClr val="3D424A"/>
                </a:solidFill>
              </a:defRPr>
            </a:pPr>
            <a:r>
              <a:rPr sz="1800">
                <a:solidFill>
                  <a:srgbClr val="3D424A"/>
                </a:solidFill>
              </a:rPr>
              <a:t>局限性回写</a:t>
            </a:r>
          </a:p>
        </p:txBody>
      </p:sp>
      <p:sp>
        <p:nvSpPr>
          <p:cNvPr id="8" name="route-note">
            <a:extLst xmlns:a="http://schemas.openxmlformats.org/drawingml/2006/main">
              <a:ext uri="{FF2B5EF4-FFF2-40B4-BE49-F238E27FC236}">
                <a16:creationId xmlns:a16="http://schemas.microsoft.com/office/drawing/2014/main" id="{F8503D46-3B69-4F91-8A7B-5C3E9E7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A43"/>
                </a:solidFill>
              </a:defRPr>
            </a:pPr>
            <a:r>
              <a:rPr sz="1575" b="1">
                <a:solidFill>
                  <a:srgbClr val="B64A43"/>
                </a:solidFill>
              </a:rPr>
              <a:t>未完成的中间支线不作为结果展示；主线按照“复现协议 → 场景迁移 → 机制验证 → 统计边界”展开。</a:t>
            </a:r>
          </a:p>
        </p:txBody>
      </p:sp>
    </p:spTree>
    <p:extLst>
      <p:ext uri="{BB962C8B-B14F-4D97-AF65-F5344CB8AC3E}">
        <p14:creationId xmlns:p14="http://schemas.microsoft.com/office/powerpoint/2010/main" val="2834261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full-eyebrow-39">
            <a:extLst xmlns:a="http://schemas.openxmlformats.org/drawingml/2006/main">
              <a:ext uri="{FF2B5EF4-FFF2-40B4-BE49-F238E27FC236}">
                <a16:creationId xmlns:a16="http://schemas.microsoft.com/office/drawing/2014/main" id="{D6EC62FA-1AB7-480E-A313-9ED63092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F / DISCUSSION</a:t>
            </a:r>
          </a:p>
        </p:txBody>
      </p:sp>
      <p:sp>
        <p:nvSpPr>
          <p:cNvPr id="2" name="full-title-39">
            <a:extLst xmlns:a="http://schemas.openxmlformats.org/drawingml/2006/main">
              <a:ext uri="{FF2B5EF4-FFF2-40B4-BE49-F238E27FC236}">
                <a16:creationId xmlns:a16="http://schemas.microsoft.com/office/drawing/2014/main" id="{F0437275-7F38-4813-8FD0-AA77C3C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下一阶段最值得讨论的，不是再加一层黑箱，而是补足证据链</a:t>
            </a:r>
          </a:p>
        </p:txBody>
      </p:sp>
      <p:sp>
        <p:nvSpPr>
          <p:cNvPr id="3" name="full-subtitle-39">
            <a:extLst xmlns:a="http://schemas.openxmlformats.org/drawingml/2006/main">
              <a:ext uri="{FF2B5EF4-FFF2-40B4-BE49-F238E27FC236}">
                <a16:creationId xmlns:a16="http://schemas.microsoft.com/office/drawing/2014/main" id="{9E7A932C-FA10-4977-9194-022B176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把当前结果转化为可检验的问题。</a:t>
            </a:r>
          </a:p>
        </p:txBody>
      </p:sp>
      <p:sp>
        <p:nvSpPr>
          <p:cNvPr id="4" name="full-page-39">
            <a:extLst xmlns:a="http://schemas.openxmlformats.org/drawingml/2006/main">
              <a:ext uri="{FF2B5EF4-FFF2-40B4-BE49-F238E27FC236}">
                <a16:creationId xmlns:a16="http://schemas.microsoft.com/office/drawing/2014/main" id="{4474C148-E4B1-4ADE-A47B-F19D8DBB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39</a:t>
            </a:r>
          </a:p>
        </p:txBody>
      </p:sp>
      <p:sp>
        <p:nvSpPr>
          <p:cNvPr id="5" name="next-0-0">
            <a:extLst xmlns:a="http://schemas.openxmlformats.org/drawingml/2006/main">
              <a:ext uri="{FF2B5EF4-FFF2-40B4-BE49-F238E27FC236}">
                <a16:creationId xmlns:a16="http://schemas.microsoft.com/office/drawing/2014/main" id="{6C15F222-C9F0-4F2D-B69A-C9ADFF6A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6" name="next-0-1">
            <a:extLst xmlns:a="http://schemas.openxmlformats.org/drawingml/2006/main">
              <a:ext uri="{FF2B5EF4-FFF2-40B4-BE49-F238E27FC236}">
                <a16:creationId xmlns:a16="http://schemas.microsoft.com/office/drawing/2014/main" id="{38707506-3E24-46D6-9AA3-B1E69E9D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526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为什么重要</a:t>
            </a:r>
          </a:p>
        </p:txBody>
      </p:sp>
      <p:sp>
        <p:nvSpPr>
          <p:cNvPr id="7" name="next-0-2">
            <a:extLst xmlns:a="http://schemas.openxmlformats.org/drawingml/2006/main">
              <a:ext uri="{FF2B5EF4-FFF2-40B4-BE49-F238E27FC236}">
                <a16:creationId xmlns:a16="http://schemas.microsoft.com/office/drawing/2014/main" id="{50C12F36-3F74-4068-BE91-C6CB1981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526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9A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建议验证</a:t>
            </a:r>
          </a:p>
        </p:txBody>
      </p:sp>
      <p:sp>
        <p:nvSpPr>
          <p:cNvPr id="8" name="next-1-0">
            <a:extLst xmlns:a="http://schemas.openxmlformats.org/drawingml/2006/main">
              <a:ext uri="{FF2B5EF4-FFF2-40B4-BE49-F238E27FC236}">
                <a16:creationId xmlns:a16="http://schemas.microsoft.com/office/drawing/2014/main" id="{2E8DBF27-60ED-4DF1-B0B3-8368EFA8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大优势批次为什么出现？</a:t>
            </a:r>
          </a:p>
        </p:txBody>
      </p:sp>
      <p:sp>
        <p:nvSpPr>
          <p:cNvPr id="9" name="next-1-1">
            <a:extLst xmlns:a="http://schemas.openxmlformats.org/drawingml/2006/main">
              <a:ext uri="{FF2B5EF4-FFF2-40B4-BE49-F238E27FC236}">
                <a16:creationId xmlns:a16="http://schemas.microsoft.com/office/drawing/2014/main" id="{8B100636-CD1F-4B53-B3AD-83BC83D9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479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20 批均值优势由部分批次拉开</a:t>
            </a:r>
          </a:p>
        </p:txBody>
      </p:sp>
      <p:sp>
        <p:nvSpPr>
          <p:cNvPr id="10" name="next-1-2">
            <a:extLst xmlns:a="http://schemas.openxmlformats.org/drawingml/2006/main">
              <a:ext uri="{FF2B5EF4-FFF2-40B4-BE49-F238E27FC236}">
                <a16:creationId xmlns:a16="http://schemas.microsoft.com/office/drawing/2014/main" id="{5496F844-2322-4CC2-ADD4-613C62AB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479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按工况与输入空间分层分析</a:t>
            </a:r>
          </a:p>
        </p:txBody>
      </p:sp>
      <p:sp>
        <p:nvSpPr>
          <p:cNvPr id="11" name="next-2-0">
            <a:extLst xmlns:a="http://schemas.openxmlformats.org/drawingml/2006/main">
              <a:ext uri="{FF2B5EF4-FFF2-40B4-BE49-F238E27FC236}">
                <a16:creationId xmlns:a16="http://schemas.microsoft.com/office/drawing/2014/main" id="{2696CB28-F4FD-4D74-B591-D4FEAD0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θ 能否被重新参数化？</a:t>
            </a:r>
          </a:p>
        </p:txBody>
      </p:sp>
      <p:sp>
        <p:nvSpPr>
          <p:cNvPr id="12" name="next-2-1">
            <a:extLst xmlns:a="http://schemas.openxmlformats.org/drawingml/2006/main">
              <a:ext uri="{FF2B5EF4-FFF2-40B4-BE49-F238E27FC236}">
                <a16:creationId xmlns:a16="http://schemas.microsoft.com/office/drawing/2014/main" id="{0B1D1C3D-CE23-4105-B07C-936947DC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432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当前观测更像总热阻方向</a:t>
            </a:r>
          </a:p>
        </p:txBody>
      </p:sp>
      <p:sp>
        <p:nvSpPr>
          <p:cNvPr id="13" name="next-2-2">
            <a:extLst xmlns:a="http://schemas.openxmlformats.org/drawingml/2006/main">
              <a:ext uri="{FF2B5EF4-FFF2-40B4-BE49-F238E27FC236}">
                <a16:creationId xmlns:a16="http://schemas.microsoft.com/office/drawing/2014/main" id="{D5F79DD5-9E14-453F-B5DA-BDE0EAF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432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改用等效热阻或增加独立观测</a:t>
            </a:r>
          </a:p>
        </p:txBody>
      </p:sp>
      <p:sp>
        <p:nvSpPr>
          <p:cNvPr id="14" name="next-3-0">
            <a:extLst xmlns:a="http://schemas.openxmlformats.org/drawingml/2006/main">
              <a:ext uri="{FF2B5EF4-FFF2-40B4-BE49-F238E27FC236}">
                <a16:creationId xmlns:a16="http://schemas.microsoft.com/office/drawing/2014/main" id="{AB680F09-BFE2-4B5F-979E-79842E4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B 的最小基函数库是什么？</a:t>
            </a:r>
          </a:p>
        </p:txBody>
      </p:sp>
      <p:sp>
        <p:nvSpPr>
          <p:cNvPr id="15" name="next-3-1">
            <a:extLst xmlns:a="http://schemas.openxmlformats.org/drawingml/2006/main">
              <a:ext uri="{FF2B5EF4-FFF2-40B4-BE49-F238E27FC236}">
                <a16:creationId xmlns:a16="http://schemas.microsoft.com/office/drawing/2014/main" id="{A1689F0A-94AF-4DAF-86FE-FDC7CF30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385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B 过大影响可识别性</a:t>
            </a:r>
          </a:p>
        </p:txBody>
      </p:sp>
      <p:sp>
        <p:nvSpPr>
          <p:cNvPr id="16" name="next-3-2">
            <a:extLst xmlns:a="http://schemas.openxmlformats.org/drawingml/2006/main">
              <a:ext uri="{FF2B5EF4-FFF2-40B4-BE49-F238E27FC236}">
                <a16:creationId xmlns:a16="http://schemas.microsoft.com/office/drawing/2014/main" id="{28133329-8174-4A30-AB84-473960EC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385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按有效秩、稳定性与消融筛选</a:t>
            </a:r>
          </a:p>
        </p:txBody>
      </p:sp>
      <p:sp>
        <p:nvSpPr>
          <p:cNvPr id="17" name="next-4-0">
            <a:extLst xmlns:a="http://schemas.openxmlformats.org/drawingml/2006/main">
              <a:ext uri="{FF2B5EF4-FFF2-40B4-BE49-F238E27FC236}">
                <a16:creationId xmlns:a16="http://schemas.microsoft.com/office/drawing/2014/main" id="{8CB1ACC6-1286-442A-AE28-4A7E6F4F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真实实验数据是否保持趋势？</a:t>
            </a:r>
          </a:p>
        </p:txBody>
      </p:sp>
      <p:sp>
        <p:nvSpPr>
          <p:cNvPr id="18" name="next-4-1">
            <a:extLst xmlns:a="http://schemas.openxmlformats.org/drawingml/2006/main">
              <a:ext uri="{FF2B5EF4-FFF2-40B4-BE49-F238E27FC236}">
                <a16:creationId xmlns:a16="http://schemas.microsoft.com/office/drawing/2014/main" id="{C300213D-D1BA-4041-ACEF-0F75C34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338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COMSOL 仍是仿真迁移</a:t>
            </a:r>
          </a:p>
        </p:txBody>
      </p:sp>
      <p:sp>
        <p:nvSpPr>
          <p:cNvPr id="19" name="next-4-2">
            <a:extLst xmlns:a="http://schemas.openxmlformats.org/drawingml/2006/main">
              <a:ext uri="{FF2B5EF4-FFF2-40B4-BE49-F238E27FC236}">
                <a16:creationId xmlns:a16="http://schemas.microsoft.com/office/drawing/2014/main" id="{787A3F3C-D1F6-4571-93DF-2B15E71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338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建立测温数据的独立验证集</a:t>
            </a:r>
          </a:p>
        </p:txBody>
      </p:sp>
      <p:sp>
        <p:nvSpPr>
          <p:cNvPr id="20" name="next-5-0">
            <a:extLst xmlns:a="http://schemas.openxmlformats.org/drawingml/2006/main">
              <a:ext uri="{FF2B5EF4-FFF2-40B4-BE49-F238E27FC236}">
                <a16:creationId xmlns:a16="http://schemas.microsoft.com/office/drawing/2014/main" id="{47BE0424-A6A6-456D-813D-6FC1D46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标签节省能否外推？</a:t>
            </a:r>
          </a:p>
        </p:txBody>
      </p:sp>
      <p:sp>
        <p:nvSpPr>
          <p:cNvPr id="21" name="next-5-1">
            <a:extLst xmlns:a="http://schemas.openxmlformats.org/drawingml/2006/main">
              <a:ext uri="{FF2B5EF4-FFF2-40B4-BE49-F238E27FC236}">
                <a16:creationId xmlns:a16="http://schemas.microsoft.com/office/drawing/2014/main" id="{BD254813-1F1F-4009-A9A3-AAA087A1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291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IV-C 复用 IV-A，尚非独立实验</a:t>
            </a:r>
          </a:p>
        </p:txBody>
      </p:sp>
      <p:sp>
        <p:nvSpPr>
          <p:cNvPr id="22" name="next-5-2">
            <a:extLst xmlns:a="http://schemas.openxmlformats.org/drawingml/2006/main">
              <a:ext uri="{FF2B5EF4-FFF2-40B4-BE49-F238E27FC236}">
                <a16:creationId xmlns:a16="http://schemas.microsoft.com/office/drawing/2014/main" id="{88941023-AD6A-405D-A978-CA39D2E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29125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24A"/>
                </a:solidFill>
              </a:defRPr>
            </a:pPr>
            <a:r>
              <a:rPr sz="1125" b="0">
                <a:solidFill>
                  <a:srgbClr val="3D424A"/>
                </a:solidFill>
              </a:rPr>
              <a:t>补做跨场景标签预算实验</a:t>
            </a:r>
          </a:p>
        </p:txBody>
      </p:sp>
      <p:sp>
        <p:nvSpPr>
          <p:cNvPr id="23" name="next-note">
            <a:extLst xmlns:a="http://schemas.openxmlformats.org/drawingml/2006/main">
              <a:ext uri="{FF2B5EF4-FFF2-40B4-BE49-F238E27FC236}">
                <a16:creationId xmlns:a16="http://schemas.microsoft.com/office/drawing/2014/main" id="{732CA7B0-F5AE-4ED6-8A99-0952F10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这些问题决定后续工作是“扩大数据证据”还是“重新设计物理接口”，也决定哪些结论可以写进论文。</a:t>
            </a:r>
          </a:p>
        </p:txBody>
      </p:sp>
    </p:spTree>
    <p:extLst>
      <p:ext uri="{BB962C8B-B14F-4D97-AF65-F5344CB8AC3E}">
        <p14:creationId xmlns:p14="http://schemas.microsoft.com/office/powerpoint/2010/main" val="15791651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eyebrow-40">
            <a:extLst xmlns:a="http://schemas.openxmlformats.org/drawingml/2006/main">
              <a:ext uri="{FF2B5EF4-FFF2-40B4-BE49-F238E27FC236}">
                <a16:creationId xmlns:a16="http://schemas.microsoft.com/office/drawing/2014/main" id="{29B8DF92-41F6-4A80-8752-EE0CACD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AB"/>
                </a:solidFill>
              </a:defRPr>
            </a:pPr>
            <a:r>
              <a:rPr sz="900" b="1">
                <a:solidFill>
                  <a:srgbClr val="159AAB"/>
                </a:solidFill>
              </a:rPr>
              <a:t>CLOSING</a:t>
            </a:r>
          </a:p>
        </p:txBody>
      </p:sp>
      <p:sp>
        <p:nvSpPr>
          <p:cNvPr id="2" name="full-title-40">
            <a:extLst xmlns:a="http://schemas.openxmlformats.org/drawingml/2006/main">
              <a:ext uri="{FF2B5EF4-FFF2-40B4-BE49-F238E27FC236}">
                <a16:creationId xmlns:a16="http://schemas.microsoft.com/office/drawing/2014/main" id="{F3ECB8EC-257D-4BDC-BD7D-B499DA9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当前最稳妥的汇报口径，可以压缩成三句话</a:t>
            </a:r>
          </a:p>
        </p:txBody>
      </p:sp>
      <p:sp>
        <p:nvSpPr>
          <p:cNvPr id="3" name="full-subtitle-40">
            <a:extLst xmlns:a="http://schemas.openxmlformats.org/drawingml/2006/main">
              <a:ext uri="{FF2B5EF4-FFF2-40B4-BE49-F238E27FC236}">
                <a16:creationId xmlns:a16="http://schemas.microsoft.com/office/drawing/2014/main" id="{41F4C36B-9516-4A37-B1E1-BF5B9A4B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最后回到组会需要讨论的核心结论。</a:t>
            </a:r>
          </a:p>
        </p:txBody>
      </p:sp>
      <p:sp>
        <p:nvSpPr>
          <p:cNvPr id="4" name="full-page-40">
            <a:extLst xmlns:a="http://schemas.openxmlformats.org/drawingml/2006/main">
              <a:ext uri="{FF2B5EF4-FFF2-40B4-BE49-F238E27FC236}">
                <a16:creationId xmlns:a16="http://schemas.microsoft.com/office/drawing/2014/main" id="{41DEED83-9980-4962-8E59-8AE043E9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26B"/>
                </a:solidFill>
              </a:defRPr>
            </a:pPr>
            <a:r>
              <a:rPr sz="900" b="1">
                <a:solidFill>
                  <a:srgbClr val="5D626B"/>
                </a:solidFill>
              </a:rPr>
              <a:t>40</a:t>
            </a:r>
          </a:p>
        </p:txBody>
      </p:sp>
      <p:sp>
        <p:nvSpPr>
          <p:cNvPr id="5" name="close-1">
            <a:extLst xmlns:a="http://schemas.openxmlformats.org/drawingml/2006/main">
              <a:ext uri="{FF2B5EF4-FFF2-40B4-BE49-F238E27FC236}">
                <a16:creationId xmlns:a16="http://schemas.microsoft.com/office/drawing/2014/main" id="{381B0863-90F5-40D1-BB03-0ABE08A7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论文侧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复现了公开的模型结构、求解骨架和 Section IV 协议；未把未公开细节伪装成原文。</a:t>
            </a:r>
          </a:p>
        </p:txBody>
      </p:sp>
      <p:sp>
        <p:nvSpPr>
          <p:cNvPr id="6" name="close-2">
            <a:extLst xmlns:a="http://schemas.openxmlformats.org/drawingml/2006/main">
              <a:ext uri="{FF2B5EF4-FFF2-40B4-BE49-F238E27FC236}">
                <a16:creationId xmlns:a16="http://schemas.microsoft.com/office/drawing/2014/main" id="{454DEA1F-F50B-49A3-9F92-45A67314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迁移侧</a:t>
            </a:r>
          </a:p>
          <a:p xmlns:a="http://schemas.openxmlformats.org/drawingml/2006/main">
            <a:pPr algn="ctr">
              <a:defRPr sz="1650">
                <a:solidFill>
                  <a:srgbClr val="3D424A"/>
                </a:solidFill>
              </a:defRPr>
            </a:pPr>
            <a:r>
              <a:rPr sz="1650">
                <a:solidFill>
                  <a:srgbClr val="3D424A"/>
                </a:solidFill>
              </a:rPr>
              <a:t>COMSOL 热传导场景中，PWL 在 20 批 × 12 标签档保持均值优势趋势。</a:t>
            </a:r>
          </a:p>
        </p:txBody>
      </p:sp>
      <p:sp>
        <p:nvSpPr>
          <p:cNvPr id="7" name="close-3">
            <a:extLst xmlns:a="http://schemas.openxmlformats.org/drawingml/2006/main">
              <a:ext uri="{FF2B5EF4-FFF2-40B4-BE49-F238E27FC236}">
                <a16:creationId xmlns:a16="http://schemas.microsoft.com/office/drawing/2014/main" id="{5812DE00-F5F7-4D5E-82BE-45E11C5F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机制侧</a:t>
            </a:r>
          </a:p>
          <a:p xmlns:a="http://schemas.openxmlformats.org/drawingml/2006/main">
            <a:pPr algn="ctr">
              <a:defRPr sz="1575">
                <a:solidFill>
                  <a:srgbClr val="3D424A"/>
                </a:solidFill>
              </a:defRPr>
            </a:pPr>
            <a:r>
              <a:rPr sz="1575">
                <a:solidFill>
                  <a:srgbClr val="3D424A"/>
                </a:solidFill>
              </a:rPr>
              <a:t>弱标签主要帮助小样本，B 主要支撑大样本，q_int 机理列负责大样本反超；显著性证据仍不足。</a:t>
            </a:r>
          </a:p>
        </p:txBody>
      </p:sp>
      <p:sp>
        <p:nvSpPr>
          <p:cNvPr id="8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CD22BF55-B054-48AB-BF64-DF75454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4A43"/>
                </a:solidFill>
              </a:defRPr>
            </a:pPr>
            <a:r>
              <a:rPr sz="1650" b="1">
                <a:solidFill>
                  <a:srgbClr val="B64A43"/>
                </a:solidFill>
              </a:rPr>
              <a:t>组会讨论：下一步优先增加批次与真实实验数据，还是先重构 H/B 与 θ 的可识别性？</a:t>
            </a:r>
          </a:p>
        </p:txBody>
      </p:sp>
    </p:spTree>
    <p:extLst>
      <p:ext uri="{BB962C8B-B14F-4D97-AF65-F5344CB8AC3E}">
        <p14:creationId xmlns:p14="http://schemas.microsoft.com/office/powerpoint/2010/main" val="1482799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2026-08-04T04:50:56.8370000Z</dcterms:created>
  <dcterms:modified xsi:type="dcterms:W3CDTF">2026-08-04T04:50:56.8370000Z</dcterms:modified>
</coreProperties>
</file>