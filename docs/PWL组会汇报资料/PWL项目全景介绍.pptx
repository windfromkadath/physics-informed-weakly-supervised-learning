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c2edc27dac49eb" /><Relationship Type="http://schemas.openxmlformats.org/officeDocument/2006/relationships/extended-properties" Target="/docProps/app.xml" Id="R8b9cc19a107247e3" /><Relationship Type="http://schemas.openxmlformats.org/officeDocument/2006/relationships/officeDocument" Target="/ppt/presentation.xml" Id="R74ed9ffb4a1c4c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dcba9465ae4206"/>
  </p:sldMasterIdLst>
  <p:notesMasterIdLst>
    <p:notesMasterId xmlns:r="http://schemas.openxmlformats.org/officeDocument/2006/relationships" r:id="R2e53c5472ec94551"/>
  </p:notesMasterIdLst>
  <p:sldIdLst>
    <p:sldId xmlns:r="http://schemas.openxmlformats.org/officeDocument/2006/relationships" id="256" r:id="Rcb8b5de10bf349ae"/>
    <p:sldId xmlns:r="http://schemas.openxmlformats.org/officeDocument/2006/relationships" id="257" r:id="Red68fccb18f5461c"/>
    <p:sldId xmlns:r="http://schemas.openxmlformats.org/officeDocument/2006/relationships" id="258" r:id="Re53a96955aee4eb3"/>
    <p:sldId xmlns:r="http://schemas.openxmlformats.org/officeDocument/2006/relationships" id="259" r:id="Rd87cf4839ed847da"/>
    <p:sldId xmlns:r="http://schemas.openxmlformats.org/officeDocument/2006/relationships" id="260" r:id="R33eb6a6a0dfc4d43"/>
    <p:sldId xmlns:r="http://schemas.openxmlformats.org/officeDocument/2006/relationships" id="261" r:id="Reb01259c559a4773"/>
    <p:sldId xmlns:r="http://schemas.openxmlformats.org/officeDocument/2006/relationships" id="262" r:id="R333d7681f0164f2a"/>
    <p:sldId xmlns:r="http://schemas.openxmlformats.org/officeDocument/2006/relationships" id="263" r:id="Rdebb9a96e82f4f29"/>
    <p:sldId xmlns:r="http://schemas.openxmlformats.org/officeDocument/2006/relationships" id="264" r:id="R2acb86b543414c24"/>
    <p:sldId xmlns:r="http://schemas.openxmlformats.org/officeDocument/2006/relationships" id="265" r:id="R988a9299e6a24aed"/>
    <p:sldId xmlns:r="http://schemas.openxmlformats.org/officeDocument/2006/relationships" id="266" r:id="R9534b3a8c8764f83"/>
    <p:sldId xmlns:r="http://schemas.openxmlformats.org/officeDocument/2006/relationships" id="267" r:id="R7ed36d267e4043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efa3fb983f42cd" /><Relationship Type="http://schemas.openxmlformats.org/officeDocument/2006/relationships/slideMaster" Target="/ppt/slideMasters/slideMaster1.xml" Id="R59dcba9465ae4206" /><Relationship Type="http://schemas.openxmlformats.org/officeDocument/2006/relationships/notesMaster" Target="/ppt/notesMasters/notesMaster1.xml" Id="R2e53c5472ec94551" /><Relationship Type="http://schemas.openxmlformats.org/officeDocument/2006/relationships/presProps" Target="/ppt/presProps.xml" Id="R64c02727d6c44a8b" /><Relationship Type="http://schemas.openxmlformats.org/officeDocument/2006/relationships/tableStyles" Target="/ppt/tableStyles.xml" Id="R99ce3f781cb44194" /><Relationship Type="http://schemas.openxmlformats.org/officeDocument/2006/relationships/slide" Target="/ppt/slides/slide1.xml" Id="Rcb8b5de10bf349ae" /><Relationship Type="http://schemas.openxmlformats.org/officeDocument/2006/relationships/slide" Target="/ppt/slides/slide2.xml" Id="Red68fccb18f5461c" /><Relationship Type="http://schemas.openxmlformats.org/officeDocument/2006/relationships/slide" Target="/ppt/slides/slide3.xml" Id="Re53a96955aee4eb3" /><Relationship Type="http://schemas.openxmlformats.org/officeDocument/2006/relationships/slide" Target="/ppt/slides/slide4.xml" Id="Rd87cf4839ed847da" /><Relationship Type="http://schemas.openxmlformats.org/officeDocument/2006/relationships/slide" Target="/ppt/slides/slide5.xml" Id="R33eb6a6a0dfc4d43" /><Relationship Type="http://schemas.openxmlformats.org/officeDocument/2006/relationships/slide" Target="/ppt/slides/slide6.xml" Id="Reb01259c559a4773" /><Relationship Type="http://schemas.openxmlformats.org/officeDocument/2006/relationships/slide" Target="/ppt/slides/slide7.xml" Id="R333d7681f0164f2a" /><Relationship Type="http://schemas.openxmlformats.org/officeDocument/2006/relationships/slide" Target="/ppt/slides/slide8.xml" Id="Rdebb9a96e82f4f29" /><Relationship Type="http://schemas.openxmlformats.org/officeDocument/2006/relationships/slide" Target="/ppt/slides/slide9.xml" Id="R2acb86b543414c24" /><Relationship Type="http://schemas.openxmlformats.org/officeDocument/2006/relationships/slide" Target="/ppt/slides/slide10.xml" Id="R988a9299e6a24aed" /><Relationship Type="http://schemas.openxmlformats.org/officeDocument/2006/relationships/slide" Target="/ppt/slides/slide11.xml" Id="R9534b3a8c8764f83" /><Relationship Type="http://schemas.openxmlformats.org/officeDocument/2006/relationships/slide" Target="/ppt/slides/slide12.xml" Id="R7ed36d267e4043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7fc3e7367e44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1d09fbe9034fb4" /><Relationship Type="http://schemas.openxmlformats.org/officeDocument/2006/relationships/notesMaster" Target="/ppt/notesMasters/notesMaster1.xml" Id="Rcbdd5b9d80dc4c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7058e2cb574f3e" /><Relationship Type="http://schemas.openxmlformats.org/officeDocument/2006/relationships/notesMaster" Target="/ppt/notesMasters/notesMaster1.xml" Id="Ra96b0182e4ca41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28d014bad948de" /><Relationship Type="http://schemas.openxmlformats.org/officeDocument/2006/relationships/notesMaster" Target="/ppt/notesMasters/notesMaster1.xml" Id="Rb3f24681272f43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7b753efde44170" /><Relationship Type="http://schemas.openxmlformats.org/officeDocument/2006/relationships/notesMaster" Target="/ppt/notesMasters/notesMaster1.xml" Id="R2656f130cefc45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e156fbe95d47b6" /><Relationship Type="http://schemas.openxmlformats.org/officeDocument/2006/relationships/notesMaster" Target="/ppt/notesMasters/notesMaster1.xml" Id="R20d68ecc39e347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75824cd2e24a54" /><Relationship Type="http://schemas.openxmlformats.org/officeDocument/2006/relationships/notesMaster" Target="/ppt/notesMasters/notesMaster1.xml" Id="R1c470a48a3004f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f3c72779d04913" /><Relationship Type="http://schemas.openxmlformats.org/officeDocument/2006/relationships/notesMaster" Target="/ppt/notesMasters/notesMaster1.xml" Id="Rff46878ef1be40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b7f3d2727043b2" /><Relationship Type="http://schemas.openxmlformats.org/officeDocument/2006/relationships/notesMaster" Target="/ppt/notesMasters/notesMaster1.xml" Id="R69e77884c30047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90a14303d2450a" /><Relationship Type="http://schemas.openxmlformats.org/officeDocument/2006/relationships/notesMaster" Target="/ppt/notesMasters/notesMaster1.xml" Id="R15f23f33163341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94fc7980fa4448" /><Relationship Type="http://schemas.openxmlformats.org/officeDocument/2006/relationships/notesMaster" Target="/ppt/notesMasters/notesMaster1.xml" Id="R7067fca44ce04e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04721a475a4c59" /><Relationship Type="http://schemas.openxmlformats.org/officeDocument/2006/relationships/notesMaster" Target="/ppt/notesMasters/notesMaster1.xml" Id="Rb8c97084753841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1cafad929a4ec3" /><Relationship Type="http://schemas.openxmlformats.org/officeDocument/2006/relationships/notesMaster" Target="/ppt/notesMasters/notesMaster1.xml" Id="Rf6a2223e7d9642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阶段性总结_PWL算法实现框架.md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阶段性总结_PWL算法实现框架.md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reproduction/src/pwl_repro/core/model.py</a:t>
            </a:r>
          </a:p>
          <a:p xmlns:a="http://schemas.openxmlformats.org/drawingml/2006/main">
            <a:r>
              <a:t>- reproduction/src/pwl_repro/core/features.py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reproduction/src/pwl_repro/core/model.py</a:t>
            </a:r>
          </a:p>
          <a:p xmlns:a="http://schemas.openxmlformats.org/drawingml/2006/main">
            <a:r>
              <a:t>- reproduction/src/pwl_repro/core/optimization.py</a:t>
            </a:r>
          </a:p>
          <a:p xmlns:a="http://schemas.openxmlformats.org/drawingml/2006/main">
            <a:r>
              <a:t>- reproduction/src/pwl_repro/experiments/tuning.py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阶段性总结_PWL算法实现框架.md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reproduction/src/pwl_repro/experiments/types.py</a:t>
            </a:r>
          </a:p>
          <a:p xmlns:a="http://schemas.openxmlformats.org/drawingml/2006/main">
            <a:r>
              <a:t>- reproduction/src/pwl_repro/experiments/protocols.py</a:t>
            </a:r>
          </a:p>
          <a:p xmlns:a="http://schemas.openxmlformats.org/drawingml/2006/main">
            <a:r>
              <a:t>- reproduction/src/pwl_repro/experiments/reporting.py</a:t>
            </a:r>
          </a:p>
          <a:p xmlns:a="http://schemas.openxmlformats.org/drawingml/2006/main">
            <a:r>
              <a:t>- migration/src/pwl_migration/heat_experiments.py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reproduction/REPRODUCTION.md</a:t>
            </a:r>
          </a:p>
          <a:p xmlns:a="http://schemas.openxmlformats.org/drawingml/2006/main">
            <a:r>
              <a:t>- reproduction/SECTION_IV_PROTOCOL.md</a:t>
            </a:r>
          </a:p>
          <a:p xmlns:a="http://schemas.openxmlformats.org/drawingml/2006/main">
            <a:r>
              <a:t>- reproduction/src/pwl_repro/experiments/protocols.py</a:t>
            </a:r>
          </a:p>
          <a:p xmlns:a="http://schemas.openxmlformats.org/drawingml/2006/main">
            <a:r>
              <a:t>- reproduction/src/pwl_repro/scenarios/simulation.py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references/docs/09_案例B物理代理模型解析.md</a:t>
            </a:r>
          </a:p>
          <a:p xmlns:a="http://schemas.openxmlformats.org/drawingml/2006/main">
            <a:r>
              <a:t>- reproduction/src/pwl_repro/scenarios/case_b.py</a:t>
            </a:r>
          </a:p>
          <a:p xmlns:a="http://schemas.openxmlformats.org/drawingml/2006/main">
            <a:r>
              <a:t>- reproduction/reports/案例B复现/案例B复现报告.md</a:t>
            </a:r>
          </a:p>
          <a:p xmlns:a="http://schemas.openxmlformats.org/drawingml/2006/main">
            <a:r>
              <a:t>- datasets/case_b_spotweld/README.md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migration/README.md</a:t>
            </a:r>
          </a:p>
          <a:p xmlns:a="http://schemas.openxmlformats.org/drawingml/2006/main">
            <a:r>
              <a:t>- migration/src/pwl_migration/heat.py</a:t>
            </a:r>
          </a:p>
          <a:p xmlns:a="http://schemas.openxmlformats.org/drawingml/2006/main">
            <a:r>
              <a:t>- migration/src/pwl_migration/heat_experiments.py</a:t>
            </a:r>
          </a:p>
          <a:p xmlns:a="http://schemas.openxmlformats.org/drawingml/2006/main">
            <a:r>
              <a:t>- migration/reports/迁移后续工作/COMSOL场景theta判据修订.md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migration/results/heat_v3_qint_min/BASELINE.md</a:t>
            </a:r>
          </a:p>
          <a:p xmlns:a="http://schemas.openxmlformats.org/drawingml/2006/main">
            <a:r>
              <a:t>- migration/reports/迁移后续工作/COMSOL场景20批统计闭环报告.md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migration/reports/迁移后续工作/COMSOL场景v3机制消融报告.md</a:t>
            </a:r>
          </a:p>
          <a:p xmlns:a="http://schemas.openxmlformats.org/drawingml/2006/main">
            <a:r>
              <a:t>- migration/reports/迁移后续工作/COMSOL场景v3机理列修复与协议消融实验报告.md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阶段性总结_PWL算法实现框架.md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7c608df334a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05e170814c480a" /><Relationship Type="http://schemas.openxmlformats.org/officeDocument/2006/relationships/slideLayout" Target="/ppt/slideLayouts/slideLayout1.xml" Id="Re212969e6de143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12969e6de143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b450fdec34072" /><Relationship Type="http://schemas.openxmlformats.org/officeDocument/2006/relationships/notesSlide" Target="/ppt/notesSlides/notesSlide1.xml" Id="R13b03953814e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437f226b5458b" /><Relationship Type="http://schemas.openxmlformats.org/officeDocument/2006/relationships/notesSlide" Target="/ppt/notesSlides/notesSlide2.xml" Id="R6c136a1b710548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f26f2fa254b12" /><Relationship Type="http://schemas.openxmlformats.org/officeDocument/2006/relationships/notesSlide" Target="/ppt/notesSlides/notesSlide3.xml" Id="R8e8b64d1226042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1f1d21e8c4050" /><Relationship Type="http://schemas.openxmlformats.org/officeDocument/2006/relationships/notesSlide" Target="/ppt/notesSlides/notesSlide4.xml" Id="R309bae86907a4b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95b9237e84521" /><Relationship Type="http://schemas.openxmlformats.org/officeDocument/2006/relationships/notesSlide" Target="/ppt/notesSlides/notesSlide5.xml" Id="R74f47f55514f4e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176294f7b4e52" /><Relationship Type="http://schemas.openxmlformats.org/officeDocument/2006/relationships/notesSlide" Target="/ppt/notesSlides/notesSlide6.xml" Id="Rfa280602132e44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48d04273c4cb2" /><Relationship Type="http://schemas.openxmlformats.org/officeDocument/2006/relationships/notesSlide" Target="/ppt/notesSlides/notesSlide7.xml" Id="R0cfb4647399644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4ec99cbe740c7" /><Relationship Type="http://schemas.openxmlformats.org/officeDocument/2006/relationships/notesSlide" Target="/ppt/notesSlides/notesSlide8.xml" Id="R0f17a6009fd648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e549970db41da" /><Relationship Type="http://schemas.openxmlformats.org/officeDocument/2006/relationships/notesSlide" Target="/ppt/notesSlides/notesSlide9.xml" Id="R83e7b80af73c43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50c82754f4920" /><Relationship Type="http://schemas.openxmlformats.org/officeDocument/2006/relationships/chart" Target="/ppt/slides/charts/chart1.xml" Id="R4505b354a92448e4" /><Relationship Type="http://schemas.openxmlformats.org/officeDocument/2006/relationships/notesSlide" Target="/ppt/notesSlides/notesSlide10.xml" Id="R9995d91a8eac43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e94bbc2e54466" /><Relationship Type="http://schemas.openxmlformats.org/officeDocument/2006/relationships/notesSlide" Target="/ppt/notesSlides/notesSlide11.xml" Id="R7c7f73ab2bf14c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1ba872f8f464f" /><Relationship Type="http://schemas.openxmlformats.org/officeDocument/2006/relationships/notesSlide" Target="/ppt/notesSlides/notesSlide12.xml" Id="R66cad2345ebf4e9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PWL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@10</c:v>
              </c:pt>
              <c:pt idx="1">
                <c:v>@60</c:v>
              </c:pt>
              <c:pt idx="2">
                <c:v>@120</c:v>
              </c:pt>
            </c:strLit>
          </c:cat>
          <c:val>
            <c:numLit>
              <c:formatCode>General</c:formatCode>
              <c:ptCount val="3"/>
              <c:pt idx="0">
                <c:v>7.678</c:v>
              </c:pt>
              <c:pt idx="1">
                <c:v>5.825</c:v>
              </c:pt>
              <c:pt idx="2">
                <c:v>5.351</c:v>
              </c:pt>
            </c:numLit>
          </c:val>
        </c:ser>
        <c:ser>
          <c:idx val="1"/>
          <c:order val="1"/>
          <c:tx>
            <c:v>Physics-GP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@10</c:v>
              </c:pt>
              <c:pt idx="1">
                <c:v>@60</c:v>
              </c:pt>
              <c:pt idx="2">
                <c:v>@120</c:v>
              </c:pt>
            </c:strLit>
          </c:cat>
          <c:val>
            <c:numLit>
              <c:formatCode>General</c:formatCode>
              <c:ptCount val="3"/>
              <c:pt idx="0">
                <c:v>8.87</c:v>
              </c:pt>
              <c:pt idx="1">
                <c:v>6.54</c:v>
              </c:pt>
              <c:pt idx="2">
                <c:v>5.648</c:v>
              </c:pt>
            </c:numLit>
          </c:val>
        </c:ser>
        <c:ser>
          <c:idx val="2"/>
          <c:order val="2"/>
          <c:tx>
            <c:v>GP</c:v>
          </c:tx>
          <c:spPr>
            <a:solidFill xmlns:a="http://schemas.openxmlformats.org/drawingml/2006/main">
              <a:srgbClr val="A6AAB0"/>
            </a:solidFill>
          </c:spPr>
          <c:cat>
            <c:strLit>
              <c:ptCount val="3"/>
              <c:pt idx="0">
                <c:v>@10</c:v>
              </c:pt>
              <c:pt idx="1">
                <c:v>@60</c:v>
              </c:pt>
              <c:pt idx="2">
                <c:v>@120</c:v>
              </c:pt>
            </c:strLit>
          </c:cat>
          <c:val>
            <c:numLit>
              <c:formatCode>General</c:formatCode>
              <c:ptCount val="3"/>
              <c:pt idx="0">
                <c:v>10.759</c:v>
              </c:pt>
              <c:pt idx="1">
                <c:v>6.146</c:v>
              </c:pt>
              <c:pt idx="2">
                <c:v>5.68</c:v>
              </c:pt>
            </c:numLit>
          </c:val>
        </c:ser>
        <c:ser>
          <c:idx val="3"/>
          <c:order val="3"/>
          <c:tx>
            <c:v>GBDT</c:v>
          </c:tx>
          <c:spPr>
            <a:solidFill xmlns:a="http://schemas.openxmlformats.org/drawingml/2006/main">
              <a:srgbClr val="D0D2D5"/>
            </a:solidFill>
          </c:spPr>
          <c:cat>
            <c:strLit>
              <c:ptCount val="3"/>
              <c:pt idx="0">
                <c:v>@10</c:v>
              </c:pt>
              <c:pt idx="1">
                <c:v>@60</c:v>
              </c:pt>
              <c:pt idx="2">
                <c:v>@120</c:v>
              </c:pt>
            </c:strLit>
          </c:cat>
          <c:val>
            <c:numLit>
              <c:formatCode>General</c:formatCode>
              <c:ptCount val="3"/>
              <c:pt idx="0">
                <c:v>10.908</c:v>
              </c:pt>
              <c:pt idx="1">
                <c:v>6.938</c:v>
              </c:pt>
              <c:pt idx="2">
                <c:v>6.338</c:v>
              </c:pt>
            </c:numLit>
          </c:val>
        </c:ser>
        <c:ser>
          <c:idx val="4"/>
          <c:order val="4"/>
          <c:tx>
            <c:v>PhysicsDirect</c:v>
          </c:tx>
          <c:spPr>
            <a:solidFill xmlns:a="http://schemas.openxmlformats.org/drawingml/2006/main">
              <a:srgbClr val="E5C4A3"/>
            </a:solidFill>
          </c:spPr>
          <c:cat>
            <c:strLit>
              <c:ptCount val="3"/>
              <c:pt idx="0">
                <c:v>@10</c:v>
              </c:pt>
              <c:pt idx="1">
                <c:v>@60</c:v>
              </c:pt>
              <c:pt idx="2">
                <c:v>@120</c:v>
              </c:pt>
            </c:strLit>
          </c:cat>
          <c:val>
            <c:numLit>
              <c:formatCode>General</c:formatCode>
              <c:ptCount val="3"/>
              <c:pt idx="0">
                <c:v>15.275</c:v>
              </c:pt>
              <c:pt idx="1">
                <c:v>15.275</c:v>
              </c:pt>
              <c:pt idx="2">
                <c:v>15.275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07FAC-1A53-487A-B49F-A0ED25DA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3102F-2E32-48A0-83C7-53C8D8C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42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从论文复现到</a:t>
            </a:r>
          </a:p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物理—数据联合学习工程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5C2DE-4E5F-4A1E-9F04-1EE5DA6C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77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PWL 项目全景介绍 · 核心算法、场景迁移与可审计证据</a:t>
            </a:r>
          </a:p>
          <a:p xmlns:a="http://schemas.openxmlformats.org/drawingml/2006/main">
            <a:pPr algn="l"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2026.08.04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357C3-0C62-4038-993E-9E3BEB23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10125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A9901-08BD-4643-8B10-341794DD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72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可实例化的</a:t>
            </a:r>
          </a:p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物理—数据框架</a:t>
            </a:r>
          </a:p>
        </p:txBody>
      </p:sp>
    </p:spTree>
    <p:extLst>
      <p:ext uri="{BB962C8B-B14F-4D97-AF65-F5344CB8AC3E}">
        <p14:creationId xmlns:p14="http://schemas.microsoft.com/office/powerpoint/2010/main" val="814252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BF92E-D97F-4097-9687-06A8E56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E2FE8-01F8-468C-B1CA-6D706B73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工业预测的核心矛盾：信息如何组合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7FC1B-6705-4DEE-8275-EC195585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BB221-F08D-4E7C-B60B-D30E2DB9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E160B-8641-41E9-9842-A75C94D5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同一个质量指标，往往同时受到物理规律、真实标签与过程扰动的影响。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271F8-9557-4F9D-80CE-3B8DF53D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D4105-DF22-41B7-9234-AE6E8B91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低成本物理弱标签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A19D9-574E-46CB-BE8C-D962C581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有机理、少成本</a:t>
            </a:r>
          </a:p>
          <a:p xmlns:a="http://schemas.openxmlformats.org/drawingml/2006/main">
            <a:pPr algn="l"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但不完全准确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5D6D4-9266-4B5A-8894-FE571667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C4590-B68E-402B-A934-419EA42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少量真实标签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EDB2D-0337-4851-81E8-9FD9CC63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信息最可信</a:t>
            </a:r>
          </a:p>
          <a:p xmlns:a="http://schemas.openxmlformats.org/drawingml/2006/main">
            <a:pPr algn="l"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但标注昂贵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59C19-3DC6-41C6-B2DB-33E8A2C9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914C9-7F2D-4EE8-8213-E9B62B1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额外过程变量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B7473-F911-45EE-8DA5-2A85E813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能解释现实偏差</a:t>
            </a:r>
          </a:p>
          <a:p xmlns:a="http://schemas.openxmlformats.org/drawingml/2006/main">
            <a:pPr algn="l"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却容易与物理项混淆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EFA86-6694-4812-8EA4-CAE03187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33900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C2077-39D7-44F3-B326-E8EB9EA5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29175"/>
            <a:ext cx="8458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6876C-5AB3-4289-B0FE-1A3B9A6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62525"/>
            <a:ext cx="811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的策略：让弱标签提供形状，让真实标签完成纠偏。</a:t>
            </a:r>
          </a:p>
        </p:txBody>
      </p:sp>
    </p:spTree>
    <p:extLst>
      <p:ext uri="{BB962C8B-B14F-4D97-AF65-F5344CB8AC3E}">
        <p14:creationId xmlns:p14="http://schemas.microsoft.com/office/powerpoint/2010/main" val="475940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46A93-5561-4880-9CC5-DAA5699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9DD21-9A6A-4792-91E4-59BA05C5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把三类信息合并为一个模型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71B2D-6A34-45B9-A747-2B144EC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3FB7C-73DE-4987-9369-379AFD65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F4EB6-0D6F-4AFD-9135-C7E2D5D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预测结构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9B021-60CC-4C6B-AF3D-18B7E39C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66950"/>
            <a:ext cx="114014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ŷ = H(xᵖʰ, θ)g + B(xᵖʳ, xᵖʰ)d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5EB91-0495-452D-8CC3-9940BB52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5280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613F4-F253-49E8-B8E2-4A70A71F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4A918-7739-4B1B-8D6E-1934996A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H g · 蒸馏项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B1BD8-482C-481B-A188-BCC55A49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从物理弱标签中</a:t>
            </a:r>
          </a:p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提取可复用规律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80766-EE6A-4BED-BD36-BDFDB9E2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5FF27-398F-43B0-ACDA-D24BB20C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 d · 差异项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87DE7-C8EC-4ED4-B9BA-CC58604C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用过程变量与物理变量</a:t>
            </a:r>
          </a:p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补偿遗漏效应和结构偏差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970FF-4757-48D5-8596-44AF3E3C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0F3D4-6B2F-468C-ABFC-2E92AD0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rPr>
              <a:t>θ · 校准参数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519A0-E758-4A41-A26B-E14E41B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在盒约束内联合更新；</a:t>
            </a:r>
          </a:p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既服务校准，也影响预测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A9EB5-4EE7-451E-B814-BF6EB97C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57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关键点：同一套算法内核，必须由每个场景重新定义 H / B / θ。</a:t>
            </a:r>
          </a:p>
        </p:txBody>
      </p:sp>
    </p:spTree>
    <p:extLst>
      <p:ext uri="{BB962C8B-B14F-4D97-AF65-F5344CB8AC3E}">
        <p14:creationId xmlns:p14="http://schemas.microsoft.com/office/powerpoint/2010/main" val="1027109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21B15-63EF-45B3-AA5A-E60F7AD3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0E209-C0F6-45DD-9B34-A34C066C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求解器把模型拆成 g / d / θ 三个子问题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95636-55CC-4B9F-9843-D163950F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987B6-AAEE-4910-8804-A974BEB3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C43BF-6082-42FB-94E0-C0AA2F04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外层：块坐标下降（BCD）      内层：一致性 ADMM + 近端算子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08E8C-F586-4A3E-9CF4-7F47E709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11DAB-7602-415A-ADB7-0F3BA138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EFD99-0156-489C-878C-BE5453E3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696EB-EEC0-46AB-8FDB-BF3BE64F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6CB5C-E7DF-40A2-8469-39F1E469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813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66D52-98EC-4ED7-9DD6-A73ADDD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1945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真实标签</a:t>
            </a:r>
          </a:p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物理弱标签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1E430-1954-4E37-97A4-D61F352D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C79F2-C9B7-409E-B934-AAF27EBB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 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5435C-6CB9-48E6-B059-C8F0E5A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194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监督二次项</a:t>
            </a:r>
          </a:p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物理二次项 + L1</a:t>
            </a:r>
          </a:p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组稀疏阈值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88641-EE79-4A2D-8CDF-6C7E28B2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098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CD2C2-2FD9-4B87-A685-F34E87DB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813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 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1B7A0-E6AE-4016-A632-C7A822AC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1945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最小二乘</a:t>
            </a:r>
          </a:p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可选 ridge 稳定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5AB07-9428-4036-B784-1C6725D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8B1ED-35D1-4307-B0A4-8B1118A0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θ 更新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F0830-37BE-4491-B35E-5893CBD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监督二次项</a:t>
            </a:r>
          </a:p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物理二次项</a:t>
            </a:r>
          </a:p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盒约束投影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4D679-5F51-4078-B6BA-90E2D99C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81550"/>
            <a:ext cx="114014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203E0-B09E-47B5-AE45-F956A46B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14900"/>
            <a:ext cx="11058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 objective、参数变化、ADMM 残差与收敛状态；无效候选直接进入质量门禁。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688A6-C83E-4F52-8D9E-0DFEEBCD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67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工程化结果：更新规则闭式可算、每轮可追踪、每个候选可复核。</a:t>
            </a:r>
          </a:p>
        </p:txBody>
      </p:sp>
    </p:spTree>
    <p:extLst>
      <p:ext uri="{BB962C8B-B14F-4D97-AF65-F5344CB8AC3E}">
        <p14:creationId xmlns:p14="http://schemas.microsoft.com/office/powerpoint/2010/main" val="436931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F5E41-02BC-4255-A07B-BD5F312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C4739-95DD-4F87-B8AB-6D70162B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工程边界清晰：内核复用，场景重建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B59B8-FAB7-483C-BEB9-0B67252C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86895-8EF6-48AA-B4CF-1E6C2889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7D2F9-1C52-42AB-BB06-2C83BE32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21D38-270E-444B-8313-4855151F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86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3833B-4B74-4513-AA5E-2E94B3AE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C3B59-F2F6-4CDA-98AB-881AD930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72DCC-98AA-4829-8DF5-E51DCA4B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9825"/>
            <a:ext cx="2667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BF5C4-4AAA-41EA-9B26-C0A30EA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193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pwl_repro.core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A86DC-46AA-40F4-B690-DD9FD7F6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33725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  <a:p xmlns:a="http://schemas.openxmlformats.org/drawingml/2006/main">
            <a:pPr algn="l"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特征注册</a:t>
            </a:r>
          </a:p>
          <a:p xmlns:a="http://schemas.openxmlformats.org/drawingml/2006/main">
            <a:pPr algn="l"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优化器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89800-BC7F-4F73-8B0A-F043DEAD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9825"/>
            <a:ext cx="3429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24394-5D7F-43DE-95E7-4C1765AE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场景实例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40A5D-50BD-436B-9BDB-A632BA23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33725"/>
            <a:ext cx="297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论文仿真  ·  案例 B  ·  热传导迁移</a:t>
            </a:r>
          </a:p>
          <a:p xmlns:a="http://schemas.openxmlformats.org/drawingml/2006/main">
            <a:pPr algn="l">
              <a:def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每个场景重建物理模型与 H / B 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29C9D-9A18-4931-9C94-F1DA8E12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09825"/>
            <a:ext cx="4095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C5136-D2AE-49EC-9ACB-3A0A38A8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193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experiments + experiment_api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CFF6E-391D-410C-9441-FDBC0567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33725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统一调参、协议、统计、报告</a:t>
            </a:r>
          </a:p>
          <a:p xmlns:a="http://schemas.openxmlformats.org/drawingml/2006/main">
            <a:pPr algn="l">
              <a:def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跨包复用只经过稳定公共接口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61A54-EDAD-4650-97D7-79B32344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10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迁移门禁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05174-2599-4681-ABE4-7A89335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39100-9136-4061-A160-A69FB9A3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72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重新设计物理模型与 H / B 基函数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0E997-EDA3-43CB-B584-0E69949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56CD5-FD6E-4155-9A9A-F602586C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720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检查列空间可辨识性与 θ 判据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5C468-A174-44C0-8CD9-7BA70203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0A4B9-5542-4E6D-AC06-098670CE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按场景选择规则并保留统计边界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DA8F1-9C55-4ACE-8A4D-2193C3A4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34050"/>
            <a:ext cx="114014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DE179-39C2-4767-9E48-B06F8155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867400"/>
            <a:ext cx="11058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是可实例化的框架，不是跨场景即插即用的固定模型。</a:t>
            </a:r>
          </a:p>
        </p:txBody>
      </p:sp>
    </p:spTree>
    <p:extLst>
      <p:ext uri="{BB962C8B-B14F-4D97-AF65-F5344CB8AC3E}">
        <p14:creationId xmlns:p14="http://schemas.microsoft.com/office/powerpoint/2010/main" val="1145534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B18FE2-AEEE-482C-A2B4-73C43C6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B3061-5410-4FAC-9351-75112C49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同一实验引擎，覆盖三条证据链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EAFD3-9702-4939-958C-B51E153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1039E-0919-4B2A-AB24-6FCF749A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F1C0B-454F-44CF-8DC2-1FD22AF4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A607F-DD93-4F06-BA9B-CB5516A6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38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49FF3-CB4B-4D6F-B161-B9758BD2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86690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D9A12-5AFA-40AC-9A1B-47A8092B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038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EC59C-D3B1-4B0C-96C3-5B3A85A0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8669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38133-0FF6-42D4-B5F5-B49BA51E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038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4901D-C3AD-49CE-88B9-084A16DD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66900"/>
            <a:ext cx="2733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B3CE0-9739-4EC0-955F-6F79EA9B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38350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A0C59-E2F5-4308-943B-38DF750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9A800-7C24-4112-9835-AE183ED4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81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IV-A 标签量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89642-2A75-4E1F-A77D-EC28E943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60985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B4DFD-C4D8-48D0-841E-A6EE7759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81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标签从 10 → 120 时，PWL 如何变化？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F00E8-E84F-486E-848E-2D494337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098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56D6D-D85A-4055-9897-78C5945D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813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嵌套划分、候选调参、监督基线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95663-1682-456D-9F05-CB6D4F33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09850"/>
            <a:ext cx="2733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369EA-950A-4B00-89E2-5CA7985D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81300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结构已验证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45AB5-1DE7-4FBB-8849-E0A71A02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528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2CC47-9351-49C7-AF73-AC9FE854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24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IV-B 物理精度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A0843-1DFA-43E1-8968-4968CB06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5280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A2996-27F5-4139-946D-C2C64938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524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弱标签质量从 0.85 → 0.50 时，PWL 如何变化？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DBFCD-3843-4942-AC06-EF2084D2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3528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1D63A-C2A7-4AAA-B49A-91A4E94F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524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相关性标定、配对检验、Holm 校正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54222-190A-42E5-BCE0-0464EB21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52800"/>
            <a:ext cx="2733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5FCF4F-1FD3-4EF3-AC6D-112614C8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24250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机制已验证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37CD0-FCC6-4AF2-B396-3658DBB9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9575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A28885-2567-4B7B-B58F-648AA740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67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IV-C 标签节省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CD008-7C12-4FA5-9010-F2E4F3C0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09575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8E011F-279F-46A2-BABF-CB1CA467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67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 30 个标签能否追平更多监督标签？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342433-C686-4DFA-8F5B-FD7F176F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0957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B958B7-2C19-4C58-B24B-DD32F542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67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PWL-fixed、Best-supervised、TOST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44477F-3873-4F1F-BC69-CE717FBB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95750"/>
            <a:ext cx="2733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FD16E3-86C5-4855-BBFE-4F4FA688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67200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协议已实现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90DE05-E161-46CA-A57B-CC52075C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387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29795F-1F17-48B2-81DD-71EB2070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010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热传导迁移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B34683-90CD-4BDC-8588-E663A8F6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83870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4A3712-3397-4C93-9092-716E1799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010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新物理场景能否保留优势机制？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D4E8C8-06A6-4FC7-80B2-2BD90FE2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8387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A668F0-633D-413D-B431-9A0A9DE2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010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 批、12 档、数据验收与迁移锚点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CB1077-E7C6-40F8-A11B-668036CB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38700"/>
            <a:ext cx="2733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99267F-D1F1-4228-B411-1579A4D4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010150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主结果冻结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7C9D30-A495-4EC2-BCF9-CCC29310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29300"/>
            <a:ext cx="11401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每条证据链都输出 metrics / predictions / conditions / statistical_tests，并写入 quality_checks。</a:t>
            </a:r>
          </a:p>
        </p:txBody>
      </p:sp>
    </p:spTree>
    <p:extLst>
      <p:ext uri="{BB962C8B-B14F-4D97-AF65-F5344CB8AC3E}">
        <p14:creationId xmlns:p14="http://schemas.microsoft.com/office/powerpoint/2010/main" val="902408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FA2C6-CCFF-4BF7-BD68-C837BC2A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E94F2-8AE8-44AD-93A8-4046F3D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论文仿真线：先验证结构，再看结果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43F8C-5D9E-4DE0-B864-709B70F8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39688-8F77-4526-9B36-DA2C541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AD0A2-D2C4-4C0E-8FAC-6AE74722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Section IV 的三组协议被配置化、可重复、可单独运行。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ABCF2-E7C1-4991-9383-A27D098E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52775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090A9-D687-48DE-A270-6892C2DA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8CE91-91FB-47AE-95A6-586BBE8D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1DBA5-A24C-44A5-923B-66EEB315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标签量扫描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CBC8-90F6-4DB7-BD68-4E1FBD2F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10 / 20 / … / 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7448A-E7C9-4E29-990F-662C5FF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0BE04-31C7-4CCA-8BFE-18CADD2B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77340-63A1-40CD-AC6B-CDD75CCD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物理精度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49458-87F5-4620-A186-607C4F0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corr = 0.85 / 0.70 / 0.50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AAC70-AA76-4166-B2CB-15D666C4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DA78C-B767-44A1-9A8B-536301B0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C72CC-29D8-450A-8230-59DA5CEC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标签节省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ACE25-1740-49FF-8B2C-53DE8755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PWL 固定 30 vs 监督曲线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3B6FF-0DCB-453D-A9B5-DD741AD3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5476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FB94F-9FDE-45EF-8B24-1B35258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91150"/>
            <a:ext cx="513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复现口径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F4923-A4C1-4483-A971-E655A7C0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867400"/>
            <a:ext cx="5133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68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论文公开的数学结构与 BCD–ADMM 骨架已工程实现。</a:t>
            </a:r>
          </a:p>
          <a:p xmlns:a="http://schemas.openxmlformats.org/drawingml/2006/main">
            <a:pPr algn="l"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未披露的协方差、噪声尺度、近奇点处理等被显式写入配置。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C5CF4-1501-414F-B8F8-D3DB9A8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19700"/>
            <a:ext cx="55340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25426-1608-4B0E-931A-DC56EC86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9115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E232B-9ADA-4B9C-BF2C-9D520D73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867400"/>
            <a:ext cx="519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这是结构性复现；项目不宣称论文全部数值已严格一致。</a:t>
            </a:r>
          </a:p>
        </p:txBody>
      </p:sp>
    </p:spTree>
    <p:extLst>
      <p:ext uri="{BB962C8B-B14F-4D97-AF65-F5344CB8AC3E}">
        <p14:creationId xmlns:p14="http://schemas.microsoft.com/office/powerpoint/2010/main" val="1396343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7C4966-BF66-4379-9640-6A9BBCB5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96109-2A66-4EA3-AFA8-4240D34E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案例 B：代理、校准与融合训练三层接入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B843E-A171-4555-9795-5243B27E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3035C-73BD-4D55-B942-951A0AFB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546F5-B961-4BD3-A218-A1CC66B2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点焊熔核直径场景的关键，是把“代理训练”和“PWL 融合”分开审计。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ECB0E-9A95-44B4-BB21-2CD18ED2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56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F3638-7DE3-4EE9-9575-8D436B90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5D839-8B22-41DE-AF20-E6EF57F2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956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BC258-F126-4784-AAC4-E5F1AF19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2027F-EB51-44A2-8360-B12175F9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57450"/>
            <a:ext cx="1543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6A3E7-1114-4574-802D-35FF39F5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574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35 组仿真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CCC0D-BD5E-4389-9547-DE9136A2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051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ANSYS</a:t>
            </a:r>
          </a:p>
          <a:p xmlns:a="http://schemas.openxmlformats.org/drawingml/2006/main">
            <a:pPr algn="ctr">
              <a:def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model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8D903-D74B-47FF-A517-717BA9E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543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A0540-10F6-4A2B-B671-043CDE2C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574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Kriging 代理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23097-2B35-4514-8245-5D8C7CD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θ 作为第 4 维输入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E428C-AB5B-43D8-8680-BAB74479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457450"/>
            <a:ext cx="1543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2BF23-92FB-4F7A-9723-E89F8E01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574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120 个过程样本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A22B2-3EE3-489B-9B54-6FF9C788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1051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式 (12) 校准 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812BF-9DB9-4B22-9C6A-96A64FEC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1543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D3A35-66D6-4623-A35F-ECC2CD68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574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LHS 弱标签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9AB46-64D0-4D4D-A254-1E8C9DFB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真实域内采样</a:t>
            </a:r>
          </a:p>
          <a:p xmlns:a="http://schemas.openxmlformats.org/drawingml/2006/main">
            <a:pPr algn="ctr">
              <a:def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当前 θ 刷新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63E64-9751-4533-8828-27201EF3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57450"/>
            <a:ext cx="1543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E5B7C-5EB4-410B-BC77-EECF4E91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6574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联合训练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2266B-1E03-4A80-BB0B-C8C7430F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1051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H g + B 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BDF8F9-9940-45CB-9670-9FC3B6D2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4C034-34A3-4D3F-AF47-88AFFC22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958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F8A8D-E61B-4DEF-83A3-FE214EF1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625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仿真训练点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790EC9-12FA-4E5B-8575-F28F608C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243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FE3077-3E7C-481F-A091-21416BDE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958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D949CE-019B-4A21-B495-55394158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625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过程样本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7F4990-4EE5-4005-AEAA-24DD841A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3243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824A04-5D2C-4DC4-95C6-D682C48F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4958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28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28A35"/>
                </a:solidFill>
                <a:latin typeface="Arial"/>
                <a:ea typeface="Arial"/>
                <a:cs typeface="Arial"/>
              </a:rPr>
              <a:t>0.2006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58A72A-E97F-4476-A23A-D4391FB2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1625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实测重复方差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7897BA-0D29-4230-8BFC-2D9D5879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24350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65696F-A3B9-40EA-A9BF-27AF394B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57700"/>
            <a:ext cx="3657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协议已复现；论文 Table V 的优势未完全复现，根因已分层归因。</a:t>
            </a:r>
          </a:p>
        </p:txBody>
      </p:sp>
    </p:spTree>
    <p:extLst>
      <p:ext uri="{BB962C8B-B14F-4D97-AF65-F5344CB8AC3E}">
        <p14:creationId xmlns:p14="http://schemas.microsoft.com/office/powerpoint/2010/main" val="7778423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515DFF-3D37-4AA2-B884-59882EBB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C9C33-DE2C-469C-8E75-4724B708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热传导迁移线：PWL 如何落到新物理场景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BFF67-FD4E-45DF-9F82-A864868D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CF79C-0056-4364-9DD2-70BEA001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8B0C2-C60F-48B3-A003-6024DCEA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从一维低保真温度模型出发，把接触热阻机制放进差异特征。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DED50-DEEA-447A-A894-24100B19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5143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FD29F-7E0E-4201-8F1C-0A872BF0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28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场景实例化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E1ACA-15DC-4C74-BD32-E0F01ECB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90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xᵖʰ = (Q, h, T∞)</a:t>
            </a:r>
          </a:p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xᵖʳ = P</a:t>
            </a:r>
          </a:p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θ = 1 / 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4BE80-F939-4BE6-B2F4-317E738F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09925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低保真：1D conduction，R꜀ = 0</a:t>
            </a:r>
          </a:p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高保真：接触热阻 + k(T) 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A10DC-F46C-4B33-8C6C-BEEEF2FF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57525"/>
            <a:ext cx="952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04601-CAD3-4FCB-9ACA-ABCF202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59150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0A348-8AE4-418F-9FA3-132D88AA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28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v3 B 特征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A00D9-3914-4AF9-AFA3-0B3EBDA0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813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q_int × P⁻⁰·⁷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q_int / (1 + hL/k) × P⁻⁰·⁷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9A951-6818-4511-9816-AD6DE637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2957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只使用低保真可计算量，</a:t>
            </a:r>
          </a:p>
          <a:p xmlns:a="http://schemas.openxmlformats.org/drawingml/2006/main">
            <a:pPr algn="l"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让差异项承担接触机制。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C875D-A00A-44CF-B426-6199C768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BBCFA-00B8-46AC-89EC-FBC231B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00700"/>
            <a:ext cx="1847850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20 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780D2-BED6-476B-8929-E69764F1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901690"/>
            <a:ext cx="184785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跨批统计终态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63128-486C-4683-B7C0-47DA0F3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C05FD-86E8-40AF-8BDA-278E4A5F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847850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 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89264-033F-4A8D-AECA-F662E993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01690"/>
            <a:ext cx="184785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标签量均值全优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EB387-3D2F-49D6-9347-8D27DEDE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5245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C0288-0479-4095-960A-7906AABC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00700"/>
            <a:ext cx="1847850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8A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28A35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77819-BE31-4546-BDB6-B271110B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901690"/>
            <a:ext cx="184785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qint 机制版本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997F3-D85C-4EC3-9D13-A9F29B29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2450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1072D-F780-4A11-871B-D2370762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57850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θ 在该场景中是 nuisance / calibration parameter，不等同于可恢复的真实材料热导率。</a:t>
            </a:r>
          </a:p>
        </p:txBody>
      </p:sp>
    </p:spTree>
    <p:extLst>
      <p:ext uri="{BB962C8B-B14F-4D97-AF65-F5344CB8AC3E}">
        <p14:creationId xmlns:p14="http://schemas.microsoft.com/office/powerpoint/2010/main" val="1266165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EC104-E69A-45B5-BD32-14B6BC98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F6CC7-B67A-4995-B0D6-A2129065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 批终态：均值优势保持，统计结论克制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823CA-B351-4F38-93F7-692C85B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670C5-BB88-4E32-8914-61CA0EBC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90525" y="1571625"/>
          <a:ext xmlns:a="http://schemas.openxmlformats.org/drawingml/2006/main" cx="6429375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05b354a92448e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CE58B-F83D-4EB3-BE68-2713D36D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62125"/>
            <a:ext cx="409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1A90C-6A82-47EA-9337-956CF3E1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95475"/>
            <a:ext cx="3752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标签档均值最优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76758-C47E-4362-8738-2B7812D2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AF6B3-8C98-4A48-992B-D55CAD59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3752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@120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5.351  vs  Physics-GP 5.648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198A8-7A3A-4AF0-93CC-30668683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67250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CDE39-308C-402C-86E9-E03F8AE7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00600"/>
            <a:ext cx="3752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rPr>
              <a:t>单侧 p = 0.036</a:t>
            </a:r>
          </a:p>
          <a:p xmlns:a="http://schemas.openxmlformats.org/drawingml/2006/main">
            <a:pPr algn="l">
              <a:def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rPr>
              <a:t>Holm 校正后 p = 0.071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34F28-B6A5-4A0B-905E-A4E167CF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RMSE；数值来自 heat_v3_qint_min 的 20 批统计终态。</a:t>
            </a:r>
          </a:p>
        </p:txBody>
      </p:sp>
    </p:spTree>
    <p:extLst>
      <p:ext uri="{BB962C8B-B14F-4D97-AF65-F5344CB8AC3E}">
        <p14:creationId xmlns:p14="http://schemas.microsoft.com/office/powerpoint/2010/main" val="5780693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ADB7D2-103F-4A0E-B417-EE700B99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CCEE7-1FF5-4FEF-A911-D186F04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消融解释优势来源：物理蒸馏 + 差异补偿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3ED58-747E-419A-AE0B-FF53F21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95B62-72D4-47FF-A6E6-45F7C07F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ACB01-815D-48CE-8E7C-50B5CE2D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62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4214F-7F98-4C87-999E-98B8DD6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240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无弱标签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D8038-F574-4885-95B1-5A1DE8DA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0030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@10：8.055 → 10.355</a:t>
            </a:r>
          </a:p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弱标签主要贡献小样本优势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58264-FE40-4CF7-B865-508FE227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3562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D0B44-B9A1-4144-988C-E7203A7A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240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09B80-1A6D-4850-A4F5-96531380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@120：5.366 → 8.047</a:t>
            </a:r>
          </a:p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差异项承担大样本结构偏差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C28E5-EC2F-4E67-9F87-D1CF157C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562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FDDA3-42B9-46E4-A46B-D8726BD6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去 qint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914A3-2270-4B80-8D4D-976EB756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@120：5.366 → 5.548</a:t>
            </a:r>
          </a:p>
          <a:p xmlns:a="http://schemas.openxmlformats.org/drawingml/2006/main">
            <a:pPr algn="l"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机理列让均值由落后转为领先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C254F-F034-4830-8E67-33F76FB9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528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弱标签数量不是越多越好，而是在当前机制下约 100 条后趋于饱和。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23D22-5ED0-44F4-9A23-7E46D3B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@10 RMSE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5A843-BF1A-4EC2-AB5F-46091349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64952"/>
            <a:ext cx="952500" cy="10071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418F3-DA4F-4BE0-85D8-2039D184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250627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8.571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30360-59BA-419D-98E7-89E516A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95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50 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75C1C-3FB4-42E7-905F-139CD117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06062"/>
            <a:ext cx="952500" cy="1266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417C2-B5E3-46AA-80DE-4A5BD3D1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991737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8.118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9357E-965F-48D6-8E36-6AE98080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695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100 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2520F-856B-4608-B6CD-A91C091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70058"/>
            <a:ext cx="952500" cy="1302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0021F-E64D-47EA-8D9A-E9A0C373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95573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8.055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A89B9-6B26-46EA-8CFD-8E390C49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695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200 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8DC9D-8129-4581-B10A-F7975861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05225"/>
            <a:ext cx="1381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8678D-2632-4292-BE17-25CBCA40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76675"/>
            <a:ext cx="103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C1EF8C-0A5C-48D0-A760-202819CE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43425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pytest 单元 / 回归测试通过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98326-548B-41FF-B973-A703075B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05225"/>
            <a:ext cx="1381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65E852-7A62-4C16-BA4E-AFE4C2EE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76675"/>
            <a:ext cx="103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401C6B-9EA7-4038-B0B4-9C5AEA9C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43425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8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独立数值检查通过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6FB095-B91A-46D8-9363-E9571534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05225"/>
            <a:ext cx="1390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CF16DA-D03B-4606-B19E-8352031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76675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28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28A35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36D81E-5E2D-4042-8BBA-3988F32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434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5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热传导数据验收通过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847992-1D67-4652-A9B5-737A1CE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1970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DF0BAE-5C71-4284-AEB9-196DF418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53050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证据链条：结果 → 消融 → 质量门禁 → 统计边界。</a:t>
            </a:r>
          </a:p>
        </p:txBody>
      </p:sp>
    </p:spTree>
    <p:extLst>
      <p:ext uri="{BB962C8B-B14F-4D97-AF65-F5344CB8AC3E}">
        <p14:creationId xmlns:p14="http://schemas.microsoft.com/office/powerpoint/2010/main" val="3528673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340CA-08AA-40BB-8577-015160AD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23F70-BB91-44E9-9429-D0243DD0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448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项目价值：一条可复核的迁移路径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CD208-4ADD-461B-B9CF-66B10AF9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052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核心算法已工程化；跨场景结论仍由物理建模与证据质量决定。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A1081-AC74-410E-B9C5-C200E993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48200"/>
            <a:ext cx="581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AACBD-EC69-4043-AB1F-ECF2188C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7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最小复现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DE697-A36D-4B07-9393-3C9C32F5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19700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6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26B"/>
                </a:solidFill>
                <a:latin typeface="Consolas"/>
                <a:ea typeface="Consolas"/>
                <a:cs typeface="Consolas"/>
              </a:rPr>
              <a:t>uv sync --python 3.11 --extra dev</a:t>
            </a:r>
          </a:p>
          <a:p xmlns:a="http://schemas.openxmlformats.org/drawingml/2006/main">
            <a:pPr algn="l">
              <a:defRPr sz="1050" b="0">
                <a:solidFill>
                  <a:srgbClr val="5D626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26B"/>
                </a:solidFill>
                <a:latin typeface="Consolas"/>
                <a:ea typeface="Consolas"/>
                <a:cs typeface="Consolas"/>
              </a:rPr>
              <a:t>uv run pytest</a:t>
            </a:r>
          </a:p>
          <a:p xmlns:a="http://schemas.openxmlformats.org/drawingml/2006/main">
            <a:pPr algn="l">
              <a:defRPr sz="1050" b="0">
                <a:solidFill>
                  <a:srgbClr val="5D626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26B"/>
                </a:solidFill>
                <a:latin typeface="Consolas"/>
                <a:ea typeface="Consolas"/>
                <a:cs typeface="Consolas"/>
              </a:rPr>
              <a:t>uv run python reproduction/scripts/verify_sim_correctness.py</a:t>
            </a:r>
          </a:p>
          <a:p xmlns:a="http://schemas.openxmlformats.org/drawingml/2006/main">
            <a:pPr algn="l">
              <a:defRPr sz="1050" b="0">
                <a:solidFill>
                  <a:srgbClr val="5D626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26B"/>
                </a:solidFill>
                <a:latin typeface="Consolas"/>
                <a:ea typeface="Consolas"/>
                <a:cs typeface="Consolas"/>
              </a:rPr>
              <a:t>uv run python migration/run_migration.py --config migration/configs/heat_v3_qint_min.yaml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D73EA-C5F1-4A2F-AA01-01F63B8C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648200"/>
            <a:ext cx="51339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BDEF3-3ACC-4BB0-AE10-6449025B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857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FDA57-17D0-4257-B31A-C5C0DF7B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286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7A447-9F24-4C0B-9955-D4DD200E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2197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把物理模型、H/B、θ 判据作为迁移门禁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F56E4-B8A6-4E04-AC29-E3FA59AB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0B843-A92B-44A2-940E-D6F04D62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5530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 baseline、数据哈希、配置指纹与统计边界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5FABC-938F-4148-979A-D8D451C1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= reusable algorithm core + scenario-specific instantiation + auditable evidence</a:t>
            </a:r>
          </a:p>
        </p:txBody>
      </p:sp>
    </p:spTree>
    <p:extLst>
      <p:ext uri="{BB962C8B-B14F-4D97-AF65-F5344CB8AC3E}">
        <p14:creationId xmlns:p14="http://schemas.microsoft.com/office/powerpoint/2010/main" val="1853614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2026-08-04T02:14:59.1130000Z</dcterms:created>
  <dcterms:modified xsi:type="dcterms:W3CDTF">2026-08-04T02:14:59.1130000Z</dcterms:modified>
</coreProperties>
</file>